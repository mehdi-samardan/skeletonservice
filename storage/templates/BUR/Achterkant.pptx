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444"/>
    <a:srgbClr val="39364C"/>
    <a:srgbClr val="FFFFFF"/>
    <a:srgbClr val="FFC000"/>
    <a:srgbClr val="009902"/>
    <a:srgbClr val="1A4359"/>
    <a:srgbClr val="B4C7E7"/>
    <a:srgbClr val="DEEBF7"/>
    <a:srgbClr val="5F5F5F"/>
    <a:srgbClr val="B0D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25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en-US" sz="1100" b="0" i="0" u="none" strike="noStrike" kern="1200" spc="0" baseline="0" dirty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100" kern="1200" dirty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Geslacht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algn="ctr" defTabSz="457200" rtl="0" eaLnBrk="1" latinLnBrk="0" hangingPunct="1">
            <a:defRPr lang="en-US" sz="1100" b="0" i="0" u="none" strike="noStrike" kern="1200" spc="0" baseline="0" dirty="0" err="1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1D-4B2C-9C6A-239C67BF67EE}"/>
              </c:ext>
            </c:extLst>
          </c:dPt>
          <c:dPt>
            <c:idx val="1"/>
            <c:bubble3D val="0"/>
            <c:spPr>
              <a:solidFill>
                <a:srgbClr val="EE74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1D-4B2C-9C6A-239C67BF67E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71D-4B2C-9C6A-239C67BF67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Blad1!$A$2:$A$4</c:f>
              <c:strCache>
                <c:ptCount val="3"/>
                <c:pt idx="0">
                  <c:v>Man</c:v>
                </c:pt>
                <c:pt idx="1">
                  <c:v>Vrouw</c:v>
                </c:pt>
                <c:pt idx="2">
                  <c:v>Anders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5-406C-A42D-59A8CAD5A4B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nl-NL" sz="1100" b="0" i="0" u="none" strike="noStrike" kern="1200" spc="0" baseline="0" dirty="0" smtClean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100" b="0" i="0" u="none" strike="noStrike" kern="1200" spc="0" baseline="0" dirty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Type bezoeker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algn="ctr" defTabSz="457200" rtl="0" eaLnBrk="1" latinLnBrk="0" hangingPunct="1">
            <a:defRPr lang="nl-NL" sz="1100" b="0" i="0" u="none" strike="noStrike" kern="1200" spc="0" baseline="0" dirty="0" smtClean="0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Type bezoeker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4B-4E8B-94AC-D512352B7B9D}"/>
              </c:ext>
            </c:extLst>
          </c:dPt>
          <c:dPt>
            <c:idx val="1"/>
            <c:bubble3D val="0"/>
            <c:spPr>
              <a:solidFill>
                <a:srgbClr val="EE74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4B-4E8B-94AC-D512352B7B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4B-4E8B-94AC-D512352B7B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Blad1!$A$2:$A$4</c:f>
              <c:strCache>
                <c:ptCount val="3"/>
                <c:pt idx="0">
                  <c:v>1e kwrt</c:v>
                </c:pt>
                <c:pt idx="1">
                  <c:v>2e kwrt</c:v>
                </c:pt>
                <c:pt idx="2">
                  <c:v>3e kwrt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4B-4E8B-94AC-D512352B7B9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460941553"/>
          <c:w val="1"/>
          <c:h val="0.6338665339840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7BA-40F7-8D5A-385DEAE863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607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7BA-40F7-8D5A-385DEAE8636F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867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7BA-40F7-8D5A-385DEAE863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7BA-40F7-8D5A-385DEAE863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672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7BA-40F7-8D5A-385DEAE863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356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7BA-40F7-8D5A-385DEAE863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283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7BA-40F7-8D5A-385DEAE863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233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7BA-40F7-8D5A-385DEAE863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253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7BA-40F7-8D5A-385DEAE8636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263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7BA-40F7-8D5A-385DEAE8636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384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7BA-40F7-8D5A-385DEAE863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7BA-40F7-8D5A-385DEAE8636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460941553"/>
          <c:w val="1"/>
          <c:h val="0.6338665339840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7A-493F-9DC2-F65E37EC30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607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7A-493F-9DC2-F65E37EC3025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867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7A-493F-9DC2-F65E37EC30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7A-493F-9DC2-F65E37EC302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672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7A-493F-9DC2-F65E37EC302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356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7A-493F-9DC2-F65E37EC302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283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7A-493F-9DC2-F65E37EC302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233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7A-493F-9DC2-F65E37EC302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253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7A-493F-9DC2-F65E37EC302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263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7A-493F-9DC2-F65E37EC302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384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7A-493F-9DC2-F65E37EC302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7A-493F-9DC2-F65E37EC302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</a:t>
            </a:r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</a:t>
            </a:r>
            <a:endParaRPr lang="en-US" sz="1600" i="0" u="none" strike="noStrike" dirty="0">
              <a:solidFill>
                <a:schemeClr val="bg1"/>
              </a:solidFill>
              <a:effectLst/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nl-NL" sz="850" u="none" strike="noStrike" kern="1200" dirty="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01317F0-D724-EE58-89B4-0CC72437AF74}"/>
              </a:ext>
            </a:extLst>
          </p:cNvPr>
          <p:cNvSpPr txBox="1"/>
          <p:nvPr/>
        </p:nvSpPr>
        <p:spPr>
          <a:xfrm>
            <a:off x="198976" y="6652855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motivationtitle</a:t>
            </a:r>
            <a:endParaRPr lang="nl-NL" sz="1100" dirty="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motivationcontents</a:t>
            </a:r>
            <a:endParaRPr lang="nl-NL" sz="1100" dirty="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B370EC-F16C-26C6-E728-D8B968FC050C}"/>
              </a:ext>
            </a:extLst>
          </p:cNvPr>
          <p:cNvSpPr txBox="1"/>
          <p:nvPr/>
        </p:nvSpPr>
        <p:spPr>
          <a:xfrm>
            <a:off x="1185827" y="1990280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55%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FF58C39-DED9-7F4D-7A95-121BFD08E542}"/>
              </a:ext>
            </a:extLst>
          </p:cNvPr>
          <p:cNvSpPr txBox="1"/>
          <p:nvPr/>
        </p:nvSpPr>
        <p:spPr>
          <a:xfrm>
            <a:off x="2073837" y="1697912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43%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601B9CB-86EE-9174-30F7-DBF6EF496344}"/>
              </a:ext>
            </a:extLst>
          </p:cNvPr>
          <p:cNvSpPr txBox="1"/>
          <p:nvPr/>
        </p:nvSpPr>
        <p:spPr>
          <a:xfrm>
            <a:off x="1732926" y="103601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2%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CFDB6D7-5194-D9DB-8F55-200C2428AF9D}"/>
              </a:ext>
            </a:extLst>
          </p:cNvPr>
          <p:cNvSpPr txBox="1"/>
          <p:nvPr/>
        </p:nvSpPr>
        <p:spPr>
          <a:xfrm>
            <a:off x="4824140" y="2166826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97%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A8D4A13-35C9-B343-F291-DDCD220692AF}"/>
              </a:ext>
            </a:extLst>
          </p:cNvPr>
          <p:cNvSpPr txBox="1"/>
          <p:nvPr/>
        </p:nvSpPr>
        <p:spPr>
          <a:xfrm>
            <a:off x="4758421" y="106577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chemeClr val="bg1"/>
                </a:solidFill>
              </a:rPr>
              <a:t>2%</a:t>
            </a:r>
          </a:p>
        </p:txBody>
      </p:sp>
      <p:graphicFrame>
        <p:nvGraphicFramePr>
          <p:cNvPr id="17" name="Grafiek 16">
            <a:extLst>
              <a:ext uri="{FF2B5EF4-FFF2-40B4-BE49-F238E27FC236}">
                <a16:creationId xmlns:a16="http://schemas.microsoft.com/office/drawing/2014/main" id="{2142E987-E793-ED1F-EBCD-AD7D0A3A2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71929"/>
              </p:ext>
            </p:extLst>
          </p:nvPr>
        </p:nvGraphicFramePr>
        <p:xfrm>
          <a:off x="337795" y="669579"/>
          <a:ext cx="3091196" cy="241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Grafiek 17">
            <a:extLst>
              <a:ext uri="{FF2B5EF4-FFF2-40B4-BE49-F238E27FC236}">
                <a16:creationId xmlns:a16="http://schemas.microsoft.com/office/drawing/2014/main" id="{BC47EC23-A340-DE1C-DCFB-8A0F8AA73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53687"/>
              </p:ext>
            </p:extLst>
          </p:nvPr>
        </p:nvGraphicFramePr>
        <p:xfrm>
          <a:off x="3426626" y="664076"/>
          <a:ext cx="3091197" cy="2414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Grafiek 20">
            <a:extLst>
              <a:ext uri="{FF2B5EF4-FFF2-40B4-BE49-F238E27FC236}">
                <a16:creationId xmlns:a16="http://schemas.microsoft.com/office/drawing/2014/main" id="{A8F4C482-751B-98E2-0B01-F143D5FD5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342088"/>
              </p:ext>
            </p:extLst>
          </p:nvPr>
        </p:nvGraphicFramePr>
        <p:xfrm>
          <a:off x="337795" y="3594799"/>
          <a:ext cx="6116691" cy="113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6B10477A-4A9F-5531-31C8-282223671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6419805"/>
              </p:ext>
            </p:extLst>
          </p:nvPr>
        </p:nvGraphicFramePr>
        <p:xfrm>
          <a:off x="337795" y="5187552"/>
          <a:ext cx="6116691" cy="113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4C5A3DDD-CC51-5FCC-BC94-4774D438CBE6}"/>
              </a:ext>
            </a:extLst>
          </p:cNvPr>
          <p:cNvSpPr txBox="1"/>
          <p:nvPr/>
        </p:nvSpPr>
        <p:spPr>
          <a:xfrm>
            <a:off x="2524750" y="3247447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solidFill>
                  <a:srgbClr val="39364C"/>
                </a:solidFill>
                <a:latin typeface="Avenir Medium" panose="02000603020000020003" pitchFamily="2" charset="0"/>
              </a:rPr>
              <a:t>Leeftijdscategorie</a:t>
            </a:r>
            <a:endParaRPr lang="en-US" sz="1100" dirty="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AA7DB6D6-F360-BB50-6349-386AC5BD4327}"/>
              </a:ext>
            </a:extLst>
          </p:cNvPr>
          <p:cNvSpPr txBox="1"/>
          <p:nvPr/>
        </p:nvSpPr>
        <p:spPr>
          <a:xfrm>
            <a:off x="2524738" y="4843262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solidFill>
                  <a:srgbClr val="39364C"/>
                </a:solidFill>
                <a:latin typeface="Avenir Medium" panose="02000603020000020003" pitchFamily="2" charset="0"/>
              </a:rPr>
              <a:t>Samenstelling</a:t>
            </a:r>
            <a:r>
              <a:rPr lang="en-US" sz="1100" dirty="0">
                <a:solidFill>
                  <a:srgbClr val="39364C"/>
                </a:solidFill>
                <a:latin typeface="Avenir Medium" panose="02000603020000020003" pitchFamily="2" charset="0"/>
              </a:rPr>
              <a:t> </a:t>
            </a:r>
            <a:r>
              <a:rPr lang="en-US" sz="1100" dirty="0" err="1">
                <a:solidFill>
                  <a:srgbClr val="39364C"/>
                </a:solidFill>
                <a:latin typeface="Avenir Medium" panose="02000603020000020003" pitchFamily="2" charset="0"/>
              </a:rPr>
              <a:t>gezelschap</a:t>
            </a:r>
            <a:endParaRPr lang="en-US" sz="1100" dirty="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375219D2-3C9F-53A7-006A-456DCE2545D1}"/>
              </a:ext>
            </a:extLst>
          </p:cNvPr>
          <p:cNvCxnSpPr>
            <a:cxnSpLocks/>
          </p:cNvCxnSpPr>
          <p:nvPr/>
        </p:nvCxnSpPr>
        <p:spPr>
          <a:xfrm>
            <a:off x="167584" y="31203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3018C3BC-81D7-6B5E-9C8A-BF851CE812C8}"/>
              </a:ext>
            </a:extLst>
          </p:cNvPr>
          <p:cNvCxnSpPr>
            <a:cxnSpLocks/>
          </p:cNvCxnSpPr>
          <p:nvPr/>
        </p:nvCxnSpPr>
        <p:spPr>
          <a:xfrm>
            <a:off x="182812" y="65318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4CEC9429-8368-02C8-1BC6-07CB487BADD5}"/>
              </a:ext>
            </a:extLst>
          </p:cNvPr>
          <p:cNvSpPr txBox="1"/>
          <p:nvPr/>
        </p:nvSpPr>
        <p:spPr>
          <a:xfrm>
            <a:off x="196611" y="7979290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ottctitle</a:t>
            </a:r>
            <a:endParaRPr lang="nl-NL" sz="1100" dirty="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dirty="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ottccontents</a:t>
            </a:r>
            <a:endParaRPr lang="nl-NL" sz="1100" dirty="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6690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12288</TotalTime>
  <Words>53</Words>
  <Application>Microsoft Office PowerPoint</Application>
  <PresentationFormat>Aangepast</PresentationFormat>
  <Paragraphs>37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Arial</vt:lpstr>
      <vt:lpstr>Avenir Book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Recreatief | Park | Ticketingsysteem</dc:title>
  <dc:subject>Customer satisfaction research</dc:subject>
  <dc:creator>AlphaRainbow</dc:creator>
  <cp:lastModifiedBy>Marco Strijker</cp:lastModifiedBy>
  <cp:revision>186</cp:revision>
  <dcterms:created xsi:type="dcterms:W3CDTF">2023-05-01T00:00:00Z</dcterms:created>
  <dcterms:modified xsi:type="dcterms:W3CDTF">2025-05-12T13:22:21Z</dcterms:modified>
</cp:coreProperties>
</file>