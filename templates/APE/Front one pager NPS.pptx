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</p:sldIdLst>
  <p:sldSz cx="6858000" cy="9698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64C"/>
    <a:srgbClr val="FFFFFF"/>
    <a:srgbClr val="FFC000"/>
    <a:srgbClr val="009902"/>
    <a:srgbClr val="1A4359"/>
    <a:srgbClr val="B4C7E7"/>
    <a:srgbClr val="DEEBF7"/>
    <a:srgbClr val="5F5F5F"/>
    <a:srgbClr val="B0DFE5"/>
    <a:srgbClr val="4155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89" autoAdjust="0"/>
    <p:restoredTop sz="94660"/>
  </p:normalViewPr>
  <p:slideViewPr>
    <p:cSldViewPr snapToGrid="0">
      <p:cViewPr varScale="1">
        <p:scale>
          <a:sx n="84" d="100"/>
          <a:sy n="84" d="100"/>
        </p:scale>
        <p:origin x="25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1.4162184244570032E-2"/>
          <c:w val="1"/>
          <c:h val="0.77042535150734059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0.125</c:v>
                </c:pt>
                <c:pt idx="1">
                  <c:v>0.45</c:v>
                </c:pt>
                <c:pt idx="2">
                  <c:v>0.3</c:v>
                </c:pt>
                <c:pt idx="3">
                  <c:v>0.2</c:v>
                </c:pt>
                <c:pt idx="4">
                  <c:v>0.125</c:v>
                </c:pt>
                <c:pt idx="5">
                  <c:v>0.45</c:v>
                </c:pt>
                <c:pt idx="6">
                  <c:v>0.3</c:v>
                </c:pt>
                <c:pt idx="7">
                  <c:v>0.2</c:v>
                </c:pt>
                <c:pt idx="8">
                  <c:v>0.125</c:v>
                </c:pt>
                <c:pt idx="9">
                  <c:v>0.45</c:v>
                </c:pt>
                <c:pt idx="10">
                  <c:v>0.3</c:v>
                </c:pt>
                <c:pt idx="11">
                  <c:v>0.2</c:v>
                </c:pt>
                <c:pt idx="1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Blad1!$C$2:$C$14</c:f>
              <c:numCache>
                <c:formatCode>General</c:formatCode>
                <c:ptCount val="13"/>
                <c:pt idx="0">
                  <c:v>0.5</c:v>
                </c:pt>
                <c:pt idx="1">
                  <c:v>0.05</c:v>
                </c:pt>
                <c:pt idx="2">
                  <c:v>0.3</c:v>
                </c:pt>
                <c:pt idx="3">
                  <c:v>0.6</c:v>
                </c:pt>
                <c:pt idx="4">
                  <c:v>0.5</c:v>
                </c:pt>
                <c:pt idx="5">
                  <c:v>0.05</c:v>
                </c:pt>
                <c:pt idx="6">
                  <c:v>0.3</c:v>
                </c:pt>
                <c:pt idx="7">
                  <c:v>0.6</c:v>
                </c:pt>
                <c:pt idx="8">
                  <c:v>0.5</c:v>
                </c:pt>
                <c:pt idx="9">
                  <c:v>0.05</c:v>
                </c:pt>
                <c:pt idx="10">
                  <c:v>0.3</c:v>
                </c:pt>
                <c:pt idx="11">
                  <c:v>0.6</c:v>
                </c:pt>
                <c:pt idx="1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3B-410E-BEA0-28D91E226ED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Blad1!$D$2:$D$14</c:f>
              <c:numCache>
                <c:formatCode>General</c:formatCode>
                <c:ptCount val="13"/>
                <c:pt idx="0">
                  <c:v>0.375</c:v>
                </c:pt>
                <c:pt idx="1">
                  <c:v>0.5</c:v>
                </c:pt>
                <c:pt idx="2">
                  <c:v>0.4</c:v>
                </c:pt>
                <c:pt idx="3">
                  <c:v>0.4</c:v>
                </c:pt>
                <c:pt idx="4">
                  <c:v>0.375</c:v>
                </c:pt>
                <c:pt idx="5">
                  <c:v>0.5</c:v>
                </c:pt>
                <c:pt idx="6">
                  <c:v>0.4</c:v>
                </c:pt>
                <c:pt idx="7">
                  <c:v>0.4</c:v>
                </c:pt>
                <c:pt idx="8">
                  <c:v>0.375</c:v>
                </c:pt>
                <c:pt idx="9">
                  <c:v>0.5</c:v>
                </c:pt>
                <c:pt idx="10">
                  <c:v>0.4</c:v>
                </c:pt>
                <c:pt idx="11">
                  <c:v>0.4</c:v>
                </c:pt>
                <c:pt idx="1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3B-410E-BEA0-28D91E226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1155526192"/>
        <c:axId val="1155519120"/>
      </c:barChart>
      <c:lineChart>
        <c:grouping val="stacked"/>
        <c:varyColors val="0"/>
        <c:ser>
          <c:idx val="3"/>
          <c:order val="3"/>
          <c:tx>
            <c:strRef>
              <c:f>Blad1!$E$1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solidFill>
                <a:srgbClr val="39364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39364C"/>
              </a:solidFill>
              <a:ln w="9525">
                <a:solidFill>
                  <a:srgbClr val="39364C"/>
                </a:solidFill>
              </a:ln>
              <a:effectLst/>
            </c:spPr>
          </c:marker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Blad1!$E$2:$E$14</c:f>
              <c:numCache>
                <c:formatCode>General</c:formatCode>
                <c:ptCount val="13"/>
                <c:pt idx="0">
                  <c:v>25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25</c:v>
                </c:pt>
                <c:pt idx="5">
                  <c:v>5</c:v>
                </c:pt>
                <c:pt idx="6">
                  <c:v>10</c:v>
                </c:pt>
                <c:pt idx="7">
                  <c:v>20</c:v>
                </c:pt>
                <c:pt idx="8">
                  <c:v>25</c:v>
                </c:pt>
                <c:pt idx="9">
                  <c:v>5</c:v>
                </c:pt>
                <c:pt idx="10">
                  <c:v>10</c:v>
                </c:pt>
                <c:pt idx="11">
                  <c:v>20</c:v>
                </c:pt>
                <c:pt idx="12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3B-410E-BEA0-28D91E226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3721151"/>
        <c:axId val="1053720319"/>
      </c:line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in"/>
        <c:minorTickMark val="none"/>
        <c:tickLblPos val="nextTo"/>
        <c:spPr>
          <a:noFill/>
          <a:ln>
            <a:solidFill>
              <a:srgbClr val="39364C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55526192"/>
        <c:crosses val="autoZero"/>
        <c:crossBetween val="between"/>
        <c:majorUnit val="0.25"/>
      </c:valAx>
      <c:valAx>
        <c:axId val="1053720319"/>
        <c:scaling>
          <c:orientation val="minMax"/>
        </c:scaling>
        <c:delete val="0"/>
        <c:axPos val="r"/>
        <c:numFmt formatCode="General" sourceLinked="1"/>
        <c:majorTickMark val="in"/>
        <c:minorTickMark val="none"/>
        <c:tickLblPos val="nextTo"/>
        <c:spPr>
          <a:noFill/>
          <a:ln>
            <a:solidFill>
              <a:srgbClr val="39364C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053721151"/>
        <c:crosses val="max"/>
        <c:crossBetween val="between"/>
      </c:valAx>
      <c:catAx>
        <c:axId val="105372115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537203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3703466079363E-2"/>
          <c:y val="2.3872989173038036E-2"/>
          <c:w val="0.95925930678412741"/>
          <c:h val="0.9611519517963497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1316767632"/>
        <c:crossesAt val="0.25"/>
        <c:auto val="0"/>
        <c:lblAlgn val="ctr"/>
        <c:lblOffset val="100"/>
        <c:noMultiLvlLbl val="0"/>
      </c:catAx>
      <c:valAx>
        <c:axId val="1316767632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316758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1.4162184244570032E-2"/>
          <c:w val="1"/>
          <c:h val="0.777477431954364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8.5</c:v>
                </c:pt>
                <c:pt idx="1">
                  <c:v>8.4</c:v>
                </c:pt>
                <c:pt idx="2">
                  <c:v>8.1</c:v>
                </c:pt>
                <c:pt idx="3">
                  <c:v>8.6999999999999993</c:v>
                </c:pt>
                <c:pt idx="4">
                  <c:v>8.5</c:v>
                </c:pt>
                <c:pt idx="5">
                  <c:v>8.6</c:v>
                </c:pt>
                <c:pt idx="6">
                  <c:v>8.8000000000000007</c:v>
                </c:pt>
                <c:pt idx="7">
                  <c:v>8.6999999999999993</c:v>
                </c:pt>
                <c:pt idx="8">
                  <c:v>8.9</c:v>
                </c:pt>
                <c:pt idx="9">
                  <c:v>8.5</c:v>
                </c:pt>
                <c:pt idx="10">
                  <c:v>9.1999999999999993</c:v>
                </c:pt>
                <c:pt idx="11">
                  <c:v>9</c:v>
                </c:pt>
                <c:pt idx="12">
                  <c:v>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33-44E5-925B-3ED4ECEC4DB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8822289318"/>
          <c:w val="1"/>
          <c:h val="0.68801922355421363"/>
        </c:manualLayout>
      </c:layout>
      <c:lineChart>
        <c:grouping val="standar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Blad1!$A$2:$A$14</c:f>
              <c:strCache>
                <c:ptCount val="13"/>
                <c:pt idx="0">
                  <c:v>-25</c:v>
                </c:pt>
                <c:pt idx="1">
                  <c:v>-10</c:v>
                </c:pt>
                <c:pt idx="2">
                  <c:v>+ 5</c:v>
                </c:pt>
                <c:pt idx="3">
                  <c:v>-25</c:v>
                </c:pt>
                <c:pt idx="4">
                  <c:v>-10</c:v>
                </c:pt>
                <c:pt idx="5">
                  <c:v>+ 5</c:v>
                </c:pt>
                <c:pt idx="6">
                  <c:v>-25</c:v>
                </c:pt>
                <c:pt idx="7">
                  <c:v>-10</c:v>
                </c:pt>
                <c:pt idx="8">
                  <c:v>+ 5</c:v>
                </c:pt>
                <c:pt idx="9">
                  <c:v>-25</c:v>
                </c:pt>
                <c:pt idx="10">
                  <c:v>-10</c:v>
                </c:pt>
                <c:pt idx="11">
                  <c:v>+ 5</c:v>
                </c:pt>
                <c:pt idx="12">
                  <c:v>+ 6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27-426D-993D-9264E62EC2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4478464"/>
        <c:axId val="1164478048"/>
      </c:lineChart>
      <c:catAx>
        <c:axId val="1164478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 val="100"/>
        <c:noMultiLvlLbl val="0"/>
      </c:catAx>
      <c:valAx>
        <c:axId val="1164478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6447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>
          <a:solidFill>
            <a:srgbClr val="39364C"/>
          </a:solidFill>
          <a:latin typeface="Avenir Book" panose="02000503020000020003" pitchFamily="2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643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631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986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524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20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718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3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3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55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52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023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 dirty="0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KLANTTEVREDENHEIDSONDERZOEK </a:t>
            </a:r>
            <a:r>
              <a:rPr lang="en-US" sz="1600" i="0" u="none" strike="noStrike" dirty="0" err="1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</a:t>
            </a:r>
            <a:endParaRPr lang="nl-NL" sz="1600" dirty="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2794404"/>
              </p:ext>
            </p:extLst>
          </p:nvPr>
        </p:nvGraphicFramePr>
        <p:xfrm>
          <a:off x="167584" y="1244145"/>
          <a:ext cx="6522833" cy="1746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2524750" y="648468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39364C"/>
                </a:solidFill>
                <a:latin typeface="Avenir Medium" panose="02000603020000020003" pitchFamily="2" charset="0"/>
              </a:rPr>
              <a:t>NPS score</a:t>
            </a: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nl-NL" sz="850" u="none" strike="noStrike" kern="1200" dirty="0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Om alle resultaten te zien, bezoek: </a:t>
            </a:r>
            <a:r>
              <a:rPr lang="en-US" sz="85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urltothetool</a:t>
            </a:r>
            <a:endParaRPr lang="en-US" sz="85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9799936"/>
              </p:ext>
            </p:extLst>
          </p:nvPr>
        </p:nvGraphicFramePr>
        <p:xfrm>
          <a:off x="-8" y="4629503"/>
          <a:ext cx="6858008" cy="4697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>
            <a:cxnSpLocks/>
          </p:cNvCxnSpPr>
          <p:nvPr/>
        </p:nvCxnSpPr>
        <p:spPr>
          <a:xfrm>
            <a:off x="167584" y="3000078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Grafiek 11">
            <a:extLst>
              <a:ext uri="{FF2B5EF4-FFF2-40B4-BE49-F238E27FC236}">
                <a16:creationId xmlns:a16="http://schemas.microsoft.com/office/drawing/2014/main" id="{E2B10EB5-67E0-7AE7-30BF-EB6B22E4FD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6364788"/>
              </p:ext>
            </p:extLst>
          </p:nvPr>
        </p:nvGraphicFramePr>
        <p:xfrm>
          <a:off x="573881" y="3376824"/>
          <a:ext cx="5710239" cy="1133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3C30A15D-9C34-0734-D507-CC7C6AA81E24}"/>
              </a:ext>
            </a:extLst>
          </p:cNvPr>
          <p:cNvCxnSpPr>
            <a:cxnSpLocks/>
          </p:cNvCxnSpPr>
          <p:nvPr/>
        </p:nvCxnSpPr>
        <p:spPr>
          <a:xfrm>
            <a:off x="182812" y="4615988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vak 14">
            <a:extLst>
              <a:ext uri="{FF2B5EF4-FFF2-40B4-BE49-F238E27FC236}">
                <a16:creationId xmlns:a16="http://schemas.microsoft.com/office/drawing/2014/main" id="{708B5530-F183-4A8C-F13E-37E95D8AE67E}"/>
              </a:ext>
            </a:extLst>
          </p:cNvPr>
          <p:cNvSpPr txBox="1"/>
          <p:nvPr/>
        </p:nvSpPr>
        <p:spPr>
          <a:xfrm>
            <a:off x="2524741" y="3057646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100" dirty="0">
                <a:solidFill>
                  <a:srgbClr val="39364C"/>
                </a:solidFill>
                <a:latin typeface="Avenir Medium" panose="02000603020000020003" pitchFamily="2" charset="0"/>
              </a:rPr>
              <a:t>Aantal respondenten</a:t>
            </a:r>
            <a:endParaRPr lang="en-US" sz="1100" dirty="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7" name="Grafiek 6">
            <a:extLst>
              <a:ext uri="{FF2B5EF4-FFF2-40B4-BE49-F238E27FC236}">
                <a16:creationId xmlns:a16="http://schemas.microsoft.com/office/drawing/2014/main" id="{9F2C763F-5FA0-532B-1F51-D3FA769FEA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3762030"/>
              </p:ext>
            </p:extLst>
          </p:nvPr>
        </p:nvGraphicFramePr>
        <p:xfrm>
          <a:off x="661988" y="1015703"/>
          <a:ext cx="5725604" cy="261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68891427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11977</TotalTime>
  <Words>15</Words>
  <Application>Microsoft Office PowerPoint</Application>
  <PresentationFormat>Aangepast</PresentationFormat>
  <Paragraphs>4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Arial</vt:lpstr>
      <vt:lpstr>Avenir Light</vt:lpstr>
      <vt:lpstr>Avenir Medium</vt:lpstr>
      <vt:lpstr>Calibri</vt:lpstr>
      <vt:lpstr>Calibri Light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Marco Strijker</dc:creator>
  <cp:lastModifiedBy>Marco Strijker</cp:lastModifiedBy>
  <cp:revision>174</cp:revision>
  <dcterms:created xsi:type="dcterms:W3CDTF">2020-08-04T09:12:03Z</dcterms:created>
  <dcterms:modified xsi:type="dcterms:W3CDTF">2025-05-12T12:56:50Z</dcterms:modified>
</cp:coreProperties>
</file>