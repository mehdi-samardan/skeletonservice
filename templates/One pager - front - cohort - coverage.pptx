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</p:sldIdLst>
  <p:sldSz cx="6858000" cy="9698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359"/>
    <a:srgbClr val="FFFFFF"/>
    <a:srgbClr val="39364C"/>
    <a:srgbClr val="B4C7E7"/>
    <a:srgbClr val="DEEBF7"/>
    <a:srgbClr val="5F5F5F"/>
    <a:srgbClr val="B0DFE5"/>
    <a:srgbClr val="415573"/>
    <a:srgbClr val="202332"/>
    <a:srgbClr val="009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8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Response rate</a:t>
            </a:r>
          </a:p>
        </c:rich>
      </c:tx>
      <c:layout>
        <c:manualLayout>
          <c:xMode val="edge"/>
          <c:yMode val="edge"/>
          <c:x val="0.2178709405447625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22-470F-80DB-186E866F9FC5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47E-46B7-B710-31F7D973FCE3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2-470F-80DB-186E866F9F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Gross coverage</a:t>
            </a:r>
          </a:p>
        </c:rich>
      </c:tx>
      <c:layout>
        <c:manualLayout>
          <c:xMode val="edge"/>
          <c:yMode val="edge"/>
          <c:x val="0.202419963635456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099-4266-9E19-B1A5B2218D0D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099-4266-9E19-B1A5B2218D0D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099-4266-9E19-B1A5B2218D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coverage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c:rich>
      </c:tx>
      <c:layout>
        <c:manualLayout>
          <c:xMode val="edge"/>
          <c:yMode val="edge"/>
          <c:x val="0.2024199636354567"/>
          <c:y val="9.164718863228477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B3D-4703-BD27-AFD6549F6F3E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B3D-4703-BD27-AFD6549F6F3E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3D-4703-BD27-AFD6549F6F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r>
              <a:rPr lang="en-US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Delivery rate</a:t>
            </a:r>
          </a:p>
        </c:rich>
      </c:tx>
      <c:layout>
        <c:manualLayout>
          <c:xMode val="edge"/>
          <c:yMode val="edge"/>
          <c:x val="0.2564983828180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rgbClr val="1A4359"/>
              </a:solidFill>
              <a:latin typeface="Avenir Medium" panose="02000603020000020003" pitchFamily="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274269439488438"/>
          <c:y val="0.20162702970496538"/>
          <c:w val="0.68349768752406614"/>
          <c:h val="0.78072411715781198"/>
        </c:manualLayout>
      </c:layout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7AA-4919-9CC7-0BBC415FC70A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AA-4919-9CC7-0BBC415FC70A}"/>
              </c:ext>
            </c:extLst>
          </c:dPt>
          <c:cat>
            <c:strRef>
              <c:f>Blad1!$A$2:$A$3</c:f>
              <c:strCache>
                <c:ptCount val="2"/>
                <c:pt idx="0">
                  <c:v>1e kwrt</c:v>
                </c:pt>
                <c:pt idx="1">
                  <c:v>2e kwrt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0.3</c:v>
                </c:pt>
                <c:pt idx="1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AA-4919-9CC7-0BBC415FC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B912-4BEB-8449-C22FD1441D7E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912-4BEB-8449-C22FD1441D7E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912-4BEB-8449-C22FD1441D7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B912-4BEB-8449-C22FD1441D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912-4BEB-8449-C22FD1441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EA9F-4DD7-A5C1-8D259A7175C1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A9F-4DD7-A5C1-8D259A7175C1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EA9F-4DD7-A5C1-8D259A7175C1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A9F-4DD7-A5C1-8D259A7175C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A9F-4DD7-A5C1-8D259A717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31DD-45F3-9814-5E16A728293D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31DD-45F3-9814-5E16A728293D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31DD-45F3-9814-5E16A728293D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1DD-45F3-9814-5E16A72829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1DD-45F3-9814-5E16A72829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9035000305860458E-3"/>
          <c:w val="1"/>
          <c:h val="0.991096499969413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Response rate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55E8-4A08-894C-DD15BE23D5B3}"/>
                </c:ext>
              </c:extLst>
            </c:dLbl>
            <c:dLbl>
              <c:idx val="1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55E8-4A08-894C-DD15BE23D5B3}"/>
                </c:ext>
              </c:extLst>
            </c:dLbl>
            <c:dLbl>
              <c:idx val="2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55E8-4A08-894C-DD15BE23D5B3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55E8-4A08-894C-DD15BE23D5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E8-4A08-894C-DD15BE23D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3703466079363E-2"/>
          <c:y val="2.3872989173038036E-2"/>
          <c:w val="0.95925930678412741"/>
          <c:h val="0.9611519517963497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Statements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11-45E6-ACAD-AB8A5D25DE00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Blad1!$B$2:$B$21</c:f>
              <c:numCache>
                <c:formatCode>General</c:formatCode>
                <c:ptCount val="20"/>
                <c:pt idx="0">
                  <c:v>2.5</c:v>
                </c:pt>
                <c:pt idx="1">
                  <c:v>2.5</c:v>
                </c:pt>
                <c:pt idx="2">
                  <c:v>2.5</c:v>
                </c:pt>
                <c:pt idx="3">
                  <c:v>2.5</c:v>
                </c:pt>
                <c:pt idx="4">
                  <c:v>2.5</c:v>
                </c:pt>
                <c:pt idx="5">
                  <c:v>2.5</c:v>
                </c:pt>
                <c:pt idx="6">
                  <c:v>2.5</c:v>
                </c:pt>
                <c:pt idx="7">
                  <c:v>2.5</c:v>
                </c:pt>
                <c:pt idx="8">
                  <c:v>2.5</c:v>
                </c:pt>
                <c:pt idx="9">
                  <c:v>2.5</c:v>
                </c:pt>
                <c:pt idx="10">
                  <c:v>2.5</c:v>
                </c:pt>
                <c:pt idx="11">
                  <c:v>2.5</c:v>
                </c:pt>
                <c:pt idx="12">
                  <c:v>2.5</c:v>
                </c:pt>
                <c:pt idx="13">
                  <c:v>2.5</c:v>
                </c:pt>
                <c:pt idx="14">
                  <c:v>2.5</c:v>
                </c:pt>
                <c:pt idx="15">
                  <c:v>2.5</c:v>
                </c:pt>
                <c:pt idx="16">
                  <c:v>2.5</c:v>
                </c:pt>
                <c:pt idx="17">
                  <c:v>2.5</c:v>
                </c:pt>
                <c:pt idx="18">
                  <c:v>2.5</c:v>
                </c:pt>
                <c:pt idx="1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B11-45E6-ACAD-AB8A5D25DE00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Wave 1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Blad1!$C$2:$C$21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B11-45E6-ACAD-AB8A5D25DE00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Wave 2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Blad1!$D$2:$D$21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11-45E6-ACAD-AB8A5D25DE00}"/>
            </c:ext>
          </c:extLst>
        </c:ser>
        <c:ser>
          <c:idx val="3"/>
          <c:order val="3"/>
          <c:tx>
            <c:strRef>
              <c:f>Blad1!$E$1</c:f>
              <c:strCache>
                <c:ptCount val="1"/>
                <c:pt idx="0">
                  <c:v>Wave 3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Blad1!$E$2:$E$21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B11-45E6-ACAD-AB8A5D25DE00}"/>
            </c:ext>
          </c:extLst>
        </c:ser>
        <c:ser>
          <c:idx val="4"/>
          <c:order val="4"/>
          <c:tx>
            <c:strRef>
              <c:f>Blad1!$F$1</c:f>
              <c:strCache>
                <c:ptCount val="1"/>
                <c:pt idx="0">
                  <c:v>Wave 4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0B11-45E6-ACAD-AB8A5D25DE0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rgbClr val="1A4359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Blad1!$A$2:$A$21</c:f>
              <c:strCache>
                <c:ptCount val="20"/>
                <c:pt idx="0">
                  <c:v>Easy do to business</c:v>
                </c:pt>
                <c:pt idx="1">
                  <c:v>Easy do to business</c:v>
                </c:pt>
                <c:pt idx="2">
                  <c:v>Easy do to business</c:v>
                </c:pt>
                <c:pt idx="3">
                  <c:v>Easy do to business</c:v>
                </c:pt>
                <c:pt idx="4">
                  <c:v>Easy do to business</c:v>
                </c:pt>
                <c:pt idx="5">
                  <c:v>Easy do to business</c:v>
                </c:pt>
                <c:pt idx="6">
                  <c:v>Easy do to business</c:v>
                </c:pt>
                <c:pt idx="7">
                  <c:v>Easy do to business</c:v>
                </c:pt>
                <c:pt idx="8">
                  <c:v>Easy do to business</c:v>
                </c:pt>
                <c:pt idx="9">
                  <c:v>Easy do to business</c:v>
                </c:pt>
                <c:pt idx="10">
                  <c:v>Easy do to business</c:v>
                </c:pt>
                <c:pt idx="11">
                  <c:v>Easy do to business</c:v>
                </c:pt>
                <c:pt idx="12">
                  <c:v>Easy do to business</c:v>
                </c:pt>
                <c:pt idx="13">
                  <c:v>Easy do to business</c:v>
                </c:pt>
                <c:pt idx="14">
                  <c:v>Easy do to business</c:v>
                </c:pt>
                <c:pt idx="15">
                  <c:v>Easy do to business</c:v>
                </c:pt>
                <c:pt idx="16">
                  <c:v>Easy do to business</c:v>
                </c:pt>
                <c:pt idx="17">
                  <c:v>Easy do to business</c:v>
                </c:pt>
                <c:pt idx="18">
                  <c:v>Easy do to business</c:v>
                </c:pt>
                <c:pt idx="19">
                  <c:v>Easy do to business</c:v>
                </c:pt>
              </c:strCache>
            </c:strRef>
          </c:cat>
          <c:val>
            <c:numRef>
              <c:f>Blad1!$F$2:$F$21</c:f>
              <c:numCache>
                <c:formatCode>General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11-45E6-ACAD-AB8A5D25D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0"/>
        <c:overlap val="100"/>
        <c:axId val="1316758480"/>
        <c:axId val="1316767632"/>
      </c:barChart>
      <c:catAx>
        <c:axId val="1316758480"/>
        <c:scaling>
          <c:orientation val="maxMin"/>
        </c:scaling>
        <c:delete val="1"/>
        <c:axPos val="l"/>
        <c:numFmt formatCode="General" sourceLinked="1"/>
        <c:majorTickMark val="out"/>
        <c:minorTickMark val="none"/>
        <c:tickLblPos val="nextTo"/>
        <c:crossAx val="1316767632"/>
        <c:crossesAt val="0.25"/>
        <c:auto val="0"/>
        <c:lblAlgn val="ctr"/>
        <c:lblOffset val="100"/>
        <c:noMultiLvlLbl val="0"/>
      </c:catAx>
      <c:valAx>
        <c:axId val="1316767632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316758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2B57-4934-B1EC-109CD0E37A52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2B57-4934-B1EC-109CD0E37A52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2B57-4934-B1EC-109CD0E37A52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7-4934-B1EC-109CD0E37A52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2B57-4934-B1EC-109CD0E37A52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E-2B57-4934-B1EC-109CD0E37A52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F-2B57-4934-B1EC-109CD0E37A52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0-2B57-4934-B1EC-109CD0E37A5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B57-4934-B1EC-109CD0E37A52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74BA-403F-910F-59FC606763D7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4BA-403F-910F-59FC606763D7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74BA-403F-910F-59FC606763D7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4BA-403F-910F-59FC606763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2B57-4934-B1EC-109CD0E37A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62-4DEE-95A5-55B67953B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3964552506991819E-2"/>
          <c:w val="1"/>
          <c:h val="0.7465827139453045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Detractors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902590536611155"/>
                      <c:h val="0.176408555499746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0.4</c:v>
                </c:pt>
                <c:pt idx="1">
                  <c:v>0.45</c:v>
                </c:pt>
                <c:pt idx="2">
                  <c:v>0.4</c:v>
                </c:pt>
                <c:pt idx="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27-4EAF-8264-9BFFABFEEF75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Passives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C527-4EAF-8264-9BFFABFEEF75}"/>
                </c:ext>
              </c:extLst>
            </c:dLbl>
            <c:dLbl>
              <c:idx val="1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C527-4EAF-8264-9BFFABFEEF75}"/>
                </c:ext>
              </c:extLst>
            </c:dLbl>
            <c:dLbl>
              <c:idx val="2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527-4EAF-8264-9BFFABFEEF75}"/>
                </c:ext>
              </c:extLst>
            </c:dLbl>
            <c:dLbl>
              <c:idx val="3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no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527-4EAF-8264-9BFFABFEEF75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Promoters</c:v>
                </c:pt>
              </c:strCache>
            </c:strRef>
          </c:tx>
          <c:spPr>
            <a:solidFill>
              <a:srgbClr val="009902"/>
            </a:solidFill>
            <a:ln>
              <a:noFill/>
            </a:ln>
            <a:effectLst/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C527-4EAF-8264-9BFFABFEEF75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B-C527-4EAF-8264-9BFFABFEEF75}"/>
                </c:ext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C-C527-4EAF-8264-9BFFABFEEF75}"/>
                </c:ext>
              </c:extLst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787463305368893"/>
                      <c:h val="0.174702517421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C527-4EAF-8264-9BFFABFEEF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Avenir Medium" panose="02000603020000020003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Blad1!$A$2:$A$5</c:f>
              <c:strCache>
                <c:ptCount val="4"/>
                <c:pt idx="0">
                  <c:v>Wave 1</c:v>
                </c:pt>
                <c:pt idx="1">
                  <c:v>Wave 2</c:v>
                </c:pt>
                <c:pt idx="2">
                  <c:v>Wave 3</c:v>
                </c:pt>
                <c:pt idx="3">
                  <c:v>Wave 4</c:v>
                </c:pt>
              </c:strCache>
            </c:strRef>
          </c:cat>
          <c:val>
            <c:numRef>
              <c:f>Blad1!$D$2:$D$5</c:f>
              <c:numCache>
                <c:formatCode>General</c:formatCode>
                <c:ptCount val="4"/>
                <c:pt idx="0">
                  <c:v>0.15</c:v>
                </c:pt>
                <c:pt idx="1">
                  <c:v>0.35</c:v>
                </c:pt>
                <c:pt idx="2">
                  <c:v>0.45</c:v>
                </c:pt>
                <c:pt idx="3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527-4EAF-8264-9BFFABFEEF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55526192"/>
        <c:axId val="1155519120"/>
      </c:barChart>
      <c:catAx>
        <c:axId val="1155526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1A4359"/>
                </a:solidFill>
                <a:latin typeface="Avenir Light" panose="020B0402020203020204" pitchFamily="34" charset="0"/>
                <a:ea typeface="+mn-ea"/>
                <a:cs typeface="+mn-cs"/>
              </a:defRPr>
            </a:pPr>
            <a:endParaRPr lang="en-US"/>
          </a:p>
        </c:txPr>
        <c:crossAx val="1155519120"/>
        <c:crosses val="autoZero"/>
        <c:auto val="1"/>
        <c:lblAlgn val="ctr"/>
        <c:lblOffset val="100"/>
        <c:noMultiLvlLbl val="0"/>
      </c:catAx>
      <c:valAx>
        <c:axId val="1155519120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5552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5599038822289318"/>
          <c:w val="1"/>
          <c:h val="0.68801922355421363"/>
        </c:manualLayout>
      </c:layout>
      <c:lineChart>
        <c:grouping val="standar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NPS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cat>
            <c:strRef>
              <c:f>Blad1!$A$2:$A$5</c:f>
              <c:strCache>
                <c:ptCount val="4"/>
                <c:pt idx="0">
                  <c:v>-25</c:v>
                </c:pt>
                <c:pt idx="1">
                  <c:v>-10 (+15)</c:v>
                </c:pt>
                <c:pt idx="2">
                  <c:v>5 (+15)</c:v>
                </c:pt>
                <c:pt idx="3">
                  <c:v>10 (+5)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9B-4CC4-BC49-4E47E0D26E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64478464"/>
        <c:axId val="1164478048"/>
      </c:lineChart>
      <c:catAx>
        <c:axId val="116447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rgbClr val="1A4359"/>
                </a:solidFill>
                <a:latin typeface="Avenir Medium" panose="02000603020000020003" pitchFamily="2" charset="0"/>
                <a:ea typeface="+mn-ea"/>
                <a:cs typeface="+mn-cs"/>
              </a:defRPr>
            </a:pPr>
            <a:endParaRPr lang="en-US"/>
          </a:p>
        </c:txPr>
        <c:crossAx val="1164478048"/>
        <c:crosses val="autoZero"/>
        <c:auto val="0"/>
        <c:lblAlgn val="ctr"/>
        <c:lblOffset val="100"/>
        <c:noMultiLvlLbl val="0"/>
      </c:catAx>
      <c:valAx>
        <c:axId val="1164478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16447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 Nova" panose="020B05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87156"/>
            <a:ext cx="5829300" cy="3376354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093717"/>
            <a:ext cx="5143500" cy="234144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36" indent="0" algn="ctr">
              <a:buNone/>
              <a:defRPr sz="1500"/>
            </a:lvl2pPr>
            <a:lvl3pPr marL="685871" indent="0" algn="ctr">
              <a:buNone/>
              <a:defRPr sz="1350"/>
            </a:lvl3pPr>
            <a:lvl4pPr marL="1028807" indent="0" algn="ctr">
              <a:buNone/>
              <a:defRPr sz="1201"/>
            </a:lvl4pPr>
            <a:lvl5pPr marL="1371742" indent="0" algn="ctr">
              <a:buNone/>
              <a:defRPr sz="1201"/>
            </a:lvl5pPr>
            <a:lvl6pPr marL="1714677" indent="0" algn="ctr">
              <a:buNone/>
              <a:defRPr sz="1201"/>
            </a:lvl6pPr>
            <a:lvl7pPr marL="2057612" indent="0" algn="ctr">
              <a:buNone/>
              <a:defRPr sz="1201"/>
            </a:lvl7pPr>
            <a:lvl8pPr marL="2400546" indent="0" algn="ctr">
              <a:buNone/>
              <a:defRPr sz="1201"/>
            </a:lvl8pPr>
            <a:lvl9pPr marL="2743483" indent="0" algn="ctr">
              <a:buNone/>
              <a:defRPr sz="1201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6434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631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17777"/>
            <a:ext cx="5915025" cy="403411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490058"/>
            <a:ext cx="5915025" cy="2121445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3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7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80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4pPr>
            <a:lvl5pPr marL="137174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5pPr>
            <a:lvl6pPr marL="1714677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6pPr>
            <a:lvl7pPr marL="2057612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7pPr>
            <a:lvl8pPr marL="2400546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8pPr>
            <a:lvl9pPr marL="2743483" indent="0">
              <a:buNone/>
              <a:defRPr sz="12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9866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581654"/>
            <a:ext cx="2914650" cy="6153316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524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16334"/>
            <a:ext cx="5915025" cy="1874506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377367"/>
            <a:ext cx="2901255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542478"/>
            <a:ext cx="2901255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377367"/>
            <a:ext cx="2915543" cy="11651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36" indent="0">
              <a:buNone/>
              <a:defRPr sz="1500" b="1"/>
            </a:lvl2pPr>
            <a:lvl3pPr marL="685871" indent="0">
              <a:buNone/>
              <a:defRPr sz="1350" b="1"/>
            </a:lvl3pPr>
            <a:lvl4pPr marL="1028807" indent="0">
              <a:buNone/>
              <a:defRPr sz="1201" b="1"/>
            </a:lvl4pPr>
            <a:lvl5pPr marL="1371742" indent="0">
              <a:buNone/>
              <a:defRPr sz="1201" b="1"/>
            </a:lvl5pPr>
            <a:lvl6pPr marL="1714677" indent="0">
              <a:buNone/>
              <a:defRPr sz="1201" b="1"/>
            </a:lvl6pPr>
            <a:lvl7pPr marL="2057612" indent="0">
              <a:buNone/>
              <a:defRPr sz="1201" b="1"/>
            </a:lvl7pPr>
            <a:lvl8pPr marL="2400546" indent="0">
              <a:buNone/>
              <a:defRPr sz="1201" b="1"/>
            </a:lvl8pPr>
            <a:lvl9pPr marL="2743483" indent="0">
              <a:buNone/>
              <a:defRPr sz="1201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542478"/>
            <a:ext cx="2915543" cy="521045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2092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18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3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396343"/>
            <a:ext cx="3471863" cy="689189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83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6536"/>
            <a:ext cx="2211884" cy="2262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396343"/>
            <a:ext cx="3471863" cy="689189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36" indent="0">
              <a:buNone/>
              <a:defRPr sz="2100"/>
            </a:lvl2pPr>
            <a:lvl3pPr marL="685871" indent="0">
              <a:buNone/>
              <a:defRPr sz="1800"/>
            </a:lvl3pPr>
            <a:lvl4pPr marL="1028807" indent="0">
              <a:buNone/>
              <a:defRPr sz="1500"/>
            </a:lvl4pPr>
            <a:lvl5pPr marL="1371742" indent="0">
              <a:buNone/>
              <a:defRPr sz="1500"/>
            </a:lvl5pPr>
            <a:lvl6pPr marL="1714677" indent="0">
              <a:buNone/>
              <a:defRPr sz="1500"/>
            </a:lvl6pPr>
            <a:lvl7pPr marL="2057612" indent="0">
              <a:buNone/>
              <a:defRPr sz="1500"/>
            </a:lvl7pPr>
            <a:lvl8pPr marL="2400546" indent="0">
              <a:buNone/>
              <a:defRPr sz="1500"/>
            </a:lvl8pPr>
            <a:lvl9pPr marL="2743483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09411"/>
            <a:ext cx="2211884" cy="5390045"/>
          </a:xfrm>
        </p:spPr>
        <p:txBody>
          <a:bodyPr/>
          <a:lstStyle>
            <a:lvl1pPr marL="0" indent="0">
              <a:buNone/>
              <a:defRPr sz="1201"/>
            </a:lvl1pPr>
            <a:lvl2pPr marL="342936" indent="0">
              <a:buNone/>
              <a:defRPr sz="1051"/>
            </a:lvl2pPr>
            <a:lvl3pPr marL="685871" indent="0">
              <a:buNone/>
              <a:defRPr sz="899"/>
            </a:lvl3pPr>
            <a:lvl4pPr marL="1028807" indent="0">
              <a:buNone/>
              <a:defRPr sz="749"/>
            </a:lvl4pPr>
            <a:lvl5pPr marL="1371742" indent="0">
              <a:buNone/>
              <a:defRPr sz="749"/>
            </a:lvl5pPr>
            <a:lvl6pPr marL="1714677" indent="0">
              <a:buNone/>
              <a:defRPr sz="749"/>
            </a:lvl6pPr>
            <a:lvl7pPr marL="2057612" indent="0">
              <a:buNone/>
              <a:defRPr sz="749"/>
            </a:lvl7pPr>
            <a:lvl8pPr marL="2400546" indent="0">
              <a:buNone/>
              <a:defRPr sz="749"/>
            </a:lvl8pPr>
            <a:lvl9pPr marL="2743483" indent="0">
              <a:buNone/>
              <a:defRPr sz="749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95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525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16332"/>
            <a:ext cx="1478756" cy="8218639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16332"/>
            <a:ext cx="4350544" cy="8218639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023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16334"/>
            <a:ext cx="5915025" cy="1874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581654"/>
            <a:ext cx="5915025" cy="6153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90BB0-8C6F-42A9-B2A7-105EFC48CF3D}" type="datetimeFigureOut">
              <a:rPr lang="nl-NL" smtClean="0"/>
              <a:t>11-7-2024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8988649"/>
            <a:ext cx="2314575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988649"/>
            <a:ext cx="1543050" cy="516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6E909-C1FA-4C0B-955E-48E0FA64F9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490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71" rtl="0" eaLnBrk="1" latinLnBrk="0" hangingPunct="1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67" indent="-171467" algn="l" defTabSz="68587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403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338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7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21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144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080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016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949" indent="-171467" algn="l" defTabSz="685871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3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71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80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4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677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612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546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483" algn="l" defTabSz="68587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13" Type="http://schemas.openxmlformats.org/officeDocument/2006/relationships/chart" Target="../charts/chart11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12" Type="http://schemas.openxmlformats.org/officeDocument/2006/relationships/chart" Target="../charts/chart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chart" Target="../charts/chart9.xml"/><Relationship Id="rId5" Type="http://schemas.openxmlformats.org/officeDocument/2006/relationships/chart" Target="../charts/chart3.xml"/><Relationship Id="rId15" Type="http://schemas.openxmlformats.org/officeDocument/2006/relationships/chart" Target="../charts/chart1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Relationship Id="rId14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D9414059-C302-4E04-8B8A-5369D020E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585215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A97AB787-C38B-4168-B8D0-02DD95289355}"/>
              </a:ext>
            </a:extLst>
          </p:cNvPr>
          <p:cNvSpPr txBox="1"/>
          <p:nvPr/>
        </p:nvSpPr>
        <p:spPr>
          <a:xfrm>
            <a:off x="639000" y="0"/>
            <a:ext cx="55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u="none" strike="noStrike" dirty="0" err="1">
                <a:solidFill>
                  <a:schemeClr val="bg1"/>
                </a:solidFill>
                <a:effectLst/>
                <a:latin typeface="Avenir Medium" panose="02000603020000020003" pitchFamily="2" charset="0"/>
              </a:rPr>
              <a:t>PHtitleofthepager</a:t>
            </a:r>
            <a:endParaRPr lang="nl-NL" sz="1600" dirty="0">
              <a:solidFill>
                <a:schemeClr val="bg1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6" name="Grafiek 5">
            <a:extLst>
              <a:ext uri="{FF2B5EF4-FFF2-40B4-BE49-F238E27FC236}">
                <a16:creationId xmlns:a16="http://schemas.microsoft.com/office/drawing/2014/main" id="{4CCD5B40-A799-4352-9C97-A727DB586A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6351643"/>
              </p:ext>
            </p:extLst>
          </p:nvPr>
        </p:nvGraphicFramePr>
        <p:xfrm>
          <a:off x="103368" y="1163069"/>
          <a:ext cx="1643909" cy="1382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33D8309E-9E28-4580-BC80-2DC8DCADD122}"/>
              </a:ext>
            </a:extLst>
          </p:cNvPr>
          <p:cNvSpPr txBox="1"/>
          <p:nvPr/>
        </p:nvSpPr>
        <p:spPr>
          <a:xfrm>
            <a:off x="403124" y="183675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06E8CC0-9A5A-462E-8E71-7FD962F58072}"/>
              </a:ext>
            </a:extLst>
          </p:cNvPr>
          <p:cNvSpPr txBox="1"/>
          <p:nvPr/>
        </p:nvSpPr>
        <p:spPr>
          <a:xfrm>
            <a:off x="756887" y="631222"/>
            <a:ext cx="11071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Light" panose="020B0402020203020204" pitchFamily="34" charset="0"/>
              </a:rPr>
              <a:t>#Responded: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E0BFE576-33DB-4E89-A84A-8AE930A256C7}"/>
              </a:ext>
            </a:extLst>
          </p:cNvPr>
          <p:cNvSpPr txBox="1"/>
          <p:nvPr/>
        </p:nvSpPr>
        <p:spPr>
          <a:xfrm>
            <a:off x="2169230" y="619506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#Invited: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PHVXY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6" name="Grafiek 15">
            <a:extLst>
              <a:ext uri="{FF2B5EF4-FFF2-40B4-BE49-F238E27FC236}">
                <a16:creationId xmlns:a16="http://schemas.microsoft.com/office/drawing/2014/main" id="{D9AF64AC-1F1A-4F78-97F1-05BCF8C0F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1088577"/>
              </p:ext>
            </p:extLst>
          </p:nvPr>
        </p:nvGraphicFramePr>
        <p:xfrm>
          <a:off x="1771061" y="1163069"/>
          <a:ext cx="1643909" cy="1385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kstvak 16">
            <a:extLst>
              <a:ext uri="{FF2B5EF4-FFF2-40B4-BE49-F238E27FC236}">
                <a16:creationId xmlns:a16="http://schemas.microsoft.com/office/drawing/2014/main" id="{CDB28205-448E-4997-AFCB-CAF1EF3D9E46}"/>
              </a:ext>
            </a:extLst>
          </p:cNvPr>
          <p:cNvSpPr txBox="1"/>
          <p:nvPr/>
        </p:nvSpPr>
        <p:spPr>
          <a:xfrm>
            <a:off x="2070817" y="183839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PHZXY</a:t>
            </a:r>
            <a:endParaRPr lang="en-US" sz="11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19" name="Grafiek 18">
            <a:extLst>
              <a:ext uri="{FF2B5EF4-FFF2-40B4-BE49-F238E27FC236}">
                <a16:creationId xmlns:a16="http://schemas.microsoft.com/office/drawing/2014/main" id="{02182651-8A78-4EB4-9877-D8BB94100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4344131"/>
              </p:ext>
            </p:extLst>
          </p:nvPr>
        </p:nvGraphicFramePr>
        <p:xfrm>
          <a:off x="3438754" y="1165098"/>
          <a:ext cx="1643909" cy="1385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kstvak 19">
            <a:extLst>
              <a:ext uri="{FF2B5EF4-FFF2-40B4-BE49-F238E27FC236}">
                <a16:creationId xmlns:a16="http://schemas.microsoft.com/office/drawing/2014/main" id="{3AD23A8C-F146-4710-9CB7-D5160AFC080D}"/>
              </a:ext>
            </a:extLst>
          </p:cNvPr>
          <p:cNvSpPr txBox="1"/>
          <p:nvPr/>
        </p:nvSpPr>
        <p:spPr>
          <a:xfrm>
            <a:off x="3738510" y="1840426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graphicFrame>
        <p:nvGraphicFramePr>
          <p:cNvPr id="22" name="Grafiek 21">
            <a:extLst>
              <a:ext uri="{FF2B5EF4-FFF2-40B4-BE49-F238E27FC236}">
                <a16:creationId xmlns:a16="http://schemas.microsoft.com/office/drawing/2014/main" id="{75370646-B8A1-4A1A-8FEC-CED7CF5B8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077703"/>
              </p:ext>
            </p:extLst>
          </p:nvPr>
        </p:nvGraphicFramePr>
        <p:xfrm>
          <a:off x="5106446" y="1163068"/>
          <a:ext cx="1643909" cy="1387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Tekstvak 22">
            <a:extLst>
              <a:ext uri="{FF2B5EF4-FFF2-40B4-BE49-F238E27FC236}">
                <a16:creationId xmlns:a16="http://schemas.microsoft.com/office/drawing/2014/main" id="{EDEA152B-C1AB-4C76-9F19-2ECAE81D7292}"/>
              </a:ext>
            </a:extLst>
          </p:cNvPr>
          <p:cNvSpPr txBox="1"/>
          <p:nvPr/>
        </p:nvSpPr>
        <p:spPr>
          <a:xfrm>
            <a:off x="5406202" y="1839595"/>
            <a:ext cx="1001864" cy="2862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nl-NL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PHZYX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4" name="Tekstvak 23">
            <a:extLst>
              <a:ext uri="{FF2B5EF4-FFF2-40B4-BE49-F238E27FC236}">
                <a16:creationId xmlns:a16="http://schemas.microsoft.com/office/drawing/2014/main" id="{65F7CF20-4F6A-46F0-A829-24C5FEACB72D}"/>
              </a:ext>
            </a:extLst>
          </p:cNvPr>
          <p:cNvSpPr txBox="1"/>
          <p:nvPr/>
        </p:nvSpPr>
        <p:spPr>
          <a:xfrm>
            <a:off x="3581573" y="614072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#Contacts: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PHVXZ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88187179-5155-4686-A544-A28A03D8AB3D}"/>
              </a:ext>
            </a:extLst>
          </p:cNvPr>
          <p:cNvSpPr txBox="1"/>
          <p:nvPr/>
        </p:nvSpPr>
        <p:spPr>
          <a:xfrm>
            <a:off x="4993917" y="621767"/>
            <a:ext cx="1107196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950" dirty="0">
                <a:solidFill>
                  <a:srgbClr val="1A4359"/>
                </a:solidFill>
                <a:latin typeface="Avenir Light" panose="020B0402020203020204" pitchFamily="34" charset="0"/>
              </a:rPr>
              <a:t>#Customers:</a:t>
            </a:r>
          </a:p>
          <a:p>
            <a:pPr algn="ctr"/>
            <a:r>
              <a:rPr lang="en-US" sz="1100" dirty="0">
                <a:solidFill>
                  <a:srgbClr val="1A4359"/>
                </a:solidFill>
                <a:latin typeface="Avenir Medium" panose="02000603020000020003" pitchFamily="2" charset="0"/>
              </a:rPr>
              <a:t>PHVYX</a:t>
            </a:r>
            <a:endParaRPr lang="en-US" sz="12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pic>
        <p:nvPicPr>
          <p:cNvPr id="39" name="Afbeelding 38">
            <a:extLst>
              <a:ext uri="{FF2B5EF4-FFF2-40B4-BE49-F238E27FC236}">
                <a16:creationId xmlns:a16="http://schemas.microsoft.com/office/drawing/2014/main" id="{C7D09ACB-B444-4456-8D19-9CBC98677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56935"/>
          <a:stretch/>
        </p:blipFill>
        <p:spPr>
          <a:xfrm>
            <a:off x="-8" y="9446016"/>
            <a:ext cx="6858000" cy="252022"/>
          </a:xfrm>
          <a:prstGeom prst="rect">
            <a:avLst/>
          </a:prstGeom>
        </p:spPr>
      </p:pic>
      <p:graphicFrame>
        <p:nvGraphicFramePr>
          <p:cNvPr id="44" name="Grafiek 43">
            <a:extLst>
              <a:ext uri="{FF2B5EF4-FFF2-40B4-BE49-F238E27FC236}">
                <a16:creationId xmlns:a16="http://schemas.microsoft.com/office/drawing/2014/main" id="{C5A3DE29-F231-4949-9D50-9015B991AE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0278063"/>
              </p:ext>
            </p:extLst>
          </p:nvPr>
        </p:nvGraphicFramePr>
        <p:xfrm>
          <a:off x="162095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6" name="Grafiek 45">
            <a:extLst>
              <a:ext uri="{FF2B5EF4-FFF2-40B4-BE49-F238E27FC236}">
                <a16:creationId xmlns:a16="http://schemas.microsoft.com/office/drawing/2014/main" id="{C19D9A23-11F5-431B-AEC7-9CA6056EA6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6882687"/>
              </p:ext>
            </p:extLst>
          </p:nvPr>
        </p:nvGraphicFramePr>
        <p:xfrm>
          <a:off x="1831313" y="2599125"/>
          <a:ext cx="1517300" cy="608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47" name="Grafiek 46">
            <a:extLst>
              <a:ext uri="{FF2B5EF4-FFF2-40B4-BE49-F238E27FC236}">
                <a16:creationId xmlns:a16="http://schemas.microsoft.com/office/drawing/2014/main" id="{46F8CD61-2F28-4332-847B-E5E98AF3A3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0124081"/>
              </p:ext>
            </p:extLst>
          </p:nvPr>
        </p:nvGraphicFramePr>
        <p:xfrm>
          <a:off x="3499544" y="2597627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48" name="Grafiek 47">
            <a:extLst>
              <a:ext uri="{FF2B5EF4-FFF2-40B4-BE49-F238E27FC236}">
                <a16:creationId xmlns:a16="http://schemas.microsoft.com/office/drawing/2014/main" id="{F9443147-797D-4BC5-9FF6-7AF7C2B796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005730"/>
              </p:ext>
            </p:extLst>
          </p:nvPr>
        </p:nvGraphicFramePr>
        <p:xfrm>
          <a:off x="5169750" y="2599125"/>
          <a:ext cx="1517300" cy="614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E8C683DE-E328-4DB1-B4CB-7F03A2651FD8}"/>
              </a:ext>
            </a:extLst>
          </p:cNvPr>
          <p:cNvCxnSpPr>
            <a:cxnSpLocks/>
          </p:cNvCxnSpPr>
          <p:nvPr/>
        </p:nvCxnSpPr>
        <p:spPr>
          <a:xfrm>
            <a:off x="167584" y="109844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010A5A88-00DE-4947-AA88-4877DA95B4DC}"/>
              </a:ext>
            </a:extLst>
          </p:cNvPr>
          <p:cNvSpPr txBox="1"/>
          <p:nvPr/>
        </p:nvSpPr>
        <p:spPr>
          <a:xfrm>
            <a:off x="-177800" y="9461385"/>
            <a:ext cx="7213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685871" rtl="0" eaLnBrk="1" fontAlgn="ctr" latinLnBrk="0" hangingPunct="1"/>
            <a:r>
              <a:rPr lang="en-US" sz="900" u="none" strike="noStrike" kern="1200" dirty="0" err="1">
                <a:solidFill>
                  <a:schemeClr val="bg1">
                    <a:lumMod val="95000"/>
                  </a:schemeClr>
                </a:solidFill>
                <a:effectLst/>
                <a:latin typeface="Avenir Light" panose="020B0402020203020204" pitchFamily="34" charset="0"/>
              </a:rPr>
              <a:t>PHfootnotevisittool</a:t>
            </a:r>
            <a:endParaRPr lang="en-US" sz="850" u="none" strike="noStrike" kern="1200" dirty="0">
              <a:solidFill>
                <a:schemeClr val="bg1">
                  <a:lumMod val="95000"/>
                </a:schemeClr>
              </a:solidFill>
              <a:effectLst/>
              <a:latin typeface="Avenir Light" panose="020B0402020203020204" pitchFamily="34" charset="0"/>
            </a:endParaRPr>
          </a:p>
        </p:txBody>
      </p:sp>
      <p:graphicFrame>
        <p:nvGraphicFramePr>
          <p:cNvPr id="33" name="Grafiek 32">
            <a:extLst>
              <a:ext uri="{FF2B5EF4-FFF2-40B4-BE49-F238E27FC236}">
                <a16:creationId xmlns:a16="http://schemas.microsoft.com/office/drawing/2014/main" id="{F309487D-5688-4E8C-984D-53B767E6B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6339134"/>
              </p:ext>
            </p:extLst>
          </p:nvPr>
        </p:nvGraphicFramePr>
        <p:xfrm>
          <a:off x="-8" y="5380577"/>
          <a:ext cx="6858008" cy="40301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E5A47743-9CAB-4E3F-8040-1CD79103323D}"/>
              </a:ext>
            </a:extLst>
          </p:cNvPr>
          <p:cNvCxnSpPr>
            <a:cxnSpLocks/>
          </p:cNvCxnSpPr>
          <p:nvPr/>
        </p:nvCxnSpPr>
        <p:spPr>
          <a:xfrm>
            <a:off x="167584" y="3250334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B23721B5-FEE0-40A4-B3D4-F57A749EB114}"/>
              </a:ext>
            </a:extLst>
          </p:cNvPr>
          <p:cNvCxnSpPr>
            <a:cxnSpLocks/>
          </p:cNvCxnSpPr>
          <p:nvPr/>
        </p:nvCxnSpPr>
        <p:spPr>
          <a:xfrm>
            <a:off x="167584" y="5371676"/>
            <a:ext cx="6522833" cy="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Grafiek 33">
            <a:extLst>
              <a:ext uri="{FF2B5EF4-FFF2-40B4-BE49-F238E27FC236}">
                <a16:creationId xmlns:a16="http://schemas.microsoft.com/office/drawing/2014/main" id="{CFD37752-3551-4498-979D-432EFA58A0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138750"/>
              </p:ext>
            </p:extLst>
          </p:nvPr>
        </p:nvGraphicFramePr>
        <p:xfrm>
          <a:off x="202137" y="3908916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43" name="Grafiek 42">
            <a:extLst>
              <a:ext uri="{FF2B5EF4-FFF2-40B4-BE49-F238E27FC236}">
                <a16:creationId xmlns:a16="http://schemas.microsoft.com/office/drawing/2014/main" id="{7551BF50-E3DA-4D7A-9A82-7F9927308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6361614"/>
              </p:ext>
            </p:extLst>
          </p:nvPr>
        </p:nvGraphicFramePr>
        <p:xfrm>
          <a:off x="203374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49" name="Tekstvak 48">
            <a:extLst>
              <a:ext uri="{FF2B5EF4-FFF2-40B4-BE49-F238E27FC236}">
                <a16:creationId xmlns:a16="http://schemas.microsoft.com/office/drawing/2014/main" id="{06A49808-CB4A-44FC-A047-8DD0AFDD79F7}"/>
              </a:ext>
            </a:extLst>
          </p:cNvPr>
          <p:cNvSpPr txBox="1"/>
          <p:nvPr/>
        </p:nvSpPr>
        <p:spPr>
          <a:xfrm>
            <a:off x="910033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Net </a:t>
            </a:r>
            <a:r>
              <a:rPr lang="nl-NL" sz="1000" dirty="0" err="1">
                <a:solidFill>
                  <a:srgbClr val="1A4359"/>
                </a:solidFill>
                <a:latin typeface="Avenir Medium" panose="02000603020000020003" pitchFamily="2" charset="0"/>
              </a:rPr>
              <a:t>Promoter</a:t>
            </a:r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 Scores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1D681DE5-4E48-4A91-A511-E51127005B20}"/>
              </a:ext>
            </a:extLst>
          </p:cNvPr>
          <p:cNvCxnSpPr>
            <a:cxnSpLocks/>
          </p:cNvCxnSpPr>
          <p:nvPr/>
        </p:nvCxnSpPr>
        <p:spPr>
          <a:xfrm flipH="1" flipV="1">
            <a:off x="3423908" y="3344354"/>
            <a:ext cx="10185" cy="1800000"/>
          </a:xfrm>
          <a:prstGeom prst="line">
            <a:avLst/>
          </a:prstGeom>
          <a:ln w="19050">
            <a:solidFill>
              <a:srgbClr val="415573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Grafiek 1">
            <a:extLst>
              <a:ext uri="{FF2B5EF4-FFF2-40B4-BE49-F238E27FC236}">
                <a16:creationId xmlns:a16="http://schemas.microsoft.com/office/drawing/2014/main" id="{954E8DCF-C940-5E90-E26E-483C51749F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460129"/>
              </p:ext>
            </p:extLst>
          </p:nvPr>
        </p:nvGraphicFramePr>
        <p:xfrm>
          <a:off x="3445622" y="3895401"/>
          <a:ext cx="3210242" cy="1462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8" name="Grafiek 7">
            <a:extLst>
              <a:ext uri="{FF2B5EF4-FFF2-40B4-BE49-F238E27FC236}">
                <a16:creationId xmlns:a16="http://schemas.microsoft.com/office/drawing/2014/main" id="{4643652B-053D-4FF6-59F6-3A75063A9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356300"/>
              </p:ext>
            </p:extLst>
          </p:nvPr>
        </p:nvGraphicFramePr>
        <p:xfrm>
          <a:off x="3441895" y="3669799"/>
          <a:ext cx="3207769" cy="291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9" name="Tekstvak 8">
            <a:extLst>
              <a:ext uri="{FF2B5EF4-FFF2-40B4-BE49-F238E27FC236}">
                <a16:creationId xmlns:a16="http://schemas.microsoft.com/office/drawing/2014/main" id="{E2948A1A-1B20-1B43-0779-F41BCA5F951B}"/>
              </a:ext>
            </a:extLst>
          </p:cNvPr>
          <p:cNvSpPr txBox="1"/>
          <p:nvPr/>
        </p:nvSpPr>
        <p:spPr>
          <a:xfrm>
            <a:off x="4202195" y="3344354"/>
            <a:ext cx="18085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000" dirty="0">
                <a:solidFill>
                  <a:srgbClr val="1A4359"/>
                </a:solidFill>
                <a:latin typeface="Avenir Medium" panose="02000603020000020003" pitchFamily="2" charset="0"/>
              </a:rPr>
              <a:t>NPS cohort (</a:t>
            </a:r>
            <a:r>
              <a:rPr lang="nl-NL" sz="1000">
                <a:solidFill>
                  <a:srgbClr val="1A4359"/>
                </a:solidFill>
                <a:latin typeface="Avenir Medium" panose="02000603020000020003" pitchFamily="2" charset="0"/>
              </a:rPr>
              <a:t>n=PHCOHN)</a:t>
            </a:r>
            <a:endParaRPr lang="en-US" sz="1000" dirty="0">
              <a:solidFill>
                <a:srgbClr val="1A4359"/>
              </a:solidFill>
              <a:latin typeface="Avenir Medium" panose="020006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91427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FFFFF"/>
      </a:hlink>
      <a:folHlink>
        <a:srgbClr val="BFBFBF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11752</TotalTime>
  <Words>80</Words>
  <Application>Microsoft Office PowerPoint</Application>
  <PresentationFormat>Aangepast</PresentationFormat>
  <Paragraphs>60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7" baseType="lpstr">
      <vt:lpstr>Arial</vt:lpstr>
      <vt:lpstr>Avenir Light</vt:lpstr>
      <vt:lpstr>Avenir Medium</vt:lpstr>
      <vt:lpstr>Calibri</vt:lpstr>
      <vt:lpstr>Calibri Light</vt:lpstr>
      <vt:lpstr>Kantoorthema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Marco Strijker</dc:creator>
  <cp:lastModifiedBy>Marco Strijker</cp:lastModifiedBy>
  <cp:revision>161</cp:revision>
  <dcterms:created xsi:type="dcterms:W3CDTF">2020-08-04T09:12:03Z</dcterms:created>
  <dcterms:modified xsi:type="dcterms:W3CDTF">2024-07-11T11:54:20Z</dcterms:modified>
</cp:coreProperties>
</file>