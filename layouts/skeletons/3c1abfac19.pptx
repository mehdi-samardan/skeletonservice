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xlsx" ContentType="application/vnd.openxmlformats-officedocument.spreadsheetml.sheet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  <p:sldMasterId id="2147483684" r:id="rId2"/>
    <p:sldMasterId id="2147483696" r:id="rId3"/>
  </p:sldMasterIdLst>
  <p:sldIdLst>
    <p:sldId id="259" r:id="rId4"/>
    <p:sldId id="262" r:id="rId5"/>
  </p:sldIdLst>
  <p:sldSz cx="6858000" cy="9698038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slideMaster" Target="slideMasters/slideMaster3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presProps" Target="presProps.xml" /><Relationship Id="rId8" Type="http://schemas.openxmlformats.org/officeDocument/2006/relationships/viewProps" Target="viewProps.xml" /><Relationship Id="rId9" Type="http://schemas.openxmlformats.org/officeDocument/2006/relationships/theme" Target="theme/theme1.xml" /></Relationships>
</file>

<file path=ppt/charts/_rels/chart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Relationship Id="rId2" Type="http://schemas.microsoft.com/office/2011/relationships/chartColorStyle" Target="colors1.xml" /><Relationship Id="rId3" Type="http://schemas.microsoft.com/office/2011/relationships/chartStyle" Target="style1.xml" /></Relationships>
</file>

<file path=ppt/charts/_rels/chart2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_rels/chart3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 /><Relationship Id="rId2" Type="http://schemas.microsoft.com/office/2011/relationships/chartColorStyle" Target="colors2.xml" /><Relationship Id="rId3" Type="http://schemas.microsoft.com/office/2011/relationships/chartStyle" Target="style2.xml" /></Relationships>
</file>

<file path=ppt/charts/_rels/chart4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 /><Relationship Id="rId2" Type="http://schemas.microsoft.com/office/2011/relationships/chartColorStyle" Target="colors3.xml" /><Relationship Id="rId3" Type="http://schemas.microsoft.com/office/2011/relationships/chartStyle" Target="style3.xml" /></Relationships>
</file>

<file path=ppt/charts/_rels/chart5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 /><Relationship Id="rId2" Type="http://schemas.microsoft.com/office/2011/relationships/chartColorStyle" Target="colors4.xml" /><Relationship Id="rId3" Type="http://schemas.microsoft.com/office/2011/relationships/chartStyle" Target="style4.xml" /></Relationships>
</file>

<file path=ppt/charts/_rels/chart6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 /><Relationship Id="rId2" Type="http://schemas.microsoft.com/office/2011/relationships/chartColorStyle" Target="colors5.xml" /><Relationship Id="rId3" Type="http://schemas.microsoft.com/office/2011/relationships/chartStyle" Target="style5.xml" /></Relationships>
</file>

<file path=ppt/charts/_rels/chart7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 /><Relationship Id="rId2" Type="http://schemas.microsoft.com/office/2011/relationships/chartColorStyle" Target="colors6.xml" /><Relationship Id="rId3" Type="http://schemas.microsoft.com/office/2011/relationships/chartStyle" Target="style6.xml" /></Relationships>
</file>

<file path=ppt/charts/_rels/chart8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 /><Relationship Id="rId2" Type="http://schemas.microsoft.com/office/2011/relationships/chartColorStyle" Target="colors7.xml" /><Relationship Id="rId3" Type="http://schemas.microsoft.com/office/2011/relationships/chartStyle" Target="style7.xml" /></Relationships>
</file>

<file path=ppt/charts/chart1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14162184670567513"/>
          <c:w val="1"/>
          <c:h val="0.770425379276275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Blad1!$B$2:$B$14</c:f>
              <c:numCache>
                <c:formatCode>General</c:formatCode>
                <c:ptCount val="13"/>
                <c:pt idx="0">
                  <c:v>0.125</c:v>
                </c:pt>
                <c:pt idx="1">
                  <c:v>0.45</c:v>
                </c:pt>
                <c:pt idx="2">
                  <c:v>0.3</c:v>
                </c:pt>
                <c:pt idx="3">
                  <c:v>0.2</c:v>
                </c:pt>
                <c:pt idx="4">
                  <c:v>0.125</c:v>
                </c:pt>
                <c:pt idx="5">
                  <c:v>0.45</c:v>
                </c:pt>
                <c:pt idx="6">
                  <c:v>0.3</c:v>
                </c:pt>
                <c:pt idx="7">
                  <c:v>0.2</c:v>
                </c:pt>
                <c:pt idx="8">
                  <c:v>0.125</c:v>
                </c:pt>
                <c:pt idx="9">
                  <c:v>0.45</c:v>
                </c:pt>
                <c:pt idx="10">
                  <c:v>0.3</c:v>
                </c:pt>
                <c:pt idx="11">
                  <c:v>0.2</c:v>
                </c:pt>
                <c:pt idx="1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57-4934-B1EC-109CD0E37A52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Blad1!$C$2:$C$14</c:f>
              <c:numCache>
                <c:formatCode>General</c:formatCode>
                <c:ptCount val="13"/>
                <c:pt idx="0">
                  <c:v>0.5</c:v>
                </c:pt>
                <c:pt idx="1">
                  <c:v>0.05</c:v>
                </c:pt>
                <c:pt idx="2">
                  <c:v>0.3</c:v>
                </c:pt>
                <c:pt idx="3">
                  <c:v>0.6</c:v>
                </c:pt>
                <c:pt idx="4">
                  <c:v>0.5</c:v>
                </c:pt>
                <c:pt idx="5">
                  <c:v>0.05</c:v>
                </c:pt>
                <c:pt idx="6">
                  <c:v>0.3</c:v>
                </c:pt>
                <c:pt idx="7">
                  <c:v>0.6</c:v>
                </c:pt>
                <c:pt idx="8">
                  <c:v>0.5</c:v>
                </c:pt>
                <c:pt idx="9">
                  <c:v>0.05</c:v>
                </c:pt>
                <c:pt idx="10">
                  <c:v>0.3</c:v>
                </c:pt>
                <c:pt idx="11">
                  <c:v>0.6</c:v>
                </c:pt>
                <c:pt idx="1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3B-410E-BEA0-28D91E226ED2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Blad1!$D$2:$D$14</c:f>
              <c:numCache>
                <c:formatCode>General</c:formatCode>
                <c:ptCount val="13"/>
                <c:pt idx="0">
                  <c:v>0.375</c:v>
                </c:pt>
                <c:pt idx="1">
                  <c:v>0.5</c:v>
                </c:pt>
                <c:pt idx="2">
                  <c:v>0.4</c:v>
                </c:pt>
                <c:pt idx="3">
                  <c:v>0.4</c:v>
                </c:pt>
                <c:pt idx="4">
                  <c:v>0.375</c:v>
                </c:pt>
                <c:pt idx="5">
                  <c:v>0.5</c:v>
                </c:pt>
                <c:pt idx="6">
                  <c:v>0.4</c:v>
                </c:pt>
                <c:pt idx="7">
                  <c:v>0.4</c:v>
                </c:pt>
                <c:pt idx="8">
                  <c:v>0.375</c:v>
                </c:pt>
                <c:pt idx="9">
                  <c:v>0.5</c:v>
                </c:pt>
                <c:pt idx="10">
                  <c:v>0.4</c:v>
                </c:pt>
                <c:pt idx="11">
                  <c:v>0.4</c:v>
                </c:pt>
                <c:pt idx="1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3B-410E-BEA0-28D91E226E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overlap val="100"/>
        <c:axId val="1155526192"/>
        <c:axId val="1155519120"/>
      </c:barChart>
      <c:lineChart>
        <c:grouping val="stacked"/>
        <c:varyColors val="0"/>
        <c:ser>
          <c:idx val="3"/>
          <c:order val="3"/>
          <c:tx>
            <c:strRef>
              <c:f>Blad1!$E$1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solidFill>
                <a:srgbClr val="39364C"/>
              </a:solidFill>
              <a:round/>
            </a:ln>
            <a:effectLst/>
          </c:spPr>
          <c:marker>
            <c:symbol val="circle"/>
            <c:spPr>
              <a:solidFill>
                <a:srgbClr val="39364C"/>
              </a:solidFill>
              <a:ln w="9525">
                <a:solidFill>
                  <a:srgbClr val="39364C"/>
                </a:solidFill>
              </a:ln>
              <a:effectLst/>
            </c:spPr>
          </c:marker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Blad1!$E$2:$E$14</c:f>
              <c:numCache>
                <c:formatCode>General</c:formatCode>
                <c:ptCount val="13"/>
                <c:pt idx="0">
                  <c:v>25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25</c:v>
                </c:pt>
                <c:pt idx="5">
                  <c:v>5</c:v>
                </c:pt>
                <c:pt idx="6">
                  <c:v>10</c:v>
                </c:pt>
                <c:pt idx="7">
                  <c:v>20</c:v>
                </c:pt>
                <c:pt idx="8">
                  <c:v>25</c:v>
                </c:pt>
                <c:pt idx="9">
                  <c:v>5</c:v>
                </c:pt>
                <c:pt idx="10">
                  <c:v>10</c:v>
                </c:pt>
                <c:pt idx="11">
                  <c:v>20</c:v>
                </c:pt>
                <c:pt idx="12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A3B-410E-BEA0-28D91E226E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1053721151"/>
        <c:axId val="1053720319"/>
      </c:line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050" b="0" i="0" u="none" strike="noStrike" kern="1200" baseline="0" smtId="4294967295">
                <a:solidFill>
                  <a:srgbClr val="39364C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0"/>
        <c:axPos val="l"/>
        <c:numFmt formatCode="0%" sourceLinked="1"/>
        <c:majorTickMark val="in"/>
        <c:minorTickMark val="none"/>
        <c:spPr>
          <a:noFill/>
          <a:ln>
            <a:solidFill>
              <a:srgbClr val="39364C"/>
            </a:solidFill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050" b="0" i="0" u="none" strike="noStrike" kern="1200" baseline="0" smtId="4294967295">
                <a:solidFill>
                  <a:srgbClr val="39364C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155526192"/>
        <c:crosses val="autoZero"/>
        <c:crossBetween val="between"/>
        <c:majorUnit val="0.25"/>
      </c:valAx>
      <c:valAx>
        <c:axId val="1053720319"/>
        <c:scaling>
          <c:orientation/>
        </c:scaling>
        <c:delete val="0"/>
        <c:axPos val="r"/>
        <c:numFmt formatCode="General" sourceLinked="1"/>
        <c:majorTickMark val="in"/>
        <c:minorTickMark val="none"/>
        <c:spPr>
          <a:noFill/>
          <a:ln>
            <a:solidFill>
              <a:srgbClr val="39364C"/>
            </a:solidFill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050" b="0" i="0" u="none" strike="noStrike" kern="1200" baseline="0" smtId="4294967295">
                <a:solidFill>
                  <a:srgbClr val="39364C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053721151"/>
        <c:crosses val="max"/>
        <c:crossBetween val="between"/>
      </c:valAx>
      <c:catAx>
        <c:axId val="1053721151"/>
        <c:scaling>
          <c:orientation/>
        </c:scaling>
        <c:delete val="1"/>
        <c:axPos val="b"/>
        <c:numFmt formatCode="General" sourceLinked="1"/>
        <c:majorTickMark val="out"/>
        <c:minorTickMark val="none"/>
        <c:crossAx val="1053720319"/>
        <c:auto val="0"/>
        <c:lblAlgn val="ctr"/>
        <c:lblOffset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0370347425341606"/>
          <c:y val="0.023872988298535347"/>
          <c:w val="0.9592593312263489"/>
          <c:h val="0.961151957511901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Statements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11-45E6-ACAD-AB8A5D25DE00}"/>
              </c:ext>
            </c:extLst>
          </c:dPt>
          <c:dPt>
            <c:idx val="2"/>
            <c:invertIfNegative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p>
                <a:pPr>
                  <a:defRPr sz="9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Blad1!$B$2:$B$21</c:f>
              <c:numCache>
                <c:formatCode>General</c:formatCode>
                <c:ptCount val="20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  <c:pt idx="13">
                  <c:v>2.5</c:v>
                </c:pt>
                <c:pt idx="14">
                  <c:v>2.5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11-45E6-ACAD-AB8A5D25DE00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Wave 1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Blad1!$C$2:$C$21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11-45E6-ACAD-AB8A5D25DE00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Wave 2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Blad1!$D$2:$D$21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11-45E6-ACAD-AB8A5D25DE00}"/>
            </c:ext>
          </c:extLst>
        </c:ser>
        <c:ser>
          <c:idx val="3"/>
          <c:order val="3"/>
          <c:tx>
            <c:strRef>
              <c:f>Blad1!$E$1</c:f>
              <c:strCache>
                <c:ptCount val="1"/>
                <c:pt idx="0">
                  <c:v>Wave 3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Blad1!$E$2:$E$21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B11-45E6-ACAD-AB8A5D25DE00}"/>
            </c:ext>
          </c:extLst>
        </c:ser>
        <c:ser>
          <c:idx val="4"/>
          <c:order val="4"/>
          <c:tx>
            <c:strRef>
              <c:f>Blad1!$F$1</c:f>
              <c:strCache>
                <c:ptCount val="1"/>
                <c:pt idx="0">
                  <c:v>Wave 4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Blad1!$F$2:$F$21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B11-45E6-ACAD-AB8A5D25DE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100"/>
        <c:axId val="1316758480"/>
        <c:axId val="1316767632"/>
      </c:barChart>
      <c:catAx>
        <c:axId val="1316758480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crossAx val="1316767632"/>
        <c:crossesAt val="0.25"/>
        <c:auto val="0"/>
        <c:lblAlgn val="ctr"/>
        <c:lblOffset/>
        <c:noMultiLvlLbl val="0"/>
      </c:catAx>
      <c:valAx>
        <c:axId val="1316767632"/>
        <c:scaling>
          <c:orientation/>
        </c:scaling>
        <c:delete val="1"/>
        <c:axPos val="t"/>
        <c:numFmt formatCode="0%" sourceLinked="1"/>
        <c:majorTickMark val="out"/>
        <c:minorTickMark val="none"/>
        <c:crossAx val="1316758480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14162184670567513"/>
          <c:w val="1"/>
          <c:h val="0.7774774432182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50" b="0" i="0" u="none" strike="noStrike" kern="1200" baseline="0" smtId="4294967295">
                    <a:solidFill>
                      <a:srgbClr val="39364C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Blad1!$B$2:$B$14</c:f>
              <c:numCache>
                <c:formatCode>General</c:formatCode>
                <c:ptCount val="13"/>
                <c:pt idx="0">
                  <c:v>8.5</c:v>
                </c:pt>
                <c:pt idx="1">
                  <c:v>8.4</c:v>
                </c:pt>
                <c:pt idx="2">
                  <c:v>8.1</c:v>
                </c:pt>
                <c:pt idx="3">
                  <c:v>8.7</c:v>
                </c:pt>
                <c:pt idx="4">
                  <c:v>8.5</c:v>
                </c:pt>
                <c:pt idx="5">
                  <c:v>8.6</c:v>
                </c:pt>
                <c:pt idx="6">
                  <c:v>8.8</c:v>
                </c:pt>
                <c:pt idx="7">
                  <c:v>8.7</c:v>
                </c:pt>
                <c:pt idx="8">
                  <c:v>8.9</c:v>
                </c:pt>
                <c:pt idx="9">
                  <c:v>8.5</c:v>
                </c:pt>
                <c:pt idx="10">
                  <c:v>9.2</c:v>
                </c:pt>
                <c:pt idx="11">
                  <c:v>9</c:v>
                </c:pt>
                <c:pt idx="12">
                  <c:v>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33-44E5-925B-3ED4ECEC4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overlap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050" b="0" i="0" u="none" strike="noStrike" kern="1200" baseline="0" smtId="4294967295">
                <a:solidFill>
                  <a:srgbClr val="39364C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General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919696808"/>
          <c:w val="1"/>
          <c:h val="0.6880192160606384"/>
        </c:manualLayout>
      </c:layout>
      <c:lineChart>
        <c:grouping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Blad1!$A$2:$A$14</c:f>
              <c:strCache>
                <c:ptCount val="13"/>
                <c:pt idx="0">
                  <c:v>-25</c:v>
                </c:pt>
                <c:pt idx="1">
                  <c:v>-10</c:v>
                </c:pt>
                <c:pt idx="2">
                  <c:v>+ 5</c:v>
                </c:pt>
                <c:pt idx="3">
                  <c:v>-25</c:v>
                </c:pt>
                <c:pt idx="4">
                  <c:v>-10</c:v>
                </c:pt>
                <c:pt idx="5">
                  <c:v>+ 5</c:v>
                </c:pt>
                <c:pt idx="6">
                  <c:v>-25</c:v>
                </c:pt>
                <c:pt idx="7">
                  <c:v>-10</c:v>
                </c:pt>
                <c:pt idx="8">
                  <c:v>+ 5</c:v>
                </c:pt>
                <c:pt idx="9">
                  <c:v>-25</c:v>
                </c:pt>
                <c:pt idx="10">
                  <c:v>-10</c:v>
                </c:pt>
                <c:pt idx="11">
                  <c:v>+ 5</c:v>
                </c:pt>
                <c:pt idx="12">
                  <c:v>+ 6</c:v>
                </c:pt>
              </c:strCache>
            </c:strRef>
          </c:cat>
          <c:val>
            <c:numRef>
              <c:f>Blad1!$B$2:$B$14</c:f>
              <c:numCache>
                <c:formatCode>General</c:formatCode>
                <c:ptCount val="1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27-426D-993D-9264E62EC2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1164478464"/>
        <c:axId val="1164478048"/>
      </c:lineChart>
      <c:catAx>
        <c:axId val="1164478464"/>
        <c:scaling>
          <c:orientation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200" b="0" i="0" u="none" strike="noStrike" kern="1200" baseline="0" smtId="4294967295">
                <a:solidFill>
                  <a:srgbClr val="39364C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164478048"/>
        <c:crosses val="autoZero"/>
        <c:auto val="0"/>
        <c:lblAlgn val="ctr"/>
        <c:lblOffset/>
        <c:noMultiLvlLbl val="0"/>
      </c:catAx>
      <c:valAx>
        <c:axId val="1164478048"/>
        <c:scaling>
          <c:orientation/>
        </c:scaling>
        <c:delete val="1"/>
        <c:axPos val="l"/>
        <c:numFmt formatCode="General" sourceLinked="1"/>
        <c:majorTickMark val="out"/>
        <c:minorTickMark val="none"/>
        <c:crossAx val="1164478464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 sz="1200" b="0" smtId="4294967295">
          <a:solidFill>
            <a:srgbClr val="39364C"/>
          </a:solidFill>
          <a:latin typeface="Avenir Book" panose="02000503020000020003" pitchFamily="2" charset="0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algn="ctr" defTabSz="457200" rtl="0" eaLnBrk="1" latinLnBrk="0" hangingPunct="1">
              <a:defRPr lang="en-US" sz="1100" b="0" i="0" u="none" strike="noStrike" kern="1200" spc="0" baseline="0" err="1">
                <a:solidFill>
                  <a:srgbClr val="39364C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100" kern="1200" err="1">
                <a:solidFill>
                  <a:srgbClr val="39364C"/>
                </a:solidFill>
                <a:latin typeface="Avenir Medium" panose="02000603020000020003" pitchFamily="2" charset="0"/>
                <a:ea typeface="+mn-ea"/>
                <a:cs typeface="+mn-cs"/>
              </a:rPr>
              <a:t>Geslacht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 marL="0" algn="ctr" defTabSz="457200" rtl="0" eaLnBrk="1" latinLnBrk="0" hangingPunct="1">
            <a:defRPr lang="en-US" sz="1100" b="0" i="0" u="none" strike="noStrike" kern="1200" spc="0" baseline="0" smtId="4294967295">
              <a:solidFill>
                <a:srgbClr val="39364C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pie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ln>
              <a:noFill/>
            </a:ln>
          </c:spPr>
          <c:dPt>
            <c:idx val="0"/>
            <c:invertIfNegative val="1"/>
            <c:spPr>
              <a:solidFill>
                <a:schemeClr val="accent1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1-E71D-4B2C-9C6A-239C67BF67EE}"/>
              </c:ext>
            </c:extLst>
          </c:dPt>
          <c:dPt>
            <c:idx val="1"/>
            <c:invertIfNegative val="1"/>
            <c:spPr>
              <a:solidFill>
                <a:srgbClr val="EE7444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3-E71D-4B2C-9C6A-239C67BF67EE}"/>
              </c:ext>
            </c:extLst>
          </c:dPt>
          <c:dPt>
            <c:idx val="2"/>
            <c:invertIfNegative val="1"/>
            <c:spPr>
              <a:solidFill>
                <a:schemeClr val="accent3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5-E71D-4B2C-9C6A-239C67BF67EE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p>
                  <a:pPr algn="ctr">
                    <a:defRPr lang="en-US" sz="1050" b="0" i="0" u="none" strike="noStrike" kern="1200" baseline="0" smtId="4294967295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p>
                  <a:pPr algn="ctr">
                    <a:defRPr lang="en-US" sz="1050" b="0" i="0" u="none" strike="noStrike" kern="1200" baseline="0" smtId="4294967295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p>
                  <a:pPr algn="ctr">
                    <a:defRPr lang="en-US" sz="1050" b="0" i="0" u="none" strike="noStrike" kern="1200" baseline="0" smtId="4294967295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p>
                <a:pPr algn="ctr">
                  <a:defRPr lang="en-US" sz="1050" b="0" i="0" u="none" strike="noStrike" kern="1200" baseline="0" smtId="4294967295">
                    <a:solidFill>
                      <a:schemeClr val="bg1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/>
            <c:extLst/>
          </c:dLbls>
          <c:cat>
            <c:strRef>
              <c:f>Blad1!$A$2:$A$4</c:f>
              <c:strCache>
                <c:ptCount val="3"/>
                <c:pt idx="0">
                  <c:v>Man</c:v>
                </c:pt>
                <c:pt idx="1">
                  <c:v>Vrouw</c:v>
                </c:pt>
                <c:pt idx="2">
                  <c:v>Anders</c:v>
                </c:pt>
              </c:strCache>
            </c:strRef>
          </c:cat>
          <c:val>
            <c:numRef>
              <c:f>Blad1!$B$2:$B$4</c:f>
              <c:numCache>
                <c:formatCode>General</c:formatCode>
                <c:ptCount val="3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5-406C-A42D-59A8CAD5A4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1000" b="0" i="0" u="none" strike="noStrike" kern="1200" baseline="0" smtId="4294967295">
              <a:solidFill>
                <a:srgbClr val="39364C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algn="ctr" defTabSz="457200" rtl="0" eaLnBrk="1" latinLnBrk="0" hangingPunct="1">
              <a:defRPr lang="nl-NL" sz="1100" b="0" i="0" u="none" strike="noStrike" kern="1200" spc="0" baseline="0" smtClean="0">
                <a:solidFill>
                  <a:srgbClr val="39364C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nl-NL" sz="1100" b="0" i="0" u="none" strike="noStrike" kern="1200" spc="0" baseline="0">
                <a:solidFill>
                  <a:srgbClr val="39364C"/>
                </a:solidFill>
                <a:latin typeface="Avenir Medium" panose="02000603020000020003" pitchFamily="2" charset="0"/>
                <a:ea typeface="+mn-ea"/>
                <a:cs typeface="+mn-cs"/>
              </a:rPr>
              <a:t>Type bezoeker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 marL="0" algn="ctr" defTabSz="457200" rtl="0" eaLnBrk="1" latinLnBrk="0" hangingPunct="1">
            <a:defRPr lang="nl-NL" sz="1100" b="0" i="0" u="none" strike="noStrike" kern="1200" spc="0" baseline="0" smtId="4294967295">
              <a:solidFill>
                <a:srgbClr val="39364C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pie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Type bezoeker</c:v>
                </c:pt>
              </c:strCache>
            </c:strRef>
          </c:tx>
          <c:spPr>
            <a:ln>
              <a:noFill/>
            </a:ln>
          </c:spPr>
          <c:dPt>
            <c:idx val="0"/>
            <c:invertIfNegative val="1"/>
            <c:spPr>
              <a:solidFill>
                <a:schemeClr val="accent1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1-9B4B-4E8B-94AC-D512352B7B9D}"/>
              </c:ext>
            </c:extLst>
          </c:dPt>
          <c:dPt>
            <c:idx val="1"/>
            <c:invertIfNegative val="1"/>
            <c:spPr>
              <a:solidFill>
                <a:srgbClr val="EE7444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3-9B4B-4E8B-94AC-D512352B7B9D}"/>
              </c:ext>
            </c:extLst>
          </c:dPt>
          <c:dPt>
            <c:idx val="2"/>
            <c:invertIfNegative val="1"/>
            <c:spPr>
              <a:solidFill>
                <a:schemeClr val="accent3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5-9B4B-4E8B-94AC-D512352B7B9D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50" b="0" i="0" u="none" strike="noStrike" kern="1200" baseline="0" smtId="4294967295">
                    <a:solidFill>
                      <a:schemeClr val="bg1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/>
            <c:extLst/>
          </c:dLbls>
          <c:cat>
            <c:strRef>
              <c:f>Blad1!$A$2:$A$4</c:f>
              <c:strCache>
                <c:ptCount val="3"/>
                <c:pt idx="0">
                  <c:v>1e kwrt</c:v>
                </c:pt>
                <c:pt idx="1">
                  <c:v>2e kwrt</c:v>
                </c:pt>
                <c:pt idx="2">
                  <c:v>3e kwrt</c:v>
                </c:pt>
              </c:strCache>
            </c:strRef>
          </c:cat>
          <c:val>
            <c:numRef>
              <c:f>Blad1!$B$2:$B$4</c:f>
              <c:numCache>
                <c:formatCode>General</c:formatCode>
                <c:ptCount val="3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B4B-4E8B-94AC-D512352B7B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lang="en-US" sz="1000" b="0" i="0" u="none" strike="noStrike" kern="1200" baseline="0" smtId="4294967295">
              <a:solidFill>
                <a:srgbClr val="39364C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1499719321727753"/>
          <c:w val="1"/>
          <c:h val="0.6338665485382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10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7BA-40F7-8D5A-385DEAE8636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607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BA-40F7-8D5A-385DEAE8636F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867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7BA-40F7-8D5A-385DEAE8636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433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7BA-40F7-8D5A-385DEAE8636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672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7BA-40F7-8D5A-385DEAE8636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356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7BA-40F7-8D5A-385DEAE8636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283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7BA-40F7-8D5A-385DEAE8636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233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7BA-40F7-8D5A-385DEAE8636F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253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7BA-40F7-8D5A-385DEAE8636F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263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7BA-40F7-8D5A-385DEAE8636F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384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7BA-40F7-8D5A-385DEAE8636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50" b="0" i="0" u="none" strike="noStrike" kern="1200" baseline="0" smtId="4294967295">
                    <a:solidFill>
                      <a:srgbClr val="39364C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jun.</c:v>
                </c:pt>
                <c:pt idx="1">
                  <c:v>jul.</c:v>
                </c:pt>
                <c:pt idx="2">
                  <c:v>aug.</c:v>
                </c:pt>
                <c:pt idx="3">
                  <c:v>sep.</c:v>
                </c:pt>
                <c:pt idx="4">
                  <c:v>okt.</c:v>
                </c:pt>
                <c:pt idx="5">
                  <c:v>nov.</c:v>
                </c:pt>
                <c:pt idx="6">
                  <c:v>dec.</c:v>
                </c:pt>
                <c:pt idx="7">
                  <c:v>jan.</c:v>
                </c:pt>
                <c:pt idx="8">
                  <c:v>feb.</c:v>
                </c:pt>
                <c:pt idx="9">
                  <c:v>mrt.</c:v>
                </c:pt>
                <c:pt idx="10">
                  <c:v>apr. '23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</c:v>
                </c:pt>
                <c:pt idx="1">
                  <c:v>607</c:v>
                </c:pt>
                <c:pt idx="2">
                  <c:v>867</c:v>
                </c:pt>
                <c:pt idx="3">
                  <c:v>433</c:v>
                </c:pt>
                <c:pt idx="4">
                  <c:v>672</c:v>
                </c:pt>
                <c:pt idx="5">
                  <c:v>356</c:v>
                </c:pt>
                <c:pt idx="6">
                  <c:v>283</c:v>
                </c:pt>
                <c:pt idx="7">
                  <c:v>233</c:v>
                </c:pt>
                <c:pt idx="8">
                  <c:v>253</c:v>
                </c:pt>
                <c:pt idx="9">
                  <c:v>263</c:v>
                </c:pt>
                <c:pt idx="10">
                  <c:v>384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7BA-40F7-8D5A-385DEAE863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overlap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050" b="0" i="0" u="none" strike="noStrike" kern="1200" baseline="0" smtId="4294967295">
                <a:solidFill>
                  <a:srgbClr val="39364C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General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1499719321727753"/>
          <c:w val="1"/>
          <c:h val="0.6338665485382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10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37A-493F-9DC2-F65E37EC302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607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37A-493F-9DC2-F65E37EC3025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867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37A-493F-9DC2-F65E37EC302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433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37A-493F-9DC2-F65E37EC302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672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37A-493F-9DC2-F65E37EC302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356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37A-493F-9DC2-F65E37EC302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283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37A-493F-9DC2-F65E37EC302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233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37A-493F-9DC2-F65E37EC3025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253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37A-493F-9DC2-F65E37EC3025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263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37A-493F-9DC2-F65E37EC3025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/>
                      <a:t>384</a:t>
                    </a:r>
                  </a:p>
                </c:rich>
              </c:tx>
              <c:numFmt formatCode="#,##0" sourceLinked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50" b="0" i="0" u="none" strike="noStrike" kern="1200" baseline="0" smtId="4294967295">
                      <a:solidFill>
                        <a:srgbClr val="39364C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37A-493F-9DC2-F65E37EC302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50" b="0" i="0" u="none" strike="noStrike" kern="1200" baseline="0" smtId="4294967295">
                    <a:solidFill>
                      <a:srgbClr val="39364C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jun.</c:v>
                </c:pt>
                <c:pt idx="1">
                  <c:v>jul.</c:v>
                </c:pt>
                <c:pt idx="2">
                  <c:v>aug.</c:v>
                </c:pt>
                <c:pt idx="3">
                  <c:v>sep.</c:v>
                </c:pt>
                <c:pt idx="4">
                  <c:v>okt.</c:v>
                </c:pt>
                <c:pt idx="5">
                  <c:v>nov.</c:v>
                </c:pt>
                <c:pt idx="6">
                  <c:v>dec.</c:v>
                </c:pt>
                <c:pt idx="7">
                  <c:v>jan.</c:v>
                </c:pt>
                <c:pt idx="8">
                  <c:v>feb.</c:v>
                </c:pt>
                <c:pt idx="9">
                  <c:v>mrt.</c:v>
                </c:pt>
                <c:pt idx="10">
                  <c:v>apr. '23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</c:v>
                </c:pt>
                <c:pt idx="1">
                  <c:v>607</c:v>
                </c:pt>
                <c:pt idx="2">
                  <c:v>867</c:v>
                </c:pt>
                <c:pt idx="3">
                  <c:v>433</c:v>
                </c:pt>
                <c:pt idx="4">
                  <c:v>672</c:v>
                </c:pt>
                <c:pt idx="5">
                  <c:v>356</c:v>
                </c:pt>
                <c:pt idx="6">
                  <c:v>283</c:v>
                </c:pt>
                <c:pt idx="7">
                  <c:v>233</c:v>
                </c:pt>
                <c:pt idx="8">
                  <c:v>253</c:v>
                </c:pt>
                <c:pt idx="9">
                  <c:v>263</c:v>
                </c:pt>
                <c:pt idx="10">
                  <c:v>384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237A-493F-9DC2-F65E37EC30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overlap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050" b="0" i="0" u="none" strike="noStrike" kern="1200" baseline="0" smtId="4294967295">
                <a:solidFill>
                  <a:srgbClr val="39364C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General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a="http://schemas.openxmlformats.org/drawingml/2006/main" xmlns:r="http://schemas.openxmlformats.org/officeDocument/2006/relationships" xmlns:cs="http://schemas.microsoft.com/office/drawing/2012/chartStyle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a="http://schemas.openxmlformats.org/drawingml/2006/main" xmlns:r="http://schemas.openxmlformats.org/officeDocument/2006/relationships" xmlns:cs="http://schemas.microsoft.com/office/drawing/2012/chartStyle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a="http://schemas.openxmlformats.org/drawingml/2006/main" xmlns:r="http://schemas.openxmlformats.org/officeDocument/2006/relationships" xmlns:cs="http://schemas.microsoft.com/office/drawing/2012/chartStyle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6412717-38F0-4D70-9FE2-A2B9DEB8E5D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9A13867-1984-4670-9A6E-29AA126823A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7125AB4-CD8F-49AE-BEC8-BB0CA8A8EEC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24DEFE4-DB1E-4FB0-AA50-84D84D8BD61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5CF6FC61-CCC2-4590-BDD9-94BDBFECAF3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E7007078-79F5-4FB1-9722-D3654AB370A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DE4C7FB5-F51F-4E06-8AA1-19FC876DCB1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609FA1F9-A7D7-4188-91C8-882DF0255BA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02A81BF-3CA0-4D23-96BB-26046C49495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BA9DF60-3CF7-41AC-B820-132B68F8291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3EAE827-B555-4922-9DBE-891B0FF4E17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76434388"/>
      </p:ext>
    </p:extLst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696318154"/>
      </p:ext>
    </p:extLst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779866988"/>
      </p:ext>
    </p:extLst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135245392"/>
      </p:ext>
    </p:extLst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022092090"/>
      </p:ext>
    </p:extLst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197182812"/>
      </p:ext>
    </p:extLst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316374079"/>
      </p:ext>
    </p:extLst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58393719"/>
      </p:ext>
    </p:extLst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89551791"/>
      </p:ext>
    </p:extLst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101525033"/>
      </p:ext>
    </p:extLst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530232330"/>
      </p:ext>
    </p:extLst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76434388"/>
      </p:ext>
    </p:extLst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696318154"/>
      </p:ext>
    </p:extLst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779866988"/>
      </p:ext>
    </p:extLst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135245392"/>
      </p:ext>
    </p:extLst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022092090"/>
      </p:ext>
    </p:extLst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197182812"/>
      </p:ext>
    </p:extLst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316374079"/>
      </p:ext>
    </p:extLst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58393719"/>
      </p:ext>
    </p:extLst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89551791"/>
      </p:ext>
    </p:extLst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101525033"/>
      </p:ext>
    </p:extLst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530232330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slideLayout" Target="../slideLayouts/slideLayout32.xml" /><Relationship Id="rId11" Type="http://schemas.openxmlformats.org/officeDocument/2006/relationships/slideLayout" Target="../slideLayouts/slideLayout33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4.xml" /><Relationship Id="rId3" Type="http://schemas.openxmlformats.org/officeDocument/2006/relationships/slideLayout" Target="../slideLayouts/slideLayout25.xml" /><Relationship Id="rId4" Type="http://schemas.openxmlformats.org/officeDocument/2006/relationships/slideLayout" Target="../slideLayouts/slideLayout26.xml" /><Relationship Id="rId5" Type="http://schemas.openxmlformats.org/officeDocument/2006/relationships/slideLayout" Target="../slideLayouts/slideLayout27.xml" /><Relationship Id="rId6" Type="http://schemas.openxmlformats.org/officeDocument/2006/relationships/slideLayout" Target="../slideLayouts/slideLayout28.xml" /><Relationship Id="rId7" Type="http://schemas.openxmlformats.org/officeDocument/2006/relationships/slideLayout" Target="../slideLayouts/slideLayout29.xml" /><Relationship Id="rId8" Type="http://schemas.openxmlformats.org/officeDocument/2006/relationships/slideLayout" Target="../slideLayouts/slideLayout30.xml" /><Relationship Id="rId9" Type="http://schemas.openxmlformats.org/officeDocument/2006/relationships/slideLayout" Target="../slideLayouts/slideLayout3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iming/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/>
  <p:timing/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image" Target="../media/image1.png" /><Relationship Id="rId3" Type="http://schemas.openxmlformats.org/officeDocument/2006/relationships/chart" Target="../charts/chart1.xml" /><Relationship Id="rId4" Type="http://schemas.openxmlformats.org/officeDocument/2006/relationships/chart" Target="../charts/chart2.xml" /><Relationship Id="rId5" Type="http://schemas.openxmlformats.org/officeDocument/2006/relationships/chart" Target="../charts/chart3.xml" /><Relationship Id="rId6" Type="http://schemas.openxmlformats.org/officeDocument/2006/relationships/chart" Target="../charts/chart4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2" Type="http://schemas.openxmlformats.org/officeDocument/2006/relationships/image" Target="../media/image1.png" /><Relationship Id="rId3" Type="http://schemas.openxmlformats.org/officeDocument/2006/relationships/chart" Target="../charts/chart5.xml" /><Relationship Id="rId4" Type="http://schemas.openxmlformats.org/officeDocument/2006/relationships/chart" Target="../charts/chart6.xml" /><Relationship Id="rId5" Type="http://schemas.openxmlformats.org/officeDocument/2006/relationships/chart" Target="../charts/chart7.xml" /><Relationship Id="rId6" Type="http://schemas.openxmlformats.org/officeDocument/2006/relationships/chart" Target="../charts/chart8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KLANTTEVREDENHEIDSONDERZOEK PHtitle</a:t>
            </a:r>
            <a:endParaRPr lang="nl-NL" sz="160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34" name="Grafiek 33">
            <a:extLst>
              <a:ext uri="{FF2B5EF4-FFF2-40B4-BE49-F238E27FC236}">
                <a16:creationId xmlns:a16="http://schemas.microsoft.com/office/drawing/2014/main" id="{CFD37752-3551-4498-979D-432EFA58A097}"/>
              </a:ext>
            </a:extLst>
          </p:cNvPr>
          <p:cNvGraphicFramePr/>
          <p:nvPr>
            <p:extLst>
              <p:ext uri="{D42A27DB-BD31-4B8C-83A1-F6EECF244321}">
                <p14:modId val="3012794404"/>
              </p:ext>
            </p:extLst>
          </p:nvPr>
        </p:nvGraphicFramePr>
        <p:xfrm>
          <a:off x="167584" y="1244145"/>
          <a:ext cx="6522833" cy="174624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56935"/>
          <a:stretch>
            <a:fillRect/>
          </a:stretch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sp>
        <p:nvSpPr>
          <p:cNvPr id="49" name="Tekstvak 48">
            <a:extLst>
              <a:ext uri="{FF2B5EF4-FFF2-40B4-BE49-F238E27FC236}">
                <a16:creationId xmlns:a16="http://schemas.microsoft.com/office/drawing/2014/main" id="{06A49808-CB4A-44FC-A047-8DD0AFDD79F7}"/>
              </a:ext>
            </a:extLst>
          </p:cNvPr>
          <p:cNvSpPr txBox="1"/>
          <p:nvPr/>
        </p:nvSpPr>
        <p:spPr>
          <a:xfrm>
            <a:off x="2524750" y="648468"/>
            <a:ext cx="180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srgbClr val="39364C"/>
                </a:solidFill>
                <a:latin typeface="Avenir Medium" panose="02000603020000020003" pitchFamily="2" charset="0"/>
              </a:rPr>
              <a:t>NPS score</a:t>
            </a:r>
          </a:p>
        </p:txBody>
      </p:sp>
      <p:sp>
        <p:nvSpPr>
          <p:cNvPr id="36" name="Tekstvak 35">
            <a:extLst>
              <a:ext uri="{FF2B5EF4-FFF2-40B4-BE49-F238E27FC236}">
                <a16:creationId xmlns:a16="http://schemas.microsoft.com/office/drawing/2014/main" id="{010A5A88-00DE-4947-AA88-4877DA95B4DC}"/>
              </a:ext>
            </a:extLst>
          </p:cNvPr>
          <p:cNvSpPr txBox="1"/>
          <p:nvPr/>
        </p:nvSpPr>
        <p:spPr>
          <a:xfrm>
            <a:off x="-177800" y="9461385"/>
            <a:ext cx="72136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685871" rtl="0" eaLnBrk="1" fontAlgn="ctr" latinLnBrk="0" hangingPunct="1"/>
            <a:r>
              <a:rPr lang="nl-NL" sz="850" u="none" strike="noStrike" kern="1200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Om alle resultaten te zien, bezoek: </a:t>
            </a:r>
            <a:r>
              <a:rPr lang="en-US" sz="850" u="none" strike="noStrike" kern="120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urltothetool</a:t>
            </a:r>
            <a:endParaRPr lang="en-US" sz="850" u="none" strike="noStrike" kern="120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graphicFrame>
        <p:nvGraphicFramePr>
          <p:cNvPr id="33" name="Grafiek 32">
            <a:extLst>
              <a:ext uri="{FF2B5EF4-FFF2-40B4-BE49-F238E27FC236}">
                <a16:creationId xmlns:a16="http://schemas.microsoft.com/office/drawing/2014/main" id="{F309487D-5688-4E8C-984D-53B767E6B0BD}"/>
              </a:ext>
            </a:extLst>
          </p:cNvPr>
          <p:cNvGraphicFramePr/>
          <p:nvPr>
            <p:extLst>
              <p:ext uri="{D42A27DB-BD31-4B8C-83A1-F6EECF244321}">
                <p14:modId val="4229799936"/>
              </p:ext>
            </p:extLst>
          </p:nvPr>
        </p:nvGraphicFramePr>
        <p:xfrm>
          <a:off x="-8" y="4629503"/>
          <a:ext cx="6858008" cy="469736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E5A47743-9CAB-4E3F-8040-1CD79103323D}"/>
              </a:ext>
            </a:extLst>
          </p:cNvPr>
          <p:cNvCxnSpPr/>
          <p:nvPr/>
        </p:nvCxnSpPr>
        <p:spPr>
          <a:xfrm>
            <a:off x="167584" y="3000078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Grafiek 11">
            <a:extLst>
              <a:ext uri="{FF2B5EF4-FFF2-40B4-BE49-F238E27FC236}">
                <a16:creationId xmlns:a16="http://schemas.microsoft.com/office/drawing/2014/main" id="{E2B10EB5-67E0-7AE7-30BF-EB6B22E4FD66}"/>
              </a:ext>
            </a:extLst>
          </p:cNvPr>
          <p:cNvGraphicFramePr/>
          <p:nvPr>
            <p:extLst>
              <p:ext uri="{D42A27DB-BD31-4B8C-83A1-F6EECF244321}">
                <p14:modId val="716364788"/>
              </p:ext>
            </p:extLst>
          </p:nvPr>
        </p:nvGraphicFramePr>
        <p:xfrm>
          <a:off x="573881" y="3376824"/>
          <a:ext cx="5710239" cy="113353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3C30A15D-9C34-0734-D507-CC7C6AA81E24}"/>
              </a:ext>
            </a:extLst>
          </p:cNvPr>
          <p:cNvCxnSpPr/>
          <p:nvPr/>
        </p:nvCxnSpPr>
        <p:spPr>
          <a:xfrm>
            <a:off x="182812" y="4615988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vak 14">
            <a:extLst>
              <a:ext uri="{FF2B5EF4-FFF2-40B4-BE49-F238E27FC236}">
                <a16:creationId xmlns:a16="http://schemas.microsoft.com/office/drawing/2014/main" id="{708B5530-F183-4A8C-F13E-37E95D8AE67E}"/>
              </a:ext>
            </a:extLst>
          </p:cNvPr>
          <p:cNvSpPr txBox="1"/>
          <p:nvPr/>
        </p:nvSpPr>
        <p:spPr>
          <a:xfrm>
            <a:off x="2524741" y="3057646"/>
            <a:ext cx="180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1100">
                <a:solidFill>
                  <a:srgbClr val="39364C"/>
                </a:solidFill>
                <a:latin typeface="Avenir Medium" panose="02000603020000020003" pitchFamily="2" charset="0"/>
              </a:rPr>
              <a:t>Aantal respondenten</a:t>
            </a:r>
            <a:endParaRPr lang="en-US" sz="1100">
              <a:solidFill>
                <a:srgbClr val="39364C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7" name="Grafiek 6">
            <a:extLst>
              <a:ext uri="{FF2B5EF4-FFF2-40B4-BE49-F238E27FC236}">
                <a16:creationId xmlns:a16="http://schemas.microsoft.com/office/drawing/2014/main" id="{9F2C763F-5FA0-532B-1F51-D3FA769FEA67}"/>
              </a:ext>
            </a:extLst>
          </p:cNvPr>
          <p:cNvGraphicFramePr/>
          <p:nvPr>
            <p:extLst>
              <p:ext uri="{D42A27DB-BD31-4B8C-83A1-F6EECF244321}">
                <p14:modId val="833762030"/>
              </p:ext>
            </p:extLst>
          </p:nvPr>
        </p:nvGraphicFramePr>
        <p:xfrm>
          <a:off x="661988" y="1015703"/>
          <a:ext cx="5725604" cy="261611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  <p:extLst>
      <p:ext uri="{BB962C8B-B14F-4D97-AF65-F5344CB8AC3E}">
        <p14:creationId val="2688914278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KLANTTEVREDENHEIDSONDERZOEK PHtitle</a:t>
            </a:r>
            <a:endParaRPr lang="en-US" sz="1600" i="0" u="none" strike="noStrike">
              <a:solidFill>
                <a:schemeClr val="bg1"/>
              </a:solidFill>
              <a:effectLst/>
              <a:latin typeface="Avenir Medium" panose="02000603020000020003" pitchFamily="2" charset="0"/>
            </a:endParaRPr>
          </a:p>
        </p:txBody>
      </p:sp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56935"/>
          <a:stretch>
            <a:fillRect/>
          </a:stretch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sp>
        <p:nvSpPr>
          <p:cNvPr id="36" name="Tekstvak 35">
            <a:extLst>
              <a:ext uri="{FF2B5EF4-FFF2-40B4-BE49-F238E27FC236}">
                <a16:creationId xmlns:a16="http://schemas.microsoft.com/office/drawing/2014/main" id="{010A5A88-00DE-4947-AA88-4877DA95B4DC}"/>
              </a:ext>
            </a:extLst>
          </p:cNvPr>
          <p:cNvSpPr txBox="1"/>
          <p:nvPr/>
        </p:nvSpPr>
        <p:spPr>
          <a:xfrm>
            <a:off x="-177800" y="9461385"/>
            <a:ext cx="72136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685871" rtl="0" eaLnBrk="1" fontAlgn="ctr" latinLnBrk="0" hangingPunct="1"/>
            <a:r>
              <a:rPr lang="nl-NL" sz="850" u="none" strike="noStrike" kern="1200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Om alle resultaten te zien, bezoek: </a:t>
            </a:r>
            <a:r>
              <a:rPr lang="en-US" sz="850" u="none" strike="noStrike" kern="120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urltothetool</a:t>
            </a:r>
            <a:endParaRPr lang="en-US" sz="850" u="none" strike="noStrike" kern="120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301317F0-D724-EE58-89B4-0CC72437AF74}"/>
              </a:ext>
            </a:extLst>
          </p:cNvPr>
          <p:cNvSpPr txBox="1"/>
          <p:nvPr/>
        </p:nvSpPr>
        <p:spPr>
          <a:xfrm>
            <a:off x="198976" y="6652855"/>
            <a:ext cx="6460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374151"/>
              </a:buClr>
            </a:pPr>
            <a:r>
              <a:rPr lang="nl-NL" sz="1100" err="1">
                <a:solidFill>
                  <a:srgbClr val="39364C"/>
                </a:solidFill>
                <a:latin typeface="Avenir Boo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motivationtitle</a:t>
            </a:r>
            <a:endParaRPr lang="nl-NL" sz="1100">
              <a:solidFill>
                <a:srgbClr val="39364C"/>
              </a:solidFill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buClr>
                <a:srgbClr val="374151"/>
              </a:buClr>
            </a:pPr>
            <a:r>
              <a:rPr lang="nl-NL" sz="1100" err="1">
                <a:solidFill>
                  <a:srgbClr val="39364C"/>
                </a:solidFill>
                <a:effectLst/>
                <a:latin typeface="Avenir Boo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motivationcontents</a:t>
            </a:r>
            <a:endParaRPr lang="nl-NL" sz="1100">
              <a:solidFill>
                <a:srgbClr val="39364C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93B370EC-F16C-26C6-E728-D8B968FC050C}"/>
              </a:ext>
            </a:extLst>
          </p:cNvPr>
          <p:cNvSpPr txBox="1"/>
          <p:nvPr/>
        </p:nvSpPr>
        <p:spPr>
          <a:xfrm>
            <a:off x="1185827" y="1990280"/>
            <a:ext cx="1696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>
                <a:solidFill>
                  <a:schemeClr val="bg1"/>
                </a:solidFill>
              </a:rPr>
              <a:t>55%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9FF58C39-DED9-7F4D-7A95-121BFD08E542}"/>
              </a:ext>
            </a:extLst>
          </p:cNvPr>
          <p:cNvSpPr txBox="1"/>
          <p:nvPr/>
        </p:nvSpPr>
        <p:spPr>
          <a:xfrm>
            <a:off x="2073837" y="1697912"/>
            <a:ext cx="1696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>
                <a:solidFill>
                  <a:schemeClr val="bg1"/>
                </a:solidFill>
              </a:rPr>
              <a:t>43%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D601B9CB-86EE-9174-30F7-DBF6EF496344}"/>
              </a:ext>
            </a:extLst>
          </p:cNvPr>
          <p:cNvSpPr txBox="1"/>
          <p:nvPr/>
        </p:nvSpPr>
        <p:spPr>
          <a:xfrm>
            <a:off x="1732926" y="1036014"/>
            <a:ext cx="1696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50">
                <a:solidFill>
                  <a:schemeClr val="bg1"/>
                </a:solidFill>
              </a:rPr>
              <a:t>2%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8CFDB6D7-5194-D9DB-8F55-200C2428AF9D}"/>
              </a:ext>
            </a:extLst>
          </p:cNvPr>
          <p:cNvSpPr txBox="1"/>
          <p:nvPr/>
        </p:nvSpPr>
        <p:spPr>
          <a:xfrm>
            <a:off x="4824140" y="2166826"/>
            <a:ext cx="1696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>
                <a:solidFill>
                  <a:schemeClr val="bg1"/>
                </a:solidFill>
              </a:rPr>
              <a:t>97%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A8D4A13-35C9-B343-F291-DDCD220692AF}"/>
              </a:ext>
            </a:extLst>
          </p:cNvPr>
          <p:cNvSpPr txBox="1"/>
          <p:nvPr/>
        </p:nvSpPr>
        <p:spPr>
          <a:xfrm>
            <a:off x="4758421" y="1065774"/>
            <a:ext cx="1696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50">
                <a:solidFill>
                  <a:schemeClr val="bg1"/>
                </a:solidFill>
              </a:rPr>
              <a:t>2%</a:t>
            </a:r>
          </a:p>
        </p:txBody>
      </p:sp>
      <p:graphicFrame>
        <p:nvGraphicFramePr>
          <p:cNvPr id="17" name="Grafiek 16">
            <a:extLst>
              <a:ext uri="{FF2B5EF4-FFF2-40B4-BE49-F238E27FC236}">
                <a16:creationId xmlns:a16="http://schemas.microsoft.com/office/drawing/2014/main" id="{2142E987-E793-ED1F-EBCD-AD7D0A3A28F8}"/>
              </a:ext>
            </a:extLst>
          </p:cNvPr>
          <p:cNvGraphicFramePr/>
          <p:nvPr>
            <p:extLst>
              <p:ext uri="{D42A27DB-BD31-4B8C-83A1-F6EECF244321}">
                <p14:modId val="1087571929"/>
              </p:ext>
            </p:extLst>
          </p:nvPr>
        </p:nvGraphicFramePr>
        <p:xfrm>
          <a:off x="337795" y="669579"/>
          <a:ext cx="3091196" cy="241486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8" name="Grafiek 17">
            <a:extLst>
              <a:ext uri="{FF2B5EF4-FFF2-40B4-BE49-F238E27FC236}">
                <a16:creationId xmlns:a16="http://schemas.microsoft.com/office/drawing/2014/main" id="{BC47EC23-A340-DE1C-DCFB-8A0F8AA737B4}"/>
              </a:ext>
            </a:extLst>
          </p:cNvPr>
          <p:cNvGraphicFramePr/>
          <p:nvPr>
            <p:extLst>
              <p:ext uri="{D42A27DB-BD31-4B8C-83A1-F6EECF244321}">
                <p14:modId val="353353687"/>
              </p:ext>
            </p:extLst>
          </p:nvPr>
        </p:nvGraphicFramePr>
        <p:xfrm>
          <a:off x="3426626" y="664076"/>
          <a:ext cx="3091197" cy="241486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1" name="Grafiek 20">
            <a:extLst>
              <a:ext uri="{FF2B5EF4-FFF2-40B4-BE49-F238E27FC236}">
                <a16:creationId xmlns:a16="http://schemas.microsoft.com/office/drawing/2014/main" id="{A8F4C482-751B-98E2-0B01-F143D5FD5C3D}"/>
              </a:ext>
            </a:extLst>
          </p:cNvPr>
          <p:cNvGraphicFramePr/>
          <p:nvPr>
            <p:extLst>
              <p:ext uri="{D42A27DB-BD31-4B8C-83A1-F6EECF244321}">
                <p14:modId val="2674342088"/>
              </p:ext>
            </p:extLst>
          </p:nvPr>
        </p:nvGraphicFramePr>
        <p:xfrm>
          <a:off x="337795" y="3594799"/>
          <a:ext cx="6116691" cy="113353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22" name="Grafiek 21">
            <a:extLst>
              <a:ext uri="{FF2B5EF4-FFF2-40B4-BE49-F238E27FC236}">
                <a16:creationId xmlns:a16="http://schemas.microsoft.com/office/drawing/2014/main" id="{6B10477A-4A9F-5531-31C8-2822236712CB}"/>
              </a:ext>
            </a:extLst>
          </p:cNvPr>
          <p:cNvGraphicFramePr/>
          <p:nvPr>
            <p:extLst>
              <p:ext uri="{D42A27DB-BD31-4B8C-83A1-F6EECF244321}">
                <p14:modId val="1346419805"/>
              </p:ext>
            </p:extLst>
          </p:nvPr>
        </p:nvGraphicFramePr>
        <p:xfrm>
          <a:off x="337795" y="5187552"/>
          <a:ext cx="6116691" cy="113353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3" name="Tekstvak 22">
            <a:extLst>
              <a:ext uri="{FF2B5EF4-FFF2-40B4-BE49-F238E27FC236}">
                <a16:creationId xmlns:a16="http://schemas.microsoft.com/office/drawing/2014/main" id="{4C5A3DDD-CC51-5FCC-BC94-4774D438CBE6}"/>
              </a:ext>
            </a:extLst>
          </p:cNvPr>
          <p:cNvSpPr txBox="1"/>
          <p:nvPr/>
        </p:nvSpPr>
        <p:spPr>
          <a:xfrm>
            <a:off x="2524750" y="3247447"/>
            <a:ext cx="180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err="1">
                <a:solidFill>
                  <a:srgbClr val="39364C"/>
                </a:solidFill>
                <a:latin typeface="Avenir Medium" panose="02000603020000020003" pitchFamily="2" charset="0"/>
              </a:rPr>
              <a:t>Leeftijdscategorie</a:t>
            </a:r>
            <a:endParaRPr lang="en-US" sz="1100">
              <a:solidFill>
                <a:srgbClr val="39364C"/>
              </a:solidFill>
              <a:latin typeface="Avenir Medium" panose="02000603020000020003" pitchFamily="2" charset="0"/>
            </a:endParaRP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AA7DB6D6-F360-BB50-6349-386AC5BD4327}"/>
              </a:ext>
            </a:extLst>
          </p:cNvPr>
          <p:cNvSpPr txBox="1"/>
          <p:nvPr/>
        </p:nvSpPr>
        <p:spPr>
          <a:xfrm>
            <a:off x="2524738" y="4843262"/>
            <a:ext cx="180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err="1">
                <a:solidFill>
                  <a:srgbClr val="39364C"/>
                </a:solidFill>
                <a:latin typeface="Avenir Medium" panose="02000603020000020003" pitchFamily="2" charset="0"/>
              </a:rPr>
              <a:t>Samenstelling gezelschap</a:t>
            </a:r>
            <a:endParaRPr lang="en-US" sz="1100">
              <a:solidFill>
                <a:srgbClr val="39364C"/>
              </a:solidFill>
              <a:latin typeface="Avenir Medium" panose="02000603020000020003" pitchFamily="2" charset="0"/>
            </a:endParaRPr>
          </a:p>
        </p:txBody>
      </p:sp>
      <p:cxnSp>
        <p:nvCxnSpPr>
          <p:cNvPr id="25" name="Rechte verbindingslijn 24">
            <a:extLst>
              <a:ext uri="{FF2B5EF4-FFF2-40B4-BE49-F238E27FC236}">
                <a16:creationId xmlns:a16="http://schemas.microsoft.com/office/drawing/2014/main" id="{375219D2-3C9F-53A7-006A-456DCE2545D1}"/>
              </a:ext>
            </a:extLst>
          </p:cNvPr>
          <p:cNvCxnSpPr/>
          <p:nvPr/>
        </p:nvCxnSpPr>
        <p:spPr>
          <a:xfrm>
            <a:off x="167584" y="3120369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26">
            <a:extLst>
              <a:ext uri="{FF2B5EF4-FFF2-40B4-BE49-F238E27FC236}">
                <a16:creationId xmlns:a16="http://schemas.microsoft.com/office/drawing/2014/main" id="{3018C3BC-81D7-6B5E-9C8A-BF851CE812C8}"/>
              </a:ext>
            </a:extLst>
          </p:cNvPr>
          <p:cNvCxnSpPr/>
          <p:nvPr/>
        </p:nvCxnSpPr>
        <p:spPr>
          <a:xfrm>
            <a:off x="182812" y="6531869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kstvak 2">
            <a:extLst>
              <a:ext uri="{FF2B5EF4-FFF2-40B4-BE49-F238E27FC236}">
                <a16:creationId xmlns:a16="http://schemas.microsoft.com/office/drawing/2014/main" id="{4CEC9429-8368-02C8-1BC6-07CB487BADD5}"/>
              </a:ext>
            </a:extLst>
          </p:cNvPr>
          <p:cNvSpPr txBox="1"/>
          <p:nvPr/>
        </p:nvSpPr>
        <p:spPr>
          <a:xfrm>
            <a:off x="196611" y="7979290"/>
            <a:ext cx="6460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374151"/>
              </a:buClr>
            </a:pPr>
            <a:r>
              <a:rPr lang="nl-NL" sz="1100" err="1">
                <a:solidFill>
                  <a:srgbClr val="39364C"/>
                </a:solidFill>
                <a:latin typeface="Avenir Boo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ottctitle</a:t>
            </a:r>
            <a:endParaRPr lang="nl-NL" sz="1100">
              <a:solidFill>
                <a:srgbClr val="39364C"/>
              </a:solidFill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buClr>
                <a:srgbClr val="374151"/>
              </a:buClr>
            </a:pPr>
            <a:r>
              <a:rPr lang="nl-NL" sz="1100" err="1">
                <a:solidFill>
                  <a:srgbClr val="39364C"/>
                </a:solidFill>
                <a:effectLst/>
                <a:latin typeface="Avenir Book" panose="02000503020000020003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ottccontents</a:t>
            </a:r>
            <a:endParaRPr lang="nl-NL" sz="1100">
              <a:solidFill>
                <a:srgbClr val="39364C"/>
              </a:solidFill>
              <a:effectLst/>
              <a:latin typeface="Avenir Book" panose="02000503020000020003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val="2498669074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15.0.140"/>
  <p:tag name="AS_RELEASE_DATE" val="2024.02.14"/>
  <p:tag name="AS_TITLE" val="Aspose.Slides for .NET6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17</Paragraphs>
  <Slides>2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Calibri</vt:lpstr>
      <vt:lpstr>Calibri Light</vt:lpstr>
      <vt:lpstr>Avenir Medium</vt:lpstr>
      <vt:lpstr>Avenir Book</vt:lpstr>
      <vt:lpstr>Avenir Light</vt:lpstr>
      <vt:lpstr>Times New Roman</vt:lpstr>
      <vt:lpstr>Office Theme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2025-11-10T09:30:44.519</cp:lastPrinted>
  <dcterms:created xsi:type="dcterms:W3CDTF">2025-11-10T09:30:44Z</dcterms:created>
  <dcterms:modified xsi:type="dcterms:W3CDTF">2025-11-10T09:30:45Z</dcterms:modified>
</cp:coreProperties>
</file>