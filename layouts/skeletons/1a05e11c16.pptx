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charts/chart9.xml" ContentType="application/vnd.openxmlformats-officedocument.drawingml.chart+xml"/>
  <Override PartName="/ppt/charts/style8.xml" ContentType="application/vnd.ms-office.chartstyle+xml"/>
  <Override PartName="/ppt/charts/colors8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9" r:id="rId2"/>
  </p:sldIdLst>
  <p:sldSz cx="6858000" cy="9698038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A4359"/>
    <a:srgbClr val="FFFFFF"/>
    <a:srgbClr val="39364C"/>
    <a:srgbClr val="B4C7E7"/>
    <a:srgbClr val="DEEBF7"/>
    <a:srgbClr val="5F5F5F"/>
    <a:srgbClr val="B0DFE5"/>
    <a:srgbClr val="415573"/>
    <a:srgbClr val="202332"/>
    <a:srgbClr val="00990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jl, gemiddeld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 horzBarState="maximized">
    <p:restoredLeft sz="9055" autoAdjust="0"/>
    <p:restoredTop sz="94660"/>
  </p:normalViewPr>
  <p:slideViewPr>
    <p:cSldViewPr snapToGrid="0">
      <p:cViewPr varScale="1">
        <p:scale>
          <a:sx n="76" d="100"/>
          <a:sy n="76" d="100"/>
        </p:scale>
        <p:origin x="240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4.xlsx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5.xlsx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7.xlsx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_rels/chart9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8.xlsx"/><Relationship Id="rId2" Type="http://schemas.microsoft.com/office/2011/relationships/chartColorStyle" Target="colors8.xml"/><Relationship Id="rId1" Type="http://schemas.microsoft.com/office/2011/relationships/chartStyle" Target="style8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nl-NL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100" b="0" i="0" u="none" strike="noStrike" kern="1200" spc="0" baseline="0">
                <a:solidFill>
                  <a:srgbClr val="1A4359"/>
                </a:solidFill>
                <a:latin typeface="Avenir Medium" panose="02000603020000020003" pitchFamily="2" charset="0"/>
                <a:ea typeface="+mn-ea"/>
                <a:cs typeface="+mn-cs"/>
              </a:defRPr>
            </a:pPr>
            <a:r>
              <a:rPr lang="en-US" sz="1000" b="0" i="0" u="none" strike="noStrike" kern="1200" spc="0" baseline="0" dirty="0">
                <a:solidFill>
                  <a:srgbClr val="1A4359"/>
                </a:solidFill>
                <a:latin typeface="Avenir Medium" panose="02000603020000020003" pitchFamily="2" charset="0"/>
              </a:rPr>
              <a:t>Response rate</a:t>
            </a:r>
          </a:p>
        </c:rich>
      </c:tx>
      <c:layout>
        <c:manualLayout>
          <c:xMode val="edge"/>
          <c:yMode val="edge"/>
          <c:x val="0.21787094054476253"/>
          <c:y val="0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0" i="0" u="none" strike="noStrike" kern="1200" spc="0" baseline="0">
              <a:solidFill>
                <a:srgbClr val="1A4359"/>
              </a:solidFill>
              <a:latin typeface="Avenir Medium" panose="02000603020000020003" pitchFamily="2" charset="0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0.14274269439488438"/>
          <c:y val="0.20162702970496538"/>
          <c:w val="0.68349768752406614"/>
          <c:h val="0.78072411715781198"/>
        </c:manualLayout>
      </c:layout>
      <c:doughnutChart>
        <c:varyColors val="1"/>
        <c:ser>
          <c:idx val="0"/>
          <c:order val="0"/>
          <c:tx>
            <c:strRef>
              <c:f>Blad1!$B$1</c:f>
              <c:strCache>
                <c:ptCount val="1"/>
                <c:pt idx="0">
                  <c:v>Verkoop</c:v>
                </c:pt>
              </c:strCache>
            </c:strRef>
          </c:tx>
          <c:spPr>
            <a:solidFill>
              <a:schemeClr val="bg2">
                <a:lumMod val="90000"/>
              </a:schemeClr>
            </a:solidFill>
            <a:ln>
              <a:noFill/>
            </a:ln>
          </c:spPr>
          <c:dPt>
            <c:idx val="0"/>
            <c:bubble3D val="0"/>
            <c:spPr>
              <a:solidFill>
                <a:schemeClr val="accent1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E099-4266-9E19-B1A5B2218D0D}"/>
              </c:ext>
            </c:extLst>
          </c:dPt>
          <c:dPt>
            <c:idx val="1"/>
            <c:bubble3D val="0"/>
            <c:spPr>
              <a:solidFill>
                <a:schemeClr val="bg2">
                  <a:lumMod val="90000"/>
                </a:schemeClr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E099-4266-9E19-B1A5B2218D0D}"/>
              </c:ext>
            </c:extLst>
          </c:dPt>
          <c:cat>
            <c:strRef>
              <c:f>Blad1!$A$2:$A$3</c:f>
              <c:strCache>
                <c:ptCount val="2"/>
                <c:pt idx="0">
                  <c:v>1e kwrt</c:v>
                </c:pt>
                <c:pt idx="1">
                  <c:v>2e kwrt</c:v>
                </c:pt>
              </c:strCache>
            </c:strRef>
          </c:cat>
          <c:val>
            <c:numRef>
              <c:f>Blad1!$B$2:$B$3</c:f>
              <c:numCache>
                <c:formatCode>General</c:formatCode>
                <c:ptCount val="2"/>
                <c:pt idx="0">
                  <c:v>0.3</c:v>
                </c:pt>
                <c:pt idx="1">
                  <c:v>0.7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E099-4266-9E19-B1A5B2218D0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85"/>
      </c:doughnutChart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nl-NL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200" b="0" i="0" u="none" strike="noStrike" kern="1200" spc="0" baseline="0">
                <a:solidFill>
                  <a:srgbClr val="1A4359"/>
                </a:solidFill>
                <a:latin typeface="Avenir Medium" panose="02000603020000020003" pitchFamily="2" charset="0"/>
                <a:ea typeface="+mn-ea"/>
                <a:cs typeface="+mn-cs"/>
              </a:defRPr>
            </a:pPr>
            <a:r>
              <a:rPr lang="en-US" sz="1000" b="0" i="0" u="none" strike="noStrike" kern="1200" spc="0" baseline="0" dirty="0">
                <a:solidFill>
                  <a:srgbClr val="1A4359"/>
                </a:solidFill>
                <a:latin typeface="Avenir Medium" panose="02000603020000020003" pitchFamily="2" charset="0"/>
              </a:rPr>
              <a:t>Delivery rate</a:t>
            </a:r>
          </a:p>
        </c:rich>
      </c:tx>
      <c:layout>
        <c:manualLayout>
          <c:xMode val="edge"/>
          <c:yMode val="edge"/>
          <c:x val="0.24877289436337416"/>
          <c:y val="9.1647188632284771E-3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spc="0" baseline="0">
              <a:solidFill>
                <a:srgbClr val="1A4359"/>
              </a:solidFill>
              <a:latin typeface="Avenir Medium" panose="02000603020000020003" pitchFamily="2" charset="0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0.14274269439488438"/>
          <c:y val="0.20162702970496538"/>
          <c:w val="0.68349768752406614"/>
          <c:h val="0.78072411715781198"/>
        </c:manualLayout>
      </c:layout>
      <c:doughnutChart>
        <c:varyColors val="1"/>
        <c:ser>
          <c:idx val="0"/>
          <c:order val="0"/>
          <c:tx>
            <c:strRef>
              <c:f>Blad1!$B$1</c:f>
              <c:strCache>
                <c:ptCount val="1"/>
                <c:pt idx="0">
                  <c:v>Verkoop</c:v>
                </c:pt>
              </c:strCache>
            </c:strRef>
          </c:tx>
          <c:spPr>
            <a:solidFill>
              <a:schemeClr val="bg2">
                <a:lumMod val="90000"/>
              </a:schemeClr>
            </a:solidFill>
            <a:ln>
              <a:noFill/>
            </a:ln>
          </c:spPr>
          <c:dPt>
            <c:idx val="0"/>
            <c:bubble3D val="0"/>
            <c:spPr>
              <a:solidFill>
                <a:schemeClr val="accent1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6B3D-4703-BD27-AFD6549F6F3E}"/>
              </c:ext>
            </c:extLst>
          </c:dPt>
          <c:dPt>
            <c:idx val="1"/>
            <c:bubble3D val="0"/>
            <c:spPr>
              <a:solidFill>
                <a:schemeClr val="bg2">
                  <a:lumMod val="90000"/>
                </a:schemeClr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6B3D-4703-BD27-AFD6549F6F3E}"/>
              </c:ext>
            </c:extLst>
          </c:dPt>
          <c:cat>
            <c:strRef>
              <c:f>Blad1!$A$2:$A$3</c:f>
              <c:strCache>
                <c:ptCount val="2"/>
                <c:pt idx="0">
                  <c:v>1e kwrt</c:v>
                </c:pt>
                <c:pt idx="1">
                  <c:v>2e kwrt</c:v>
                </c:pt>
              </c:strCache>
            </c:strRef>
          </c:cat>
          <c:val>
            <c:numRef>
              <c:f>Blad1!$B$2:$B$3</c:f>
              <c:numCache>
                <c:formatCode>General</c:formatCode>
                <c:ptCount val="2"/>
                <c:pt idx="0">
                  <c:v>0.3</c:v>
                </c:pt>
                <c:pt idx="1">
                  <c:v>0.7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6B3D-4703-BD27-AFD6549F6F3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85"/>
      </c:doughnutChart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nl-NL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"/>
          <c:y val="3.3964552506991819E-2"/>
          <c:w val="1"/>
          <c:h val="0.74658271394530451"/>
        </c:manualLayout>
      </c:layout>
      <c:barChart>
        <c:barDir val="col"/>
        <c:grouping val="percentStacked"/>
        <c:varyColors val="0"/>
        <c:ser>
          <c:idx val="0"/>
          <c:order val="0"/>
          <c:tx>
            <c:strRef>
              <c:f>Blad1!$B$1</c:f>
              <c:strCache>
                <c:ptCount val="1"/>
                <c:pt idx="0">
                  <c:v>Detractors</c:v>
                </c:pt>
              </c:strCache>
            </c:strRef>
          </c:tx>
          <c:spPr>
            <a:solidFill>
              <a:srgbClr val="FF0000"/>
            </a:solidFill>
            <a:ln>
              <a:noFill/>
            </a:ln>
            <a:effectLst/>
          </c:spPr>
          <c:invertIfNegative val="0"/>
          <c:dLbls>
            <c:dLbl>
              <c:idx val="0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11902590536611155"/>
                      <c:h val="0.1764085554997465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0-98B3-4E91-851C-85F1311F0762}"/>
                </c:ext>
              </c:extLst>
            </c:dLbl>
            <c:dLbl>
              <c:idx val="1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11902590536611155"/>
                      <c:h val="0.1764085554997465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1-98B3-4E91-851C-85F1311F0762}"/>
                </c:ext>
              </c:extLst>
            </c:dLbl>
            <c:dLbl>
              <c:idx val="2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11902590536611155"/>
                      <c:h val="0.1764085554997465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2-98B3-4E91-851C-85F1311F0762}"/>
                </c:ext>
              </c:extLst>
            </c:dLbl>
            <c:dLbl>
              <c:idx val="3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11902590536611155"/>
                      <c:h val="0.1764085554997465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3-98B3-4E91-851C-85F1311F0762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overflow" horzOverflow="overflow" vert="horz" wrap="none" lIns="38100" tIns="19050" rIns="38100" bIns="19050" anchor="ctr" anchorCtr="1">
                <a:noAutofit/>
              </a:bodyPr>
              <a:lstStyle/>
              <a:p>
                <a:pPr>
                  <a:defRPr sz="1000" b="0" i="0" u="none" strike="noStrike" kern="1200" baseline="0">
                    <a:solidFill>
                      <a:schemeClr val="bg1"/>
                    </a:solidFill>
                    <a:latin typeface="Avenir Medium" panose="02000603020000020003" pitchFamily="2" charset="0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ect">
                    <a:avLst/>
                  </a:prstGeom>
                  <a:noFill/>
                  <a:ln>
                    <a:noFill/>
                  </a:ln>
                </c15:spPr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Blad1!$A$2:$A$5</c:f>
              <c:strCache>
                <c:ptCount val="4"/>
                <c:pt idx="0">
                  <c:v>Wave 1</c:v>
                </c:pt>
                <c:pt idx="1">
                  <c:v>Wave 2</c:v>
                </c:pt>
                <c:pt idx="2">
                  <c:v>Wave 3</c:v>
                </c:pt>
                <c:pt idx="3">
                  <c:v>Wave 4</c:v>
                </c:pt>
              </c:strCache>
            </c:strRef>
          </c:cat>
          <c:val>
            <c:numRef>
              <c:f>Blad1!$B$2:$B$5</c:f>
              <c:numCache>
                <c:formatCode>General</c:formatCode>
                <c:ptCount val="4"/>
                <c:pt idx="0">
                  <c:v>0.4</c:v>
                </c:pt>
                <c:pt idx="1">
                  <c:v>0.45</c:v>
                </c:pt>
                <c:pt idx="2">
                  <c:v>0.4</c:v>
                </c:pt>
                <c:pt idx="3">
                  <c:v>0.35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98B3-4E91-851C-85F1311F0762}"/>
            </c:ext>
          </c:extLst>
        </c:ser>
        <c:ser>
          <c:idx val="1"/>
          <c:order val="1"/>
          <c:tx>
            <c:strRef>
              <c:f>Blad1!$C$1</c:f>
              <c:strCache>
                <c:ptCount val="1"/>
                <c:pt idx="0">
                  <c:v>Passives</c:v>
                </c:pt>
              </c:strCache>
            </c:strRef>
          </c:tx>
          <c:spPr>
            <a:solidFill>
              <a:srgbClr val="FFC000"/>
            </a:solidFill>
            <a:ln>
              <a:noFill/>
            </a:ln>
            <a:effectLst/>
          </c:spPr>
          <c:invertIfNegative val="0"/>
          <c:dLbls>
            <c:dLbl>
              <c:idx val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11787463305368893"/>
                      <c:h val="0.17470251742166404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5-98B3-4E91-851C-85F1311F0762}"/>
                </c:ext>
              </c:extLst>
            </c:dLbl>
            <c:dLbl>
              <c:idx val="1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11787463305368893"/>
                      <c:h val="0.17470251742166404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6-98B3-4E91-851C-85F1311F0762}"/>
                </c:ext>
              </c:extLst>
            </c:dLbl>
            <c:dLbl>
              <c:idx val="2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11787463305368893"/>
                      <c:h val="0.17470251742166404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7-98B3-4E91-851C-85F1311F0762}"/>
                </c:ext>
              </c:extLst>
            </c:dLbl>
            <c:dLbl>
              <c:idx val="3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11787463305368893"/>
                      <c:h val="0.17470251742166404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8-98B3-4E91-851C-85F1311F0762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overflow" horzOverflow="overflow" vert="horz" wrap="none" lIns="38100" tIns="19050" rIns="38100" bIns="19050" anchor="ctr" anchorCtr="1">
                <a:noAutofit/>
              </a:bodyPr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venir Medium" panose="02000603020000020003" pitchFamily="2" charset="0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ect">
                    <a:avLst/>
                  </a:prstGeom>
                  <a:noFill/>
                  <a:ln>
                    <a:noFill/>
                  </a:ln>
                </c15:spPr>
                <c15:showLeaderLines val="0"/>
              </c:ext>
            </c:extLst>
          </c:dLbls>
          <c:cat>
            <c:strRef>
              <c:f>Blad1!$A$2:$A$5</c:f>
              <c:strCache>
                <c:ptCount val="4"/>
                <c:pt idx="0">
                  <c:v>Wave 1</c:v>
                </c:pt>
                <c:pt idx="1">
                  <c:v>Wave 2</c:v>
                </c:pt>
                <c:pt idx="2">
                  <c:v>Wave 3</c:v>
                </c:pt>
                <c:pt idx="3">
                  <c:v>Wave 4</c:v>
                </c:pt>
              </c:strCache>
            </c:strRef>
          </c:cat>
          <c:val>
            <c:numRef>
              <c:f>Blad1!$C$2:$C$5</c:f>
              <c:numCache>
                <c:formatCode>General</c:formatCode>
                <c:ptCount val="4"/>
                <c:pt idx="0">
                  <c:v>0.45</c:v>
                </c:pt>
                <c:pt idx="1">
                  <c:v>0.2</c:v>
                </c:pt>
                <c:pt idx="2">
                  <c:v>0.15</c:v>
                </c:pt>
                <c:pt idx="3">
                  <c:v>0.2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9-98B3-4E91-851C-85F1311F0762}"/>
            </c:ext>
          </c:extLst>
        </c:ser>
        <c:ser>
          <c:idx val="2"/>
          <c:order val="2"/>
          <c:tx>
            <c:strRef>
              <c:f>Blad1!$D$1</c:f>
              <c:strCache>
                <c:ptCount val="1"/>
                <c:pt idx="0">
                  <c:v>Promoters</c:v>
                </c:pt>
              </c:strCache>
            </c:strRef>
          </c:tx>
          <c:spPr>
            <a:solidFill>
              <a:srgbClr val="009902"/>
            </a:solidFill>
            <a:ln>
              <a:noFill/>
            </a:ln>
            <a:effectLst/>
          </c:spPr>
          <c:invertIfNegative val="0"/>
          <c:dLbls>
            <c:dLbl>
              <c:idx val="0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11787463305368893"/>
                      <c:h val="0.17470251742166404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A-98B3-4E91-851C-85F1311F0762}"/>
                </c:ext>
              </c:extLst>
            </c:dLbl>
            <c:dLbl>
              <c:idx val="1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11787463305368893"/>
                      <c:h val="0.17470251742166404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B-98B3-4E91-851C-85F1311F0762}"/>
                </c:ext>
              </c:extLst>
            </c:dLbl>
            <c:dLbl>
              <c:idx val="2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11787463305368893"/>
                      <c:h val="0.17470251742166404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C-98B3-4E91-851C-85F1311F0762}"/>
                </c:ext>
              </c:extLst>
            </c:dLbl>
            <c:dLbl>
              <c:idx val="3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11787463305368893"/>
                      <c:h val="0.17470251742166404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D-98B3-4E91-851C-85F1311F0762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none" lIns="38100" tIns="19050" rIns="38100" bIns="19050" anchor="ctr" anchorCtr="1">
                <a:spAutoFit/>
              </a:bodyPr>
              <a:lstStyle/>
              <a:p>
                <a:pPr>
                  <a:defRPr sz="1000" b="0" i="0" u="none" strike="noStrike" kern="1200" baseline="0">
                    <a:solidFill>
                      <a:schemeClr val="bg1"/>
                    </a:solidFill>
                    <a:latin typeface="Avenir Medium" panose="02000603020000020003" pitchFamily="2" charset="0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Blad1!$A$2:$A$5</c:f>
              <c:strCache>
                <c:ptCount val="4"/>
                <c:pt idx="0">
                  <c:v>Wave 1</c:v>
                </c:pt>
                <c:pt idx="1">
                  <c:v>Wave 2</c:v>
                </c:pt>
                <c:pt idx="2">
                  <c:v>Wave 3</c:v>
                </c:pt>
                <c:pt idx="3">
                  <c:v>Wave 4</c:v>
                </c:pt>
              </c:strCache>
            </c:strRef>
          </c:cat>
          <c:val>
            <c:numRef>
              <c:f>Blad1!$D$2:$D$5</c:f>
              <c:numCache>
                <c:formatCode>General</c:formatCode>
                <c:ptCount val="4"/>
                <c:pt idx="0">
                  <c:v>0.15</c:v>
                </c:pt>
                <c:pt idx="1">
                  <c:v>0.35</c:v>
                </c:pt>
                <c:pt idx="2">
                  <c:v>0.45</c:v>
                </c:pt>
                <c:pt idx="3">
                  <c:v>0.45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E-98B3-4E91-851C-85F1311F0762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00"/>
        <c:overlap val="100"/>
        <c:axId val="1155526192"/>
        <c:axId val="1155519120"/>
      </c:barChart>
      <c:catAx>
        <c:axId val="115552619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noFill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rgbClr val="1A4359"/>
                </a:solidFill>
                <a:latin typeface="Avenir Light" panose="020B0402020203020204" pitchFamily="34" charset="0"/>
                <a:ea typeface="+mn-ea"/>
                <a:cs typeface="+mn-cs"/>
              </a:defRPr>
            </a:pPr>
            <a:endParaRPr lang="en-US"/>
          </a:p>
        </c:txPr>
        <c:crossAx val="1155519120"/>
        <c:crosses val="autoZero"/>
        <c:auto val="1"/>
        <c:lblAlgn val="ctr"/>
        <c:lblOffset val="100"/>
        <c:noMultiLvlLbl val="0"/>
      </c:catAx>
      <c:valAx>
        <c:axId val="1155519120"/>
        <c:scaling>
          <c:orientation val="minMax"/>
        </c:scaling>
        <c:delete val="1"/>
        <c:axPos val="l"/>
        <c:majorGridlines>
          <c:spPr>
            <a:ln w="9525" cap="flat" cmpd="sng" algn="ctr">
              <a:noFill/>
              <a:round/>
            </a:ln>
            <a:effectLst/>
          </c:spPr>
        </c:majorGridlines>
        <c:numFmt formatCode="0%" sourceLinked="1"/>
        <c:majorTickMark val="none"/>
        <c:minorTickMark val="none"/>
        <c:tickLblPos val="nextTo"/>
        <c:crossAx val="115552619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nl-NL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"/>
          <c:y val="0.15599038822289318"/>
          <c:w val="1"/>
          <c:h val="0.68801922355421363"/>
        </c:manualLayout>
      </c:layout>
      <c:lineChart>
        <c:grouping val="standard"/>
        <c:varyColors val="0"/>
        <c:ser>
          <c:idx val="0"/>
          <c:order val="0"/>
          <c:tx>
            <c:strRef>
              <c:f>Blad1!$B$1</c:f>
              <c:strCache>
                <c:ptCount val="1"/>
                <c:pt idx="0">
                  <c:v>NPS</c:v>
                </c:pt>
              </c:strCache>
            </c:strRef>
          </c:tx>
          <c:spPr>
            <a:ln w="28575" cap="rnd">
              <a:noFill/>
              <a:round/>
            </a:ln>
            <a:effectLst/>
          </c:spPr>
          <c:marker>
            <c:symbol val="none"/>
          </c:marker>
          <c:cat>
            <c:strRef>
              <c:f>Blad1!$A$2:$A$5</c:f>
              <c:strCache>
                <c:ptCount val="4"/>
                <c:pt idx="0">
                  <c:v>-25</c:v>
                </c:pt>
                <c:pt idx="1">
                  <c:v>-10 (+15)</c:v>
                </c:pt>
                <c:pt idx="2">
                  <c:v>5 (+15)</c:v>
                </c:pt>
                <c:pt idx="3">
                  <c:v>10 (+5)</c:v>
                </c:pt>
              </c:strCache>
            </c:strRef>
          </c:cat>
          <c:val>
            <c:numRef>
              <c:f>Blad1!$B$2:$B$5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BF91-440E-9104-58F5177104D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164478464"/>
        <c:axId val="1164478048"/>
      </c:lineChart>
      <c:catAx>
        <c:axId val="116447846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high"/>
        <c:spPr>
          <a:noFill/>
          <a:ln w="9525" cap="flat" cmpd="sng" algn="ctr">
            <a:noFill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0" i="0" u="none" strike="noStrike" kern="1200" baseline="0">
                <a:solidFill>
                  <a:srgbClr val="1A4359"/>
                </a:solidFill>
                <a:latin typeface="Avenir Medium" panose="02000603020000020003" pitchFamily="2" charset="0"/>
                <a:ea typeface="+mn-ea"/>
                <a:cs typeface="+mn-cs"/>
              </a:defRPr>
            </a:pPr>
            <a:endParaRPr lang="en-US"/>
          </a:p>
        </c:txPr>
        <c:crossAx val="1164478048"/>
        <c:crosses val="autoZero"/>
        <c:auto val="0"/>
        <c:lblAlgn val="ctr"/>
        <c:lblOffset val="100"/>
        <c:noMultiLvlLbl val="0"/>
      </c:catAx>
      <c:valAx>
        <c:axId val="1164478048"/>
        <c:scaling>
          <c:orientation val="minMax"/>
        </c:scaling>
        <c:delete val="1"/>
        <c:axPos val="l"/>
        <c:numFmt formatCode="General" sourceLinked="1"/>
        <c:majorTickMark val="out"/>
        <c:minorTickMark val="none"/>
        <c:tickLblPos val="nextTo"/>
        <c:crossAx val="116447846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>
          <a:latin typeface="Arial Nova" panose="020B0504020202020204" pitchFamily="34" charset="0"/>
        </a:defRPr>
      </a:pPr>
      <a:endParaRPr lang="en-US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nl-NL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"/>
          <c:y val="8.9035000305860458E-3"/>
          <c:w val="1"/>
          <c:h val="0.99109649996941396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Blad1!$B$1</c:f>
              <c:strCache>
                <c:ptCount val="1"/>
                <c:pt idx="0">
                  <c:v>Response rate</c:v>
                </c:pt>
              </c:strCache>
            </c:strRef>
          </c:tx>
          <c:spPr>
            <a:solidFill>
              <a:srgbClr val="009902"/>
            </a:solidFill>
            <a:ln>
              <a:noFill/>
            </a:ln>
            <a:effectLst/>
          </c:spPr>
          <c:invertIfNegative val="0"/>
          <c:dLbls>
            <c:dLbl>
              <c:idx val="0"/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11902590536611155"/>
                      <c:h val="0.1764085554997465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0-EA9F-4DD7-A5C1-8D259A7175C1}"/>
                </c:ext>
              </c:extLst>
            </c:dLbl>
            <c:dLbl>
              <c:idx val="1"/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11902590536611155"/>
                      <c:h val="0.1764085554997465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1-EA9F-4DD7-A5C1-8D259A7175C1}"/>
                </c:ext>
              </c:extLst>
            </c:dLbl>
            <c:dLbl>
              <c:idx val="2"/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11902590536611155"/>
                      <c:h val="0.1764085554997465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2-EA9F-4DD7-A5C1-8D259A7175C1}"/>
                </c:ext>
              </c:extLst>
            </c:dLbl>
            <c:dLbl>
              <c:idx val="3"/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11902590536611155"/>
                      <c:h val="0.1764085554997465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3-EA9F-4DD7-A5C1-8D259A7175C1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overflow" horzOverflow="overflow" vert="horz" wrap="none" lIns="38100" tIns="19050" rIns="38100" bIns="19050" anchor="ctr" anchorCtr="1">
                <a:no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bg1"/>
                    </a:solidFill>
                    <a:latin typeface="Avenir Medium" panose="02000603020000020003" pitchFamily="2" charset="0"/>
                    <a:ea typeface="+mn-ea"/>
                    <a:cs typeface="+mn-cs"/>
                  </a:defRPr>
                </a:pPr>
                <a:endParaRPr lang="en-US"/>
              </a:p>
            </c:txPr>
            <c:dLblPos val="inBase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ect">
                    <a:avLst/>
                  </a:prstGeom>
                  <a:noFill/>
                  <a:ln>
                    <a:noFill/>
                  </a:ln>
                </c15:spPr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Blad1!$A$2:$A$5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Blad1!$B$2:$B$5</c:f>
              <c:numCache>
                <c:formatCode>General</c:formatCode>
                <c:ptCount val="4"/>
                <c:pt idx="0">
                  <c:v>0.4</c:v>
                </c:pt>
                <c:pt idx="1">
                  <c:v>0.45</c:v>
                </c:pt>
                <c:pt idx="2">
                  <c:v>0.4</c:v>
                </c:pt>
                <c:pt idx="3">
                  <c:v>0.35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EA9F-4DD7-A5C1-8D259A7175C1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0"/>
        <c:axId val="1155526192"/>
        <c:axId val="1155519120"/>
      </c:barChart>
      <c:catAx>
        <c:axId val="115552619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noFill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rgbClr val="1A4359"/>
                </a:solidFill>
                <a:latin typeface="Avenir Light" panose="020B0402020203020204" pitchFamily="34" charset="0"/>
                <a:ea typeface="+mn-ea"/>
                <a:cs typeface="+mn-cs"/>
              </a:defRPr>
            </a:pPr>
            <a:endParaRPr lang="en-US"/>
          </a:p>
        </c:txPr>
        <c:crossAx val="1155519120"/>
        <c:crosses val="autoZero"/>
        <c:auto val="1"/>
        <c:lblAlgn val="ctr"/>
        <c:lblOffset val="100"/>
        <c:noMultiLvlLbl val="0"/>
      </c:catAx>
      <c:valAx>
        <c:axId val="1155519120"/>
        <c:scaling>
          <c:orientation val="minMax"/>
        </c:scaling>
        <c:delete val="1"/>
        <c:axPos val="l"/>
        <c:majorGridlines>
          <c:spPr>
            <a:ln w="9525" cap="flat" cmpd="sng" algn="ctr">
              <a:noFill/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crossAx val="115552619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nl-NL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"/>
          <c:y val="8.9035000305860458E-3"/>
          <c:w val="1"/>
          <c:h val="0.99109649996941396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Blad1!$B$1</c:f>
              <c:strCache>
                <c:ptCount val="1"/>
                <c:pt idx="0">
                  <c:v>Response rate</c:v>
                </c:pt>
              </c:strCache>
            </c:strRef>
          </c:tx>
          <c:spPr>
            <a:solidFill>
              <a:srgbClr val="009902"/>
            </a:solidFill>
            <a:ln>
              <a:noFill/>
            </a:ln>
            <a:effectLst/>
          </c:spPr>
          <c:invertIfNegative val="0"/>
          <c:dLbls>
            <c:dLbl>
              <c:idx val="0"/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11902590536611155"/>
                      <c:h val="0.1764085554997465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0-31DD-45F3-9814-5E16A728293D}"/>
                </c:ext>
              </c:extLst>
            </c:dLbl>
            <c:dLbl>
              <c:idx val="1"/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11902590536611155"/>
                      <c:h val="0.1764085554997465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1-31DD-45F3-9814-5E16A728293D}"/>
                </c:ext>
              </c:extLst>
            </c:dLbl>
            <c:dLbl>
              <c:idx val="2"/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11902590536611155"/>
                      <c:h val="0.1764085554997465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2-31DD-45F3-9814-5E16A728293D}"/>
                </c:ext>
              </c:extLst>
            </c:dLbl>
            <c:dLbl>
              <c:idx val="3"/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11902590536611155"/>
                      <c:h val="0.1764085554997465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3-31DD-45F3-9814-5E16A728293D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overflow" horzOverflow="overflow" vert="horz" wrap="none" lIns="38100" tIns="19050" rIns="38100" bIns="19050" anchor="ctr" anchorCtr="1">
                <a:no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bg1"/>
                    </a:solidFill>
                    <a:latin typeface="Avenir Medium" panose="02000603020000020003" pitchFamily="2" charset="0"/>
                    <a:ea typeface="+mn-ea"/>
                    <a:cs typeface="+mn-cs"/>
                  </a:defRPr>
                </a:pPr>
                <a:endParaRPr lang="en-US"/>
              </a:p>
            </c:txPr>
            <c:dLblPos val="inBase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ect">
                    <a:avLst/>
                  </a:prstGeom>
                  <a:noFill/>
                  <a:ln>
                    <a:noFill/>
                  </a:ln>
                </c15:spPr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Blad1!$A$2:$A$5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Blad1!$B$2:$B$5</c:f>
              <c:numCache>
                <c:formatCode>General</c:formatCode>
                <c:ptCount val="4"/>
                <c:pt idx="0">
                  <c:v>0.4</c:v>
                </c:pt>
                <c:pt idx="1">
                  <c:v>0.45</c:v>
                </c:pt>
                <c:pt idx="2">
                  <c:v>0.4</c:v>
                </c:pt>
                <c:pt idx="3">
                  <c:v>0.35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31DD-45F3-9814-5E16A728293D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0"/>
        <c:axId val="1155526192"/>
        <c:axId val="1155519120"/>
      </c:barChart>
      <c:catAx>
        <c:axId val="115552619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noFill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rgbClr val="1A4359"/>
                </a:solidFill>
                <a:latin typeface="Avenir Light" panose="020B0402020203020204" pitchFamily="34" charset="0"/>
                <a:ea typeface="+mn-ea"/>
                <a:cs typeface="+mn-cs"/>
              </a:defRPr>
            </a:pPr>
            <a:endParaRPr lang="en-US"/>
          </a:p>
        </c:txPr>
        <c:crossAx val="1155519120"/>
        <c:crosses val="autoZero"/>
        <c:auto val="1"/>
        <c:lblAlgn val="ctr"/>
        <c:lblOffset val="100"/>
        <c:noMultiLvlLbl val="0"/>
      </c:catAx>
      <c:valAx>
        <c:axId val="1155519120"/>
        <c:scaling>
          <c:orientation val="minMax"/>
        </c:scaling>
        <c:delete val="1"/>
        <c:axPos val="l"/>
        <c:majorGridlines>
          <c:spPr>
            <a:ln w="9525" cap="flat" cmpd="sng" algn="ctr">
              <a:noFill/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crossAx val="115552619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nl-NL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2.03703466079363E-2"/>
          <c:y val="2.3872989173038036E-2"/>
          <c:w val="0.95925930678412741"/>
          <c:h val="0.96115195179634971"/>
        </c:manualLayout>
      </c:layout>
      <c:barChart>
        <c:barDir val="bar"/>
        <c:grouping val="percentStacked"/>
        <c:varyColors val="0"/>
        <c:ser>
          <c:idx val="0"/>
          <c:order val="0"/>
          <c:tx>
            <c:strRef>
              <c:f>Blad1!$B$1</c:f>
              <c:strCache>
                <c:ptCount val="1"/>
                <c:pt idx="0">
                  <c:v>Statements</c:v>
                </c:pt>
              </c:strCache>
            </c:strRef>
          </c:tx>
          <c:spPr>
            <a:noFill/>
            <a:ln>
              <a:noFill/>
            </a:ln>
            <a:effectLst/>
          </c:spPr>
          <c:invertIfNegative val="0"/>
          <c:dPt>
            <c:idx val="1"/>
            <c:invertIfNegative val="0"/>
            <c:bubble3D val="0"/>
            <c:spPr>
              <a:solidFill>
                <a:schemeClr val="bg1">
                  <a:lumMod val="85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0B11-45E6-ACAD-AB8A5D25DE00}"/>
              </c:ext>
            </c:extLst>
          </c:dPt>
          <c:dPt>
            <c:idx val="2"/>
            <c:invertIfNegative val="0"/>
            <c:bubble3D val="0"/>
            <c:spPr>
              <a:solidFill>
                <a:srgbClr val="92D05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0B11-45E6-ACAD-AB8A5D25DE00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non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rgbClr val="1A4359"/>
                    </a:solidFill>
                    <a:latin typeface="Avenir Medium" panose="02000603020000020003" pitchFamily="2" charset="0"/>
                    <a:ea typeface="+mn-ea"/>
                    <a:cs typeface="+mn-cs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ect">
                    <a:avLst/>
                  </a:prstGeom>
                </c15:spPr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Blad1!$A$2:$A$21</c:f>
              <c:strCache>
                <c:ptCount val="20"/>
                <c:pt idx="0">
                  <c:v>Easy do to business</c:v>
                </c:pt>
                <c:pt idx="1">
                  <c:v>Easy do to business</c:v>
                </c:pt>
                <c:pt idx="2">
                  <c:v>Easy do to business</c:v>
                </c:pt>
                <c:pt idx="3">
                  <c:v>Easy do to business</c:v>
                </c:pt>
                <c:pt idx="4">
                  <c:v>Easy do to business</c:v>
                </c:pt>
                <c:pt idx="5">
                  <c:v>Easy do to business</c:v>
                </c:pt>
                <c:pt idx="6">
                  <c:v>Easy do to business</c:v>
                </c:pt>
                <c:pt idx="7">
                  <c:v>Easy do to business</c:v>
                </c:pt>
                <c:pt idx="8">
                  <c:v>Easy do to business</c:v>
                </c:pt>
                <c:pt idx="9">
                  <c:v>Easy do to business</c:v>
                </c:pt>
                <c:pt idx="10">
                  <c:v>Easy do to business</c:v>
                </c:pt>
                <c:pt idx="11">
                  <c:v>Easy do to business</c:v>
                </c:pt>
                <c:pt idx="12">
                  <c:v>Easy do to business</c:v>
                </c:pt>
                <c:pt idx="13">
                  <c:v>Easy do to business</c:v>
                </c:pt>
                <c:pt idx="14">
                  <c:v>Easy do to business</c:v>
                </c:pt>
                <c:pt idx="15">
                  <c:v>Easy do to business</c:v>
                </c:pt>
                <c:pt idx="16">
                  <c:v>Easy do to business</c:v>
                </c:pt>
                <c:pt idx="17">
                  <c:v>Easy do to business</c:v>
                </c:pt>
                <c:pt idx="18">
                  <c:v>Easy do to business</c:v>
                </c:pt>
                <c:pt idx="19">
                  <c:v>Easy do to business</c:v>
                </c:pt>
              </c:strCache>
            </c:strRef>
          </c:cat>
          <c:val>
            <c:numRef>
              <c:f>Blad1!$B$2:$B$21</c:f>
              <c:numCache>
                <c:formatCode>General</c:formatCode>
                <c:ptCount val="20"/>
                <c:pt idx="0">
                  <c:v>2.5</c:v>
                </c:pt>
                <c:pt idx="1">
                  <c:v>2.5</c:v>
                </c:pt>
                <c:pt idx="2">
                  <c:v>2.5</c:v>
                </c:pt>
                <c:pt idx="3">
                  <c:v>2.5</c:v>
                </c:pt>
                <c:pt idx="4">
                  <c:v>2.5</c:v>
                </c:pt>
                <c:pt idx="5">
                  <c:v>2.5</c:v>
                </c:pt>
                <c:pt idx="6">
                  <c:v>2.5</c:v>
                </c:pt>
                <c:pt idx="7">
                  <c:v>2.5</c:v>
                </c:pt>
                <c:pt idx="8">
                  <c:v>2.5</c:v>
                </c:pt>
                <c:pt idx="9">
                  <c:v>2.5</c:v>
                </c:pt>
                <c:pt idx="10">
                  <c:v>2.5</c:v>
                </c:pt>
                <c:pt idx="11">
                  <c:v>2.5</c:v>
                </c:pt>
                <c:pt idx="12">
                  <c:v>2.5</c:v>
                </c:pt>
                <c:pt idx="13">
                  <c:v>2.5</c:v>
                </c:pt>
                <c:pt idx="14">
                  <c:v>2.5</c:v>
                </c:pt>
                <c:pt idx="15">
                  <c:v>2.5</c:v>
                </c:pt>
                <c:pt idx="16">
                  <c:v>2.5</c:v>
                </c:pt>
                <c:pt idx="17">
                  <c:v>2.5</c:v>
                </c:pt>
                <c:pt idx="18">
                  <c:v>2.5</c:v>
                </c:pt>
                <c:pt idx="19">
                  <c:v>2.5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0B11-45E6-ACAD-AB8A5D25DE00}"/>
            </c:ext>
          </c:extLst>
        </c:ser>
        <c:ser>
          <c:idx val="1"/>
          <c:order val="1"/>
          <c:tx>
            <c:strRef>
              <c:f>Blad1!$C$1</c:f>
              <c:strCache>
                <c:ptCount val="1"/>
                <c:pt idx="0">
                  <c:v>Wave 1</c:v>
                </c:pt>
              </c:strCache>
            </c:strRef>
          </c:tx>
          <c:spPr>
            <a:noFill/>
            <a:ln>
              <a:noFill/>
            </a:ln>
            <a:effectLst/>
          </c:spPr>
          <c:invertIfNegative val="0"/>
          <c:dPt>
            <c:idx val="1"/>
            <c:invertIfNegative val="0"/>
            <c:bubble3D val="0"/>
            <c:spPr>
              <a:solidFill>
                <a:schemeClr val="bg1">
                  <a:lumMod val="75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6-0B11-45E6-ACAD-AB8A5D25DE00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0" i="0" u="none" strike="noStrike" kern="1200" baseline="0">
                    <a:solidFill>
                      <a:srgbClr val="1A4359"/>
                    </a:solidFill>
                    <a:latin typeface="Avenir Medium" panose="02000603020000020003" pitchFamily="2" charset="0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Blad1!$A$2:$A$21</c:f>
              <c:strCache>
                <c:ptCount val="20"/>
                <c:pt idx="0">
                  <c:v>Easy do to business</c:v>
                </c:pt>
                <c:pt idx="1">
                  <c:v>Easy do to business</c:v>
                </c:pt>
                <c:pt idx="2">
                  <c:v>Easy do to business</c:v>
                </c:pt>
                <c:pt idx="3">
                  <c:v>Easy do to business</c:v>
                </c:pt>
                <c:pt idx="4">
                  <c:v>Easy do to business</c:v>
                </c:pt>
                <c:pt idx="5">
                  <c:v>Easy do to business</c:v>
                </c:pt>
                <c:pt idx="6">
                  <c:v>Easy do to business</c:v>
                </c:pt>
                <c:pt idx="7">
                  <c:v>Easy do to business</c:v>
                </c:pt>
                <c:pt idx="8">
                  <c:v>Easy do to business</c:v>
                </c:pt>
                <c:pt idx="9">
                  <c:v>Easy do to business</c:v>
                </c:pt>
                <c:pt idx="10">
                  <c:v>Easy do to business</c:v>
                </c:pt>
                <c:pt idx="11">
                  <c:v>Easy do to business</c:v>
                </c:pt>
                <c:pt idx="12">
                  <c:v>Easy do to business</c:v>
                </c:pt>
                <c:pt idx="13">
                  <c:v>Easy do to business</c:v>
                </c:pt>
                <c:pt idx="14">
                  <c:v>Easy do to business</c:v>
                </c:pt>
                <c:pt idx="15">
                  <c:v>Easy do to business</c:v>
                </c:pt>
                <c:pt idx="16">
                  <c:v>Easy do to business</c:v>
                </c:pt>
                <c:pt idx="17">
                  <c:v>Easy do to business</c:v>
                </c:pt>
                <c:pt idx="18">
                  <c:v>Easy do to business</c:v>
                </c:pt>
                <c:pt idx="19">
                  <c:v>Easy do to business</c:v>
                </c:pt>
              </c:strCache>
            </c:strRef>
          </c:cat>
          <c:val>
            <c:numRef>
              <c:f>Blad1!$C$2:$C$21</c:f>
              <c:numCache>
                <c:formatCode>General</c:formatCode>
                <c:ptCount val="20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  <c:pt idx="4">
                  <c:v>1</c:v>
                </c:pt>
                <c:pt idx="5">
                  <c:v>1</c:v>
                </c:pt>
                <c:pt idx="6">
                  <c:v>1</c:v>
                </c:pt>
                <c:pt idx="7">
                  <c:v>1</c:v>
                </c:pt>
                <c:pt idx="8">
                  <c:v>1</c:v>
                </c:pt>
                <c:pt idx="9">
                  <c:v>1</c:v>
                </c:pt>
                <c:pt idx="10">
                  <c:v>1</c:v>
                </c:pt>
                <c:pt idx="11">
                  <c:v>1</c:v>
                </c:pt>
                <c:pt idx="12">
                  <c:v>1</c:v>
                </c:pt>
                <c:pt idx="13">
                  <c:v>1</c:v>
                </c:pt>
                <c:pt idx="14">
                  <c:v>1</c:v>
                </c:pt>
                <c:pt idx="15">
                  <c:v>1</c:v>
                </c:pt>
                <c:pt idx="16">
                  <c:v>1</c:v>
                </c:pt>
                <c:pt idx="17">
                  <c:v>1</c:v>
                </c:pt>
                <c:pt idx="18">
                  <c:v>1</c:v>
                </c:pt>
                <c:pt idx="19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7-0B11-45E6-ACAD-AB8A5D25DE00}"/>
            </c:ext>
          </c:extLst>
        </c:ser>
        <c:ser>
          <c:idx val="2"/>
          <c:order val="2"/>
          <c:tx>
            <c:strRef>
              <c:f>Blad1!$D$1</c:f>
              <c:strCache>
                <c:ptCount val="1"/>
                <c:pt idx="0">
                  <c:v>Wave 2</c:v>
                </c:pt>
              </c:strCache>
            </c:strRef>
          </c:tx>
          <c:spPr>
            <a:noFill/>
            <a:ln>
              <a:noFill/>
            </a:ln>
            <a:effectLst/>
          </c:spPr>
          <c:invertIfNegative val="0"/>
          <c:dPt>
            <c:idx val="1"/>
            <c:invertIfNegative val="0"/>
            <c:bubble3D val="0"/>
            <c:spPr>
              <a:solidFill>
                <a:schemeClr val="bg1">
                  <a:lumMod val="75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9-0B11-45E6-ACAD-AB8A5D25DE00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0" i="0" u="none" strike="noStrike" kern="1200" baseline="0">
                    <a:solidFill>
                      <a:srgbClr val="1A4359"/>
                    </a:solidFill>
                    <a:latin typeface="Avenir Medium" panose="02000603020000020003" pitchFamily="2" charset="0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Blad1!$A$2:$A$21</c:f>
              <c:strCache>
                <c:ptCount val="20"/>
                <c:pt idx="0">
                  <c:v>Easy do to business</c:v>
                </c:pt>
                <c:pt idx="1">
                  <c:v>Easy do to business</c:v>
                </c:pt>
                <c:pt idx="2">
                  <c:v>Easy do to business</c:v>
                </c:pt>
                <c:pt idx="3">
                  <c:v>Easy do to business</c:v>
                </c:pt>
                <c:pt idx="4">
                  <c:v>Easy do to business</c:v>
                </c:pt>
                <c:pt idx="5">
                  <c:v>Easy do to business</c:v>
                </c:pt>
                <c:pt idx="6">
                  <c:v>Easy do to business</c:v>
                </c:pt>
                <c:pt idx="7">
                  <c:v>Easy do to business</c:v>
                </c:pt>
                <c:pt idx="8">
                  <c:v>Easy do to business</c:v>
                </c:pt>
                <c:pt idx="9">
                  <c:v>Easy do to business</c:v>
                </c:pt>
                <c:pt idx="10">
                  <c:v>Easy do to business</c:v>
                </c:pt>
                <c:pt idx="11">
                  <c:v>Easy do to business</c:v>
                </c:pt>
                <c:pt idx="12">
                  <c:v>Easy do to business</c:v>
                </c:pt>
                <c:pt idx="13">
                  <c:v>Easy do to business</c:v>
                </c:pt>
                <c:pt idx="14">
                  <c:v>Easy do to business</c:v>
                </c:pt>
                <c:pt idx="15">
                  <c:v>Easy do to business</c:v>
                </c:pt>
                <c:pt idx="16">
                  <c:v>Easy do to business</c:v>
                </c:pt>
                <c:pt idx="17">
                  <c:v>Easy do to business</c:v>
                </c:pt>
                <c:pt idx="18">
                  <c:v>Easy do to business</c:v>
                </c:pt>
                <c:pt idx="19">
                  <c:v>Easy do to business</c:v>
                </c:pt>
              </c:strCache>
            </c:strRef>
          </c:cat>
          <c:val>
            <c:numRef>
              <c:f>Blad1!$D$2:$D$21</c:f>
              <c:numCache>
                <c:formatCode>General</c:formatCode>
                <c:ptCount val="20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  <c:pt idx="4">
                  <c:v>1</c:v>
                </c:pt>
                <c:pt idx="5">
                  <c:v>1</c:v>
                </c:pt>
                <c:pt idx="6">
                  <c:v>1</c:v>
                </c:pt>
                <c:pt idx="7">
                  <c:v>1</c:v>
                </c:pt>
                <c:pt idx="8">
                  <c:v>1</c:v>
                </c:pt>
                <c:pt idx="9">
                  <c:v>1</c:v>
                </c:pt>
                <c:pt idx="10">
                  <c:v>1</c:v>
                </c:pt>
                <c:pt idx="11">
                  <c:v>1</c:v>
                </c:pt>
                <c:pt idx="12">
                  <c:v>1</c:v>
                </c:pt>
                <c:pt idx="13">
                  <c:v>1</c:v>
                </c:pt>
                <c:pt idx="14">
                  <c:v>1</c:v>
                </c:pt>
                <c:pt idx="15">
                  <c:v>1</c:v>
                </c:pt>
                <c:pt idx="16">
                  <c:v>1</c:v>
                </c:pt>
                <c:pt idx="17">
                  <c:v>1</c:v>
                </c:pt>
                <c:pt idx="18">
                  <c:v>1</c:v>
                </c:pt>
                <c:pt idx="19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0B11-45E6-ACAD-AB8A5D25DE00}"/>
            </c:ext>
          </c:extLst>
        </c:ser>
        <c:ser>
          <c:idx val="3"/>
          <c:order val="3"/>
          <c:tx>
            <c:strRef>
              <c:f>Blad1!$E$1</c:f>
              <c:strCache>
                <c:ptCount val="1"/>
                <c:pt idx="0">
                  <c:v>Wave 3</c:v>
                </c:pt>
              </c:strCache>
            </c:strRef>
          </c:tx>
          <c:spPr>
            <a:noFill/>
            <a:ln>
              <a:noFill/>
            </a:ln>
            <a:effectLst/>
          </c:spPr>
          <c:invertIfNegative val="0"/>
          <c:dPt>
            <c:idx val="1"/>
            <c:invertIfNegative val="0"/>
            <c:bubble3D val="0"/>
            <c:spPr>
              <a:solidFill>
                <a:schemeClr val="bg1">
                  <a:lumMod val="75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C-0B11-45E6-ACAD-AB8A5D25DE00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0" i="0" u="none" strike="noStrike" kern="1200" baseline="0">
                    <a:solidFill>
                      <a:srgbClr val="1A4359"/>
                    </a:solidFill>
                    <a:latin typeface="Avenir Medium" panose="02000603020000020003" pitchFamily="2" charset="0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Blad1!$A$2:$A$21</c:f>
              <c:strCache>
                <c:ptCount val="20"/>
                <c:pt idx="0">
                  <c:v>Easy do to business</c:v>
                </c:pt>
                <c:pt idx="1">
                  <c:v>Easy do to business</c:v>
                </c:pt>
                <c:pt idx="2">
                  <c:v>Easy do to business</c:v>
                </c:pt>
                <c:pt idx="3">
                  <c:v>Easy do to business</c:v>
                </c:pt>
                <c:pt idx="4">
                  <c:v>Easy do to business</c:v>
                </c:pt>
                <c:pt idx="5">
                  <c:v>Easy do to business</c:v>
                </c:pt>
                <c:pt idx="6">
                  <c:v>Easy do to business</c:v>
                </c:pt>
                <c:pt idx="7">
                  <c:v>Easy do to business</c:v>
                </c:pt>
                <c:pt idx="8">
                  <c:v>Easy do to business</c:v>
                </c:pt>
                <c:pt idx="9">
                  <c:v>Easy do to business</c:v>
                </c:pt>
                <c:pt idx="10">
                  <c:v>Easy do to business</c:v>
                </c:pt>
                <c:pt idx="11">
                  <c:v>Easy do to business</c:v>
                </c:pt>
                <c:pt idx="12">
                  <c:v>Easy do to business</c:v>
                </c:pt>
                <c:pt idx="13">
                  <c:v>Easy do to business</c:v>
                </c:pt>
                <c:pt idx="14">
                  <c:v>Easy do to business</c:v>
                </c:pt>
                <c:pt idx="15">
                  <c:v>Easy do to business</c:v>
                </c:pt>
                <c:pt idx="16">
                  <c:v>Easy do to business</c:v>
                </c:pt>
                <c:pt idx="17">
                  <c:v>Easy do to business</c:v>
                </c:pt>
                <c:pt idx="18">
                  <c:v>Easy do to business</c:v>
                </c:pt>
                <c:pt idx="19">
                  <c:v>Easy do to business</c:v>
                </c:pt>
              </c:strCache>
            </c:strRef>
          </c:cat>
          <c:val>
            <c:numRef>
              <c:f>Blad1!$E$2:$E$21</c:f>
              <c:numCache>
                <c:formatCode>General</c:formatCode>
                <c:ptCount val="20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  <c:pt idx="4">
                  <c:v>1</c:v>
                </c:pt>
                <c:pt idx="5">
                  <c:v>1</c:v>
                </c:pt>
                <c:pt idx="6">
                  <c:v>1</c:v>
                </c:pt>
                <c:pt idx="7">
                  <c:v>1</c:v>
                </c:pt>
                <c:pt idx="8">
                  <c:v>1</c:v>
                </c:pt>
                <c:pt idx="9">
                  <c:v>1</c:v>
                </c:pt>
                <c:pt idx="10">
                  <c:v>1</c:v>
                </c:pt>
                <c:pt idx="11">
                  <c:v>1</c:v>
                </c:pt>
                <c:pt idx="12">
                  <c:v>1</c:v>
                </c:pt>
                <c:pt idx="13">
                  <c:v>1</c:v>
                </c:pt>
                <c:pt idx="14">
                  <c:v>1</c:v>
                </c:pt>
                <c:pt idx="15">
                  <c:v>1</c:v>
                </c:pt>
                <c:pt idx="16">
                  <c:v>1</c:v>
                </c:pt>
                <c:pt idx="17">
                  <c:v>1</c:v>
                </c:pt>
                <c:pt idx="18">
                  <c:v>1</c:v>
                </c:pt>
                <c:pt idx="19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D-0B11-45E6-ACAD-AB8A5D25DE00}"/>
            </c:ext>
          </c:extLst>
        </c:ser>
        <c:ser>
          <c:idx val="4"/>
          <c:order val="4"/>
          <c:tx>
            <c:strRef>
              <c:f>Blad1!$F$1</c:f>
              <c:strCache>
                <c:ptCount val="1"/>
                <c:pt idx="0">
                  <c:v>Wave 4</c:v>
                </c:pt>
              </c:strCache>
            </c:strRef>
          </c:tx>
          <c:spPr>
            <a:noFill/>
            <a:ln>
              <a:noFill/>
            </a:ln>
            <a:effectLst/>
          </c:spPr>
          <c:invertIfNegative val="0"/>
          <c:dPt>
            <c:idx val="1"/>
            <c:invertIfNegative val="0"/>
            <c:bubble3D val="0"/>
            <c:spPr>
              <a:solidFill>
                <a:schemeClr val="bg1">
                  <a:lumMod val="75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F-0B11-45E6-ACAD-AB8A5D25DE00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0" i="0" u="none" strike="noStrike" kern="1200" baseline="0">
                    <a:solidFill>
                      <a:srgbClr val="1A4359"/>
                    </a:solidFill>
                    <a:latin typeface="Avenir Medium" panose="02000603020000020003" pitchFamily="2" charset="0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Blad1!$A$2:$A$21</c:f>
              <c:strCache>
                <c:ptCount val="20"/>
                <c:pt idx="0">
                  <c:v>Easy do to business</c:v>
                </c:pt>
                <c:pt idx="1">
                  <c:v>Easy do to business</c:v>
                </c:pt>
                <c:pt idx="2">
                  <c:v>Easy do to business</c:v>
                </c:pt>
                <c:pt idx="3">
                  <c:v>Easy do to business</c:v>
                </c:pt>
                <c:pt idx="4">
                  <c:v>Easy do to business</c:v>
                </c:pt>
                <c:pt idx="5">
                  <c:v>Easy do to business</c:v>
                </c:pt>
                <c:pt idx="6">
                  <c:v>Easy do to business</c:v>
                </c:pt>
                <c:pt idx="7">
                  <c:v>Easy do to business</c:v>
                </c:pt>
                <c:pt idx="8">
                  <c:v>Easy do to business</c:v>
                </c:pt>
                <c:pt idx="9">
                  <c:v>Easy do to business</c:v>
                </c:pt>
                <c:pt idx="10">
                  <c:v>Easy do to business</c:v>
                </c:pt>
                <c:pt idx="11">
                  <c:v>Easy do to business</c:v>
                </c:pt>
                <c:pt idx="12">
                  <c:v>Easy do to business</c:v>
                </c:pt>
                <c:pt idx="13">
                  <c:v>Easy do to business</c:v>
                </c:pt>
                <c:pt idx="14">
                  <c:v>Easy do to business</c:v>
                </c:pt>
                <c:pt idx="15">
                  <c:v>Easy do to business</c:v>
                </c:pt>
                <c:pt idx="16">
                  <c:v>Easy do to business</c:v>
                </c:pt>
                <c:pt idx="17">
                  <c:v>Easy do to business</c:v>
                </c:pt>
                <c:pt idx="18">
                  <c:v>Easy do to business</c:v>
                </c:pt>
                <c:pt idx="19">
                  <c:v>Easy do to business</c:v>
                </c:pt>
              </c:strCache>
            </c:strRef>
          </c:cat>
          <c:val>
            <c:numRef>
              <c:f>Blad1!$F$2:$F$21</c:f>
              <c:numCache>
                <c:formatCode>General</c:formatCode>
                <c:ptCount val="20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  <c:pt idx="4">
                  <c:v>1</c:v>
                </c:pt>
                <c:pt idx="5">
                  <c:v>1</c:v>
                </c:pt>
                <c:pt idx="6">
                  <c:v>1</c:v>
                </c:pt>
                <c:pt idx="7">
                  <c:v>1</c:v>
                </c:pt>
                <c:pt idx="8">
                  <c:v>1</c:v>
                </c:pt>
                <c:pt idx="9">
                  <c:v>1</c:v>
                </c:pt>
                <c:pt idx="10">
                  <c:v>1</c:v>
                </c:pt>
                <c:pt idx="11">
                  <c:v>1</c:v>
                </c:pt>
                <c:pt idx="12">
                  <c:v>1</c:v>
                </c:pt>
                <c:pt idx="13">
                  <c:v>1</c:v>
                </c:pt>
                <c:pt idx="14">
                  <c:v>1</c:v>
                </c:pt>
                <c:pt idx="15">
                  <c:v>1</c:v>
                </c:pt>
                <c:pt idx="16">
                  <c:v>1</c:v>
                </c:pt>
                <c:pt idx="17">
                  <c:v>1</c:v>
                </c:pt>
                <c:pt idx="18">
                  <c:v>1</c:v>
                </c:pt>
                <c:pt idx="19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0-0B11-45E6-ACAD-AB8A5D25DE00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0"/>
        <c:overlap val="100"/>
        <c:axId val="1316758480"/>
        <c:axId val="1316767632"/>
      </c:barChart>
      <c:catAx>
        <c:axId val="1316758480"/>
        <c:scaling>
          <c:orientation val="maxMin"/>
        </c:scaling>
        <c:delete val="1"/>
        <c:axPos val="l"/>
        <c:numFmt formatCode="General" sourceLinked="1"/>
        <c:majorTickMark val="out"/>
        <c:minorTickMark val="none"/>
        <c:tickLblPos val="nextTo"/>
        <c:crossAx val="1316767632"/>
        <c:crossesAt val="0.25"/>
        <c:auto val="0"/>
        <c:lblAlgn val="ctr"/>
        <c:lblOffset val="100"/>
        <c:noMultiLvlLbl val="0"/>
      </c:catAx>
      <c:valAx>
        <c:axId val="1316767632"/>
        <c:scaling>
          <c:orientation val="minMax"/>
        </c:scaling>
        <c:delete val="1"/>
        <c:axPos val="t"/>
        <c:numFmt formatCode="0%" sourceLinked="1"/>
        <c:majorTickMark val="out"/>
        <c:minorTickMark val="none"/>
        <c:tickLblPos val="nextTo"/>
        <c:crossAx val="131675848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nl-NL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"/>
          <c:y val="3.3964552506991819E-2"/>
          <c:w val="1"/>
          <c:h val="0.74658271394530451"/>
        </c:manualLayout>
      </c:layout>
      <c:barChart>
        <c:barDir val="col"/>
        <c:grouping val="percentStacked"/>
        <c:varyColors val="0"/>
        <c:ser>
          <c:idx val="0"/>
          <c:order val="0"/>
          <c:tx>
            <c:strRef>
              <c:f>Blad1!$B$1</c:f>
              <c:strCache>
                <c:ptCount val="1"/>
                <c:pt idx="0">
                  <c:v>Detractors</c:v>
                </c:pt>
              </c:strCache>
            </c:strRef>
          </c:tx>
          <c:spPr>
            <a:solidFill>
              <a:srgbClr val="FF0000"/>
            </a:solidFill>
            <a:ln>
              <a:noFill/>
            </a:ln>
            <a:effectLst/>
          </c:spPr>
          <c:invertIfNegative val="0"/>
          <c:dLbls>
            <c:dLbl>
              <c:idx val="0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11902590536611155"/>
                      <c:h val="0.1764085554997465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0-CCAA-4948-A139-05A7915387B8}"/>
                </c:ext>
              </c:extLst>
            </c:dLbl>
            <c:dLbl>
              <c:idx val="1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11902590536611155"/>
                      <c:h val="0.1764085554997465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1-CCAA-4948-A139-05A7915387B8}"/>
                </c:ext>
              </c:extLst>
            </c:dLbl>
            <c:dLbl>
              <c:idx val="2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11902590536611155"/>
                      <c:h val="0.1764085554997465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2-CCAA-4948-A139-05A7915387B8}"/>
                </c:ext>
              </c:extLst>
            </c:dLbl>
            <c:dLbl>
              <c:idx val="3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11902590536611155"/>
                      <c:h val="0.1764085554997465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3-CCAA-4948-A139-05A7915387B8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overflow" horzOverflow="overflow" vert="horz" wrap="none" lIns="38100" tIns="19050" rIns="38100" bIns="19050" anchor="ctr" anchorCtr="1">
                <a:noAutofit/>
              </a:bodyPr>
              <a:lstStyle/>
              <a:p>
                <a:pPr>
                  <a:defRPr sz="1000" b="0" i="0" u="none" strike="noStrike" kern="1200" baseline="0">
                    <a:solidFill>
                      <a:schemeClr val="bg1"/>
                    </a:solidFill>
                    <a:latin typeface="Avenir Medium" panose="02000603020000020003" pitchFamily="2" charset="0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ect">
                    <a:avLst/>
                  </a:prstGeom>
                  <a:noFill/>
                  <a:ln>
                    <a:noFill/>
                  </a:ln>
                </c15:spPr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Blad1!$A$2:$A$5</c:f>
              <c:strCache>
                <c:ptCount val="4"/>
                <c:pt idx="0">
                  <c:v>Wave 1</c:v>
                </c:pt>
                <c:pt idx="1">
                  <c:v>Wave 2</c:v>
                </c:pt>
                <c:pt idx="2">
                  <c:v>Wave 3</c:v>
                </c:pt>
                <c:pt idx="3">
                  <c:v>Wave 4</c:v>
                </c:pt>
              </c:strCache>
            </c:strRef>
          </c:cat>
          <c:val>
            <c:numRef>
              <c:f>Blad1!$B$2:$B$5</c:f>
              <c:numCache>
                <c:formatCode>General</c:formatCode>
                <c:ptCount val="4"/>
                <c:pt idx="0">
                  <c:v>0.4</c:v>
                </c:pt>
                <c:pt idx="1">
                  <c:v>0.45</c:v>
                </c:pt>
                <c:pt idx="2">
                  <c:v>0.4</c:v>
                </c:pt>
                <c:pt idx="3">
                  <c:v>0.35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CCAA-4948-A139-05A7915387B8}"/>
            </c:ext>
          </c:extLst>
        </c:ser>
        <c:ser>
          <c:idx val="1"/>
          <c:order val="1"/>
          <c:tx>
            <c:strRef>
              <c:f>Blad1!$C$1</c:f>
              <c:strCache>
                <c:ptCount val="1"/>
                <c:pt idx="0">
                  <c:v>Passives</c:v>
                </c:pt>
              </c:strCache>
            </c:strRef>
          </c:tx>
          <c:spPr>
            <a:solidFill>
              <a:srgbClr val="FFC000"/>
            </a:solidFill>
            <a:ln>
              <a:noFill/>
            </a:ln>
            <a:effectLst/>
          </c:spPr>
          <c:invertIfNegative val="0"/>
          <c:dLbls>
            <c:dLbl>
              <c:idx val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11787463305368893"/>
                      <c:h val="0.17470251742166404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5-CCAA-4948-A139-05A7915387B8}"/>
                </c:ext>
              </c:extLst>
            </c:dLbl>
            <c:dLbl>
              <c:idx val="1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11787463305368893"/>
                      <c:h val="0.17470251742166404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6-CCAA-4948-A139-05A7915387B8}"/>
                </c:ext>
              </c:extLst>
            </c:dLbl>
            <c:dLbl>
              <c:idx val="2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11787463305368893"/>
                      <c:h val="0.17470251742166404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7-CCAA-4948-A139-05A7915387B8}"/>
                </c:ext>
              </c:extLst>
            </c:dLbl>
            <c:dLbl>
              <c:idx val="3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11787463305368893"/>
                      <c:h val="0.17470251742166404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8-CCAA-4948-A139-05A7915387B8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overflow" horzOverflow="overflow" vert="horz" wrap="none" lIns="38100" tIns="19050" rIns="38100" bIns="19050" anchor="ctr" anchorCtr="1">
                <a:noAutofit/>
              </a:bodyPr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venir Medium" panose="02000603020000020003" pitchFamily="2" charset="0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ect">
                    <a:avLst/>
                  </a:prstGeom>
                  <a:noFill/>
                  <a:ln>
                    <a:noFill/>
                  </a:ln>
                </c15:spPr>
                <c15:showLeaderLines val="0"/>
              </c:ext>
            </c:extLst>
          </c:dLbls>
          <c:cat>
            <c:strRef>
              <c:f>Blad1!$A$2:$A$5</c:f>
              <c:strCache>
                <c:ptCount val="4"/>
                <c:pt idx="0">
                  <c:v>Wave 1</c:v>
                </c:pt>
                <c:pt idx="1">
                  <c:v>Wave 2</c:v>
                </c:pt>
                <c:pt idx="2">
                  <c:v>Wave 3</c:v>
                </c:pt>
                <c:pt idx="3">
                  <c:v>Wave 4</c:v>
                </c:pt>
              </c:strCache>
            </c:strRef>
          </c:cat>
          <c:val>
            <c:numRef>
              <c:f>Blad1!$C$2:$C$5</c:f>
              <c:numCache>
                <c:formatCode>General</c:formatCode>
                <c:ptCount val="4"/>
                <c:pt idx="0">
                  <c:v>0.45</c:v>
                </c:pt>
                <c:pt idx="1">
                  <c:v>0.2</c:v>
                </c:pt>
                <c:pt idx="2">
                  <c:v>0.15</c:v>
                </c:pt>
                <c:pt idx="3">
                  <c:v>0.2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9-CCAA-4948-A139-05A7915387B8}"/>
            </c:ext>
          </c:extLst>
        </c:ser>
        <c:ser>
          <c:idx val="2"/>
          <c:order val="2"/>
          <c:tx>
            <c:strRef>
              <c:f>Blad1!$D$1</c:f>
              <c:strCache>
                <c:ptCount val="1"/>
                <c:pt idx="0">
                  <c:v>Promoters</c:v>
                </c:pt>
              </c:strCache>
            </c:strRef>
          </c:tx>
          <c:spPr>
            <a:solidFill>
              <a:srgbClr val="009902"/>
            </a:solidFill>
            <a:ln>
              <a:noFill/>
            </a:ln>
            <a:effectLst/>
          </c:spPr>
          <c:invertIfNegative val="0"/>
          <c:dLbls>
            <c:dLbl>
              <c:idx val="0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11787463305368893"/>
                      <c:h val="0.17470251742166404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A-CCAA-4948-A139-05A7915387B8}"/>
                </c:ext>
              </c:extLst>
            </c:dLbl>
            <c:dLbl>
              <c:idx val="1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11787463305368893"/>
                      <c:h val="0.17470251742166404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B-CCAA-4948-A139-05A7915387B8}"/>
                </c:ext>
              </c:extLst>
            </c:dLbl>
            <c:dLbl>
              <c:idx val="2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11787463305368893"/>
                      <c:h val="0.17470251742166404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C-CCAA-4948-A139-05A7915387B8}"/>
                </c:ext>
              </c:extLst>
            </c:dLbl>
            <c:dLbl>
              <c:idx val="3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11787463305368893"/>
                      <c:h val="0.17470251742166404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D-CCAA-4948-A139-05A7915387B8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none" lIns="38100" tIns="19050" rIns="38100" bIns="19050" anchor="ctr" anchorCtr="1">
                <a:spAutoFit/>
              </a:bodyPr>
              <a:lstStyle/>
              <a:p>
                <a:pPr>
                  <a:defRPr sz="1000" b="0" i="0" u="none" strike="noStrike" kern="1200" baseline="0">
                    <a:solidFill>
                      <a:schemeClr val="bg1"/>
                    </a:solidFill>
                    <a:latin typeface="Avenir Medium" panose="02000603020000020003" pitchFamily="2" charset="0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Blad1!$A$2:$A$5</c:f>
              <c:strCache>
                <c:ptCount val="4"/>
                <c:pt idx="0">
                  <c:v>Wave 1</c:v>
                </c:pt>
                <c:pt idx="1">
                  <c:v>Wave 2</c:v>
                </c:pt>
                <c:pt idx="2">
                  <c:v>Wave 3</c:v>
                </c:pt>
                <c:pt idx="3">
                  <c:v>Wave 4</c:v>
                </c:pt>
              </c:strCache>
            </c:strRef>
          </c:cat>
          <c:val>
            <c:numRef>
              <c:f>Blad1!$D$2:$D$5</c:f>
              <c:numCache>
                <c:formatCode>General</c:formatCode>
                <c:ptCount val="4"/>
                <c:pt idx="0">
                  <c:v>0.15</c:v>
                </c:pt>
                <c:pt idx="1">
                  <c:v>0.35</c:v>
                </c:pt>
                <c:pt idx="2">
                  <c:v>0.45</c:v>
                </c:pt>
                <c:pt idx="3">
                  <c:v>0.45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E-CCAA-4948-A139-05A7915387B8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00"/>
        <c:overlap val="100"/>
        <c:axId val="1155526192"/>
        <c:axId val="1155519120"/>
      </c:barChart>
      <c:catAx>
        <c:axId val="115552619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noFill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rgbClr val="1A4359"/>
                </a:solidFill>
                <a:latin typeface="Avenir Light" panose="020B0402020203020204" pitchFamily="34" charset="0"/>
                <a:ea typeface="+mn-ea"/>
                <a:cs typeface="+mn-cs"/>
              </a:defRPr>
            </a:pPr>
            <a:endParaRPr lang="en-US"/>
          </a:p>
        </c:txPr>
        <c:crossAx val="1155519120"/>
        <c:crosses val="autoZero"/>
        <c:auto val="1"/>
        <c:lblAlgn val="ctr"/>
        <c:lblOffset val="100"/>
        <c:noMultiLvlLbl val="0"/>
      </c:catAx>
      <c:valAx>
        <c:axId val="1155519120"/>
        <c:scaling>
          <c:orientation val="minMax"/>
        </c:scaling>
        <c:delete val="1"/>
        <c:axPos val="l"/>
        <c:majorGridlines>
          <c:spPr>
            <a:ln w="9525" cap="flat" cmpd="sng" algn="ctr">
              <a:noFill/>
              <a:round/>
            </a:ln>
            <a:effectLst/>
          </c:spPr>
        </c:majorGridlines>
        <c:numFmt formatCode="0%" sourceLinked="1"/>
        <c:majorTickMark val="none"/>
        <c:minorTickMark val="none"/>
        <c:tickLblPos val="nextTo"/>
        <c:crossAx val="115552619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nl-NL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"/>
          <c:y val="0.15599038822289318"/>
          <c:w val="1"/>
          <c:h val="0.68801922355421363"/>
        </c:manualLayout>
      </c:layout>
      <c:lineChart>
        <c:grouping val="standard"/>
        <c:varyColors val="0"/>
        <c:ser>
          <c:idx val="0"/>
          <c:order val="0"/>
          <c:tx>
            <c:strRef>
              <c:f>Blad1!$B$1</c:f>
              <c:strCache>
                <c:ptCount val="1"/>
                <c:pt idx="0">
                  <c:v>NPS</c:v>
                </c:pt>
              </c:strCache>
            </c:strRef>
          </c:tx>
          <c:spPr>
            <a:ln w="28575" cap="rnd">
              <a:noFill/>
              <a:round/>
            </a:ln>
            <a:effectLst/>
          </c:spPr>
          <c:marker>
            <c:symbol val="none"/>
          </c:marker>
          <c:cat>
            <c:strRef>
              <c:f>Blad1!$A$2:$A$5</c:f>
              <c:strCache>
                <c:ptCount val="4"/>
                <c:pt idx="0">
                  <c:v>-25</c:v>
                </c:pt>
                <c:pt idx="1">
                  <c:v>-10 (+15)</c:v>
                </c:pt>
                <c:pt idx="2">
                  <c:v>5 (+15)</c:v>
                </c:pt>
                <c:pt idx="3">
                  <c:v>10 (+5)</c:v>
                </c:pt>
              </c:strCache>
            </c:strRef>
          </c:cat>
          <c:val>
            <c:numRef>
              <c:f>Blad1!$B$2:$B$5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36D5-4790-89E7-B3125C24653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164478464"/>
        <c:axId val="1164478048"/>
      </c:lineChart>
      <c:catAx>
        <c:axId val="116447846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high"/>
        <c:spPr>
          <a:noFill/>
          <a:ln w="9525" cap="flat" cmpd="sng" algn="ctr">
            <a:noFill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0" i="0" u="none" strike="noStrike" kern="1200" baseline="0">
                <a:solidFill>
                  <a:srgbClr val="1A4359"/>
                </a:solidFill>
                <a:latin typeface="Avenir Medium" panose="02000603020000020003" pitchFamily="2" charset="0"/>
                <a:ea typeface="+mn-ea"/>
                <a:cs typeface="+mn-cs"/>
              </a:defRPr>
            </a:pPr>
            <a:endParaRPr lang="en-US"/>
          </a:p>
        </c:txPr>
        <c:crossAx val="1164478048"/>
        <c:crosses val="autoZero"/>
        <c:auto val="0"/>
        <c:lblAlgn val="ctr"/>
        <c:lblOffset val="100"/>
        <c:noMultiLvlLbl val="0"/>
      </c:catAx>
      <c:valAx>
        <c:axId val="1164478048"/>
        <c:scaling>
          <c:orientation val="minMax"/>
        </c:scaling>
        <c:delete val="1"/>
        <c:axPos val="l"/>
        <c:numFmt formatCode="General" sourceLinked="1"/>
        <c:majorTickMark val="out"/>
        <c:minorTickMark val="none"/>
        <c:tickLblPos val="nextTo"/>
        <c:crossAx val="116447846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>
          <a:latin typeface="Arial Nova" panose="020B0504020202020204" pitchFamily="34" charset="0"/>
        </a:defRPr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587156"/>
            <a:ext cx="5829300" cy="3376354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093717"/>
            <a:ext cx="5143500" cy="2341447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36" indent="0" algn="ctr">
              <a:buNone/>
              <a:defRPr sz="1500"/>
            </a:lvl2pPr>
            <a:lvl3pPr marL="685871" indent="0" algn="ctr">
              <a:buNone/>
              <a:defRPr sz="1350"/>
            </a:lvl3pPr>
            <a:lvl4pPr marL="1028807" indent="0" algn="ctr">
              <a:buNone/>
              <a:defRPr sz="1201"/>
            </a:lvl4pPr>
            <a:lvl5pPr marL="1371742" indent="0" algn="ctr">
              <a:buNone/>
              <a:defRPr sz="1201"/>
            </a:lvl5pPr>
            <a:lvl6pPr marL="1714677" indent="0" algn="ctr">
              <a:buNone/>
              <a:defRPr sz="1201"/>
            </a:lvl6pPr>
            <a:lvl7pPr marL="2057612" indent="0" algn="ctr">
              <a:buNone/>
              <a:defRPr sz="1201"/>
            </a:lvl7pPr>
            <a:lvl8pPr marL="2400546" indent="0" algn="ctr">
              <a:buNone/>
              <a:defRPr sz="1201"/>
            </a:lvl8pPr>
            <a:lvl9pPr marL="2743483" indent="0" algn="ctr">
              <a:buNone/>
              <a:defRPr sz="1201"/>
            </a:lvl9pPr>
          </a:lstStyle>
          <a:p>
            <a:r>
              <a:rPr lang="nl-NL"/>
              <a:t>Klikken om de ondertitelstijl van het model te bewerken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90BB0-8C6F-42A9-B2A7-105EFC48CF3D}" type="datetimeFigureOut">
              <a:rPr lang="nl-NL" smtClean="0"/>
              <a:t>10-10-2024</a:t>
            </a:fld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C6E909-C1FA-4C0B-955E-48E0FA64F9BA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7764343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90BB0-8C6F-42A9-B2A7-105EFC48CF3D}" type="datetimeFigureOut">
              <a:rPr lang="nl-NL" smtClean="0"/>
              <a:t>10-10-2024</a:t>
            </a:fld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C6E909-C1FA-4C0B-955E-48E0FA64F9BA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6963181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ek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20" y="2417777"/>
            <a:ext cx="5915025" cy="4034114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20" y="6490058"/>
            <a:ext cx="5915025" cy="2121445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36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71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807" indent="0">
              <a:buNone/>
              <a:defRPr sz="1201">
                <a:solidFill>
                  <a:schemeClr val="tx1">
                    <a:tint val="75000"/>
                  </a:schemeClr>
                </a:solidFill>
              </a:defRPr>
            </a:lvl4pPr>
            <a:lvl5pPr marL="1371742" indent="0">
              <a:buNone/>
              <a:defRPr sz="1201">
                <a:solidFill>
                  <a:schemeClr val="tx1">
                    <a:tint val="75000"/>
                  </a:schemeClr>
                </a:solidFill>
              </a:defRPr>
            </a:lvl5pPr>
            <a:lvl6pPr marL="1714677" indent="0">
              <a:buNone/>
              <a:defRPr sz="1201">
                <a:solidFill>
                  <a:schemeClr val="tx1">
                    <a:tint val="75000"/>
                  </a:schemeClr>
                </a:solidFill>
              </a:defRPr>
            </a:lvl6pPr>
            <a:lvl7pPr marL="2057612" indent="0">
              <a:buNone/>
              <a:defRPr sz="1201">
                <a:solidFill>
                  <a:schemeClr val="tx1">
                    <a:tint val="75000"/>
                  </a:schemeClr>
                </a:solidFill>
              </a:defRPr>
            </a:lvl7pPr>
            <a:lvl8pPr marL="2400546" indent="0">
              <a:buNone/>
              <a:defRPr sz="1201">
                <a:solidFill>
                  <a:schemeClr val="tx1">
                    <a:tint val="75000"/>
                  </a:schemeClr>
                </a:solidFill>
              </a:defRPr>
            </a:lvl8pPr>
            <a:lvl9pPr marL="2743483" indent="0">
              <a:buNone/>
              <a:defRPr sz="1201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90BB0-8C6F-42A9-B2A7-105EFC48CF3D}" type="datetimeFigureOut">
              <a:rPr lang="nl-NL" smtClean="0"/>
              <a:t>10-10-2024</a:t>
            </a:fld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C6E909-C1FA-4C0B-955E-48E0FA64F9BA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7798669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nhoud van tw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581654"/>
            <a:ext cx="2914650" cy="6153316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581654"/>
            <a:ext cx="2914650" cy="6153316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90BB0-8C6F-42A9-B2A7-105EFC48CF3D}" type="datetimeFigureOut">
              <a:rPr lang="nl-NL" smtClean="0"/>
              <a:t>10-10-2024</a:t>
            </a:fld>
            <a:endParaRPr lang="nl-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C6E909-C1FA-4C0B-955E-48E0FA64F9BA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1352453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elijk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5" y="516334"/>
            <a:ext cx="5915025" cy="1874506"/>
          </a:xfrm>
        </p:spPr>
        <p:txBody>
          <a:bodyPr/>
          <a:lstStyle/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377367"/>
            <a:ext cx="2901255" cy="1165111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36" indent="0">
              <a:buNone/>
              <a:defRPr sz="1500" b="1"/>
            </a:lvl2pPr>
            <a:lvl3pPr marL="685871" indent="0">
              <a:buNone/>
              <a:defRPr sz="1350" b="1"/>
            </a:lvl3pPr>
            <a:lvl4pPr marL="1028807" indent="0">
              <a:buNone/>
              <a:defRPr sz="1201" b="1"/>
            </a:lvl4pPr>
            <a:lvl5pPr marL="1371742" indent="0">
              <a:buNone/>
              <a:defRPr sz="1201" b="1"/>
            </a:lvl5pPr>
            <a:lvl6pPr marL="1714677" indent="0">
              <a:buNone/>
              <a:defRPr sz="1201" b="1"/>
            </a:lvl6pPr>
            <a:lvl7pPr marL="2057612" indent="0">
              <a:buNone/>
              <a:defRPr sz="1201" b="1"/>
            </a:lvl7pPr>
            <a:lvl8pPr marL="2400546" indent="0">
              <a:buNone/>
              <a:defRPr sz="1201" b="1"/>
            </a:lvl8pPr>
            <a:lvl9pPr marL="2743483" indent="0">
              <a:buNone/>
              <a:defRPr sz="1201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542478"/>
            <a:ext cx="2901255" cy="5210451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7" y="2377367"/>
            <a:ext cx="2915543" cy="1165111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36" indent="0">
              <a:buNone/>
              <a:defRPr sz="1500" b="1"/>
            </a:lvl2pPr>
            <a:lvl3pPr marL="685871" indent="0">
              <a:buNone/>
              <a:defRPr sz="1350" b="1"/>
            </a:lvl3pPr>
            <a:lvl4pPr marL="1028807" indent="0">
              <a:buNone/>
              <a:defRPr sz="1201" b="1"/>
            </a:lvl4pPr>
            <a:lvl5pPr marL="1371742" indent="0">
              <a:buNone/>
              <a:defRPr sz="1201" b="1"/>
            </a:lvl5pPr>
            <a:lvl6pPr marL="1714677" indent="0">
              <a:buNone/>
              <a:defRPr sz="1201" b="1"/>
            </a:lvl6pPr>
            <a:lvl7pPr marL="2057612" indent="0">
              <a:buNone/>
              <a:defRPr sz="1201" b="1"/>
            </a:lvl7pPr>
            <a:lvl8pPr marL="2400546" indent="0">
              <a:buNone/>
              <a:defRPr sz="1201" b="1"/>
            </a:lvl8pPr>
            <a:lvl9pPr marL="2743483" indent="0">
              <a:buNone/>
              <a:defRPr sz="1201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7" y="3542478"/>
            <a:ext cx="2915543" cy="5210451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90BB0-8C6F-42A9-B2A7-105EFC48CF3D}" type="datetimeFigureOut">
              <a:rPr lang="nl-NL" smtClean="0"/>
              <a:t>10-10-2024</a:t>
            </a:fld>
            <a:endParaRPr lang="nl-NL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C6E909-C1FA-4C0B-955E-48E0FA64F9BA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0220920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90BB0-8C6F-42A9-B2A7-105EFC48CF3D}" type="datetimeFigureOut">
              <a:rPr lang="nl-NL" smtClean="0"/>
              <a:t>10-10-2024</a:t>
            </a:fld>
            <a:endParaRPr lang="nl-N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C6E909-C1FA-4C0B-955E-48E0FA64F9BA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1971828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90BB0-8C6F-42A9-B2A7-105EFC48CF3D}" type="datetimeFigureOut">
              <a:rPr lang="nl-NL" smtClean="0"/>
              <a:t>10-10-2024</a:t>
            </a:fld>
            <a:endParaRPr lang="nl-NL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C6E909-C1FA-4C0B-955E-48E0FA64F9BA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3163740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oud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46536"/>
            <a:ext cx="2211884" cy="2262876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7" y="1396343"/>
            <a:ext cx="3471863" cy="6891893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09411"/>
            <a:ext cx="2211884" cy="5390045"/>
          </a:xfrm>
        </p:spPr>
        <p:txBody>
          <a:bodyPr/>
          <a:lstStyle>
            <a:lvl1pPr marL="0" indent="0">
              <a:buNone/>
              <a:defRPr sz="1201"/>
            </a:lvl1pPr>
            <a:lvl2pPr marL="342936" indent="0">
              <a:buNone/>
              <a:defRPr sz="1051"/>
            </a:lvl2pPr>
            <a:lvl3pPr marL="685871" indent="0">
              <a:buNone/>
              <a:defRPr sz="899"/>
            </a:lvl3pPr>
            <a:lvl4pPr marL="1028807" indent="0">
              <a:buNone/>
              <a:defRPr sz="749"/>
            </a:lvl4pPr>
            <a:lvl5pPr marL="1371742" indent="0">
              <a:buNone/>
              <a:defRPr sz="749"/>
            </a:lvl5pPr>
            <a:lvl6pPr marL="1714677" indent="0">
              <a:buNone/>
              <a:defRPr sz="749"/>
            </a:lvl6pPr>
            <a:lvl7pPr marL="2057612" indent="0">
              <a:buNone/>
              <a:defRPr sz="749"/>
            </a:lvl7pPr>
            <a:lvl8pPr marL="2400546" indent="0">
              <a:buNone/>
              <a:defRPr sz="749"/>
            </a:lvl8pPr>
            <a:lvl9pPr marL="2743483" indent="0">
              <a:buNone/>
              <a:defRPr sz="749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90BB0-8C6F-42A9-B2A7-105EFC48CF3D}" type="datetimeFigureOut">
              <a:rPr lang="nl-NL" smtClean="0"/>
              <a:t>10-10-2024</a:t>
            </a:fld>
            <a:endParaRPr lang="nl-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C6E909-C1FA-4C0B-955E-48E0FA64F9BA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583937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Afbeelding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46536"/>
            <a:ext cx="2211884" cy="2262876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7" y="1396343"/>
            <a:ext cx="3471863" cy="6891893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36" indent="0">
              <a:buNone/>
              <a:defRPr sz="2100"/>
            </a:lvl2pPr>
            <a:lvl3pPr marL="685871" indent="0">
              <a:buNone/>
              <a:defRPr sz="1800"/>
            </a:lvl3pPr>
            <a:lvl4pPr marL="1028807" indent="0">
              <a:buNone/>
              <a:defRPr sz="1500"/>
            </a:lvl4pPr>
            <a:lvl5pPr marL="1371742" indent="0">
              <a:buNone/>
              <a:defRPr sz="1500"/>
            </a:lvl5pPr>
            <a:lvl6pPr marL="1714677" indent="0">
              <a:buNone/>
              <a:defRPr sz="1500"/>
            </a:lvl6pPr>
            <a:lvl7pPr marL="2057612" indent="0">
              <a:buNone/>
              <a:defRPr sz="1500"/>
            </a:lvl7pPr>
            <a:lvl8pPr marL="2400546" indent="0">
              <a:buNone/>
              <a:defRPr sz="1500"/>
            </a:lvl8pPr>
            <a:lvl9pPr marL="2743483" indent="0">
              <a:buNone/>
              <a:defRPr sz="1500"/>
            </a:lvl9pPr>
          </a:lstStyle>
          <a:p>
            <a:r>
              <a:rPr lang="nl-NL"/>
              <a:t>Klik op het pictogram als u een afbeelding wilt toevoegen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09411"/>
            <a:ext cx="2211884" cy="5390045"/>
          </a:xfrm>
        </p:spPr>
        <p:txBody>
          <a:bodyPr/>
          <a:lstStyle>
            <a:lvl1pPr marL="0" indent="0">
              <a:buNone/>
              <a:defRPr sz="1201"/>
            </a:lvl1pPr>
            <a:lvl2pPr marL="342936" indent="0">
              <a:buNone/>
              <a:defRPr sz="1051"/>
            </a:lvl2pPr>
            <a:lvl3pPr marL="685871" indent="0">
              <a:buNone/>
              <a:defRPr sz="899"/>
            </a:lvl3pPr>
            <a:lvl4pPr marL="1028807" indent="0">
              <a:buNone/>
              <a:defRPr sz="749"/>
            </a:lvl4pPr>
            <a:lvl5pPr marL="1371742" indent="0">
              <a:buNone/>
              <a:defRPr sz="749"/>
            </a:lvl5pPr>
            <a:lvl6pPr marL="1714677" indent="0">
              <a:buNone/>
              <a:defRPr sz="749"/>
            </a:lvl6pPr>
            <a:lvl7pPr marL="2057612" indent="0">
              <a:buNone/>
              <a:defRPr sz="749"/>
            </a:lvl7pPr>
            <a:lvl8pPr marL="2400546" indent="0">
              <a:buNone/>
              <a:defRPr sz="749"/>
            </a:lvl8pPr>
            <a:lvl9pPr marL="2743483" indent="0">
              <a:buNone/>
              <a:defRPr sz="749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90BB0-8C6F-42A9-B2A7-105EFC48CF3D}" type="datetimeFigureOut">
              <a:rPr lang="nl-NL" smtClean="0"/>
              <a:t>10-10-2024</a:t>
            </a:fld>
            <a:endParaRPr lang="nl-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C6E909-C1FA-4C0B-955E-48E0FA64F9BA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7895517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en verticale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90BB0-8C6F-42A9-B2A7-105EFC48CF3D}" type="datetimeFigureOut">
              <a:rPr lang="nl-NL" smtClean="0"/>
              <a:t>10-10-2024</a:t>
            </a:fld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C6E909-C1FA-4C0B-955E-48E0FA64F9BA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1015250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e titel en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16332"/>
            <a:ext cx="1478756" cy="8218639"/>
          </a:xfrm>
        </p:spPr>
        <p:txBody>
          <a:bodyPr vert="eaVert"/>
          <a:lstStyle/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16332"/>
            <a:ext cx="4350544" cy="8218639"/>
          </a:xfrm>
        </p:spPr>
        <p:txBody>
          <a:bodyPr vert="eaVert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90BB0-8C6F-42A9-B2A7-105EFC48CF3D}" type="datetimeFigureOut">
              <a:rPr lang="nl-NL" smtClean="0"/>
              <a:t>10-10-2024</a:t>
            </a:fld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C6E909-C1FA-4C0B-955E-48E0FA64F9BA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5302323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91" y="516334"/>
            <a:ext cx="5915025" cy="187450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91" y="2581654"/>
            <a:ext cx="5915025" cy="61533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8988649"/>
            <a:ext cx="1543050" cy="51633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9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C490BB0-8C6F-42A9-B2A7-105EFC48CF3D}" type="datetimeFigureOut">
              <a:rPr lang="nl-NL" smtClean="0"/>
              <a:t>10-10-2024</a:t>
            </a:fld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6" y="8988649"/>
            <a:ext cx="2314575" cy="51633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9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8988649"/>
            <a:ext cx="1543050" cy="51633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9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1C6E909-C1FA-4C0B-955E-48E0FA64F9BA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4449027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685871" rtl="0" eaLnBrk="1" latinLnBrk="0" hangingPunct="1">
        <a:lnSpc>
          <a:spcPct val="90000"/>
        </a:lnSpc>
        <a:spcBef>
          <a:spcPct val="0"/>
        </a:spcBef>
        <a:buNone/>
        <a:defRPr sz="330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67" indent="-171467" algn="l" defTabSz="685871" rtl="0" eaLnBrk="1" latinLnBrk="0" hangingPunct="1">
        <a:lnSpc>
          <a:spcPct val="90000"/>
        </a:lnSpc>
        <a:spcBef>
          <a:spcPts val="749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403" indent="-171467" algn="l" defTabSz="685871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338" indent="-171467" algn="l" defTabSz="685871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274" indent="-171467" algn="l" defTabSz="685871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210" indent="-171467" algn="l" defTabSz="685871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6144" indent="-171467" algn="l" defTabSz="685871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9080" indent="-171467" algn="l" defTabSz="685871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2016" indent="-171467" algn="l" defTabSz="685871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949" indent="-171467" algn="l" defTabSz="685871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71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36" algn="l" defTabSz="685871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71" algn="l" defTabSz="685871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807" algn="l" defTabSz="685871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742" algn="l" defTabSz="685871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677" algn="l" defTabSz="685871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612" algn="l" defTabSz="685871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546" algn="l" defTabSz="685871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483" algn="l" defTabSz="685871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chart" Target="../charts/chart6.xml"/><Relationship Id="rId3" Type="http://schemas.openxmlformats.org/officeDocument/2006/relationships/chart" Target="../charts/chart1.xml"/><Relationship Id="rId7" Type="http://schemas.openxmlformats.org/officeDocument/2006/relationships/chart" Target="../charts/chart5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chart" Target="../charts/chart4.xml"/><Relationship Id="rId11" Type="http://schemas.openxmlformats.org/officeDocument/2006/relationships/chart" Target="../charts/chart9.xml"/><Relationship Id="rId5" Type="http://schemas.openxmlformats.org/officeDocument/2006/relationships/chart" Target="../charts/chart3.xml"/><Relationship Id="rId10" Type="http://schemas.openxmlformats.org/officeDocument/2006/relationships/chart" Target="../charts/chart8.xml"/><Relationship Id="rId4" Type="http://schemas.openxmlformats.org/officeDocument/2006/relationships/chart" Target="../charts/chart2.xml"/><Relationship Id="rId9" Type="http://schemas.openxmlformats.org/officeDocument/2006/relationships/chart" Target="../charts/char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Afbeelding 3">
            <a:extLst>
              <a:ext uri="{FF2B5EF4-FFF2-40B4-BE49-F238E27FC236}">
                <a16:creationId xmlns:a16="http://schemas.microsoft.com/office/drawing/2014/main" id="{D9414059-C302-4E04-8B8A-5369D020EE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858000" cy="585215"/>
          </a:xfrm>
          <a:prstGeom prst="rect">
            <a:avLst/>
          </a:prstGeom>
        </p:spPr>
      </p:pic>
      <p:sp>
        <p:nvSpPr>
          <p:cNvPr id="5" name="Tekstvak 4">
            <a:extLst>
              <a:ext uri="{FF2B5EF4-FFF2-40B4-BE49-F238E27FC236}">
                <a16:creationId xmlns:a16="http://schemas.microsoft.com/office/drawing/2014/main" id="{A97AB787-C38B-4168-B8D0-02DD95289355}"/>
              </a:ext>
            </a:extLst>
          </p:cNvPr>
          <p:cNvSpPr txBox="1"/>
          <p:nvPr/>
        </p:nvSpPr>
        <p:spPr>
          <a:xfrm>
            <a:off x="639000" y="0"/>
            <a:ext cx="5580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i="0" u="none" strike="noStrike" dirty="0">
                <a:solidFill>
                  <a:schemeClr val="bg1"/>
                </a:solidFill>
                <a:effectLst/>
                <a:latin typeface="Avenir Medium" panose="02000603020000020003" pitchFamily="2" charset="0"/>
              </a:rPr>
              <a:t> </a:t>
            </a:r>
            <a:r>
              <a:rPr lang="en-US" sz="1600" i="0" u="none" strike="noStrike">
                <a:solidFill>
                  <a:schemeClr val="bg1"/>
                </a:solidFill>
                <a:effectLst/>
                <a:latin typeface="Avenir Medium" panose="02000603020000020003" pitchFamily="2" charset="0"/>
              </a:rPr>
              <a:t>PHtitleofthepager</a:t>
            </a:r>
            <a:endParaRPr lang="nl-NL" sz="1600" dirty="0">
              <a:solidFill>
                <a:schemeClr val="bg1"/>
              </a:solidFill>
              <a:latin typeface="Avenir Medium" panose="02000603020000020003" pitchFamily="2" charset="0"/>
            </a:endParaRPr>
          </a:p>
        </p:txBody>
      </p:sp>
      <p:sp>
        <p:nvSpPr>
          <p:cNvPr id="11" name="Tekstvak 10">
            <a:extLst>
              <a:ext uri="{FF2B5EF4-FFF2-40B4-BE49-F238E27FC236}">
                <a16:creationId xmlns:a16="http://schemas.microsoft.com/office/drawing/2014/main" id="{D06E8CC0-9A5A-462E-8E71-7FD962F58072}"/>
              </a:ext>
            </a:extLst>
          </p:cNvPr>
          <p:cNvSpPr txBox="1"/>
          <p:nvPr/>
        </p:nvSpPr>
        <p:spPr>
          <a:xfrm>
            <a:off x="756887" y="631222"/>
            <a:ext cx="110719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1000" dirty="0">
                <a:solidFill>
                  <a:srgbClr val="1A4359"/>
                </a:solidFill>
                <a:latin typeface="Avenir Light" panose="020B0402020203020204" pitchFamily="34" charset="0"/>
              </a:rPr>
              <a:t>#Responded:</a:t>
            </a:r>
          </a:p>
          <a:p>
            <a:pPr algn="ctr"/>
            <a:r>
              <a:rPr lang="en-US" sz="1100" dirty="0">
                <a:solidFill>
                  <a:srgbClr val="1A4359"/>
                </a:solidFill>
                <a:latin typeface="Avenir Medium" panose="02000603020000020003" pitchFamily="2" charset="0"/>
              </a:rPr>
              <a:t>PHVXX</a:t>
            </a:r>
            <a:endParaRPr lang="en-US" sz="1200" dirty="0">
              <a:solidFill>
                <a:srgbClr val="1A4359"/>
              </a:solidFill>
              <a:latin typeface="Avenir Medium" panose="02000603020000020003" pitchFamily="2" charset="0"/>
            </a:endParaRPr>
          </a:p>
        </p:txBody>
      </p:sp>
      <p:sp>
        <p:nvSpPr>
          <p:cNvPr id="13" name="Tekstvak 12">
            <a:extLst>
              <a:ext uri="{FF2B5EF4-FFF2-40B4-BE49-F238E27FC236}">
                <a16:creationId xmlns:a16="http://schemas.microsoft.com/office/drawing/2014/main" id="{E0BFE576-33DB-4E89-A84A-8AE930A256C7}"/>
              </a:ext>
            </a:extLst>
          </p:cNvPr>
          <p:cNvSpPr txBox="1"/>
          <p:nvPr/>
        </p:nvSpPr>
        <p:spPr>
          <a:xfrm>
            <a:off x="2875402" y="619506"/>
            <a:ext cx="1107196" cy="4078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950" dirty="0">
                <a:solidFill>
                  <a:srgbClr val="1A4359"/>
                </a:solidFill>
                <a:latin typeface="Avenir Light" panose="020B0402020203020204" pitchFamily="34" charset="0"/>
              </a:rPr>
              <a:t>#Invited:</a:t>
            </a:r>
          </a:p>
          <a:p>
            <a:pPr algn="ctr"/>
            <a:r>
              <a:rPr lang="en-US" sz="1100" dirty="0">
                <a:solidFill>
                  <a:srgbClr val="1A4359"/>
                </a:solidFill>
                <a:latin typeface="Avenir Medium" panose="02000603020000020003" pitchFamily="2" charset="0"/>
              </a:rPr>
              <a:t>PHVXY</a:t>
            </a:r>
            <a:endParaRPr lang="en-US" sz="1200" dirty="0">
              <a:solidFill>
                <a:srgbClr val="1A4359"/>
              </a:solidFill>
              <a:latin typeface="Avenir Medium" panose="02000603020000020003" pitchFamily="2" charset="0"/>
            </a:endParaRPr>
          </a:p>
        </p:txBody>
      </p:sp>
      <p:graphicFrame>
        <p:nvGraphicFramePr>
          <p:cNvPr id="16" name="Grafiek 15">
            <a:extLst>
              <a:ext uri="{FF2B5EF4-FFF2-40B4-BE49-F238E27FC236}">
                <a16:creationId xmlns:a16="http://schemas.microsoft.com/office/drawing/2014/main" id="{D9AF64AC-1F1A-4F78-97F1-05BCF8C0FD5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511963730"/>
              </p:ext>
            </p:extLst>
          </p:nvPr>
        </p:nvGraphicFramePr>
        <p:xfrm>
          <a:off x="1771061" y="1163069"/>
          <a:ext cx="1643909" cy="138574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7" name="Tekstvak 16">
            <a:extLst>
              <a:ext uri="{FF2B5EF4-FFF2-40B4-BE49-F238E27FC236}">
                <a16:creationId xmlns:a16="http://schemas.microsoft.com/office/drawing/2014/main" id="{CDB28205-448E-4997-AFCB-CAF1EF3D9E46}"/>
              </a:ext>
            </a:extLst>
          </p:cNvPr>
          <p:cNvSpPr txBox="1"/>
          <p:nvPr/>
        </p:nvSpPr>
        <p:spPr>
          <a:xfrm>
            <a:off x="2070817" y="1838396"/>
            <a:ext cx="1001864" cy="2862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lang="nl-NL" sz="1100" dirty="0">
                <a:solidFill>
                  <a:srgbClr val="1A4359"/>
                </a:solidFill>
                <a:latin typeface="Avenir Medium" panose="02000603020000020003" pitchFamily="2" charset="0"/>
              </a:rPr>
              <a:t>PHZXX</a:t>
            </a:r>
            <a:endParaRPr lang="en-US" sz="1100" dirty="0">
              <a:solidFill>
                <a:srgbClr val="1A4359"/>
              </a:solidFill>
              <a:latin typeface="Avenir Medium" panose="02000603020000020003" pitchFamily="2" charset="0"/>
            </a:endParaRPr>
          </a:p>
        </p:txBody>
      </p:sp>
      <p:graphicFrame>
        <p:nvGraphicFramePr>
          <p:cNvPr id="19" name="Grafiek 18">
            <a:extLst>
              <a:ext uri="{FF2B5EF4-FFF2-40B4-BE49-F238E27FC236}">
                <a16:creationId xmlns:a16="http://schemas.microsoft.com/office/drawing/2014/main" id="{02182651-8A78-4EB4-9877-D8BB941007E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952049355"/>
              </p:ext>
            </p:extLst>
          </p:nvPr>
        </p:nvGraphicFramePr>
        <p:xfrm>
          <a:off x="3438754" y="1165098"/>
          <a:ext cx="1643909" cy="138574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20" name="Tekstvak 19">
            <a:extLst>
              <a:ext uri="{FF2B5EF4-FFF2-40B4-BE49-F238E27FC236}">
                <a16:creationId xmlns:a16="http://schemas.microsoft.com/office/drawing/2014/main" id="{3AD23A8C-F146-4710-9CB7-D5160AFC080D}"/>
              </a:ext>
            </a:extLst>
          </p:cNvPr>
          <p:cNvSpPr txBox="1"/>
          <p:nvPr/>
        </p:nvSpPr>
        <p:spPr>
          <a:xfrm>
            <a:off x="3738510" y="1840426"/>
            <a:ext cx="1001864" cy="2862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lang="nl-NL" sz="1100" dirty="0">
                <a:solidFill>
                  <a:srgbClr val="1A4359"/>
                </a:solidFill>
                <a:latin typeface="Avenir Medium" panose="02000603020000020003" pitchFamily="2" charset="0"/>
              </a:rPr>
              <a:t>PHZYX</a:t>
            </a:r>
            <a:endParaRPr lang="en-US" sz="1200" dirty="0">
              <a:solidFill>
                <a:srgbClr val="1A4359"/>
              </a:solidFill>
              <a:latin typeface="Avenir Medium" panose="02000603020000020003" pitchFamily="2" charset="0"/>
            </a:endParaRPr>
          </a:p>
        </p:txBody>
      </p:sp>
      <p:sp>
        <p:nvSpPr>
          <p:cNvPr id="25" name="Tekstvak 24">
            <a:extLst>
              <a:ext uri="{FF2B5EF4-FFF2-40B4-BE49-F238E27FC236}">
                <a16:creationId xmlns:a16="http://schemas.microsoft.com/office/drawing/2014/main" id="{88187179-5155-4686-A544-A28A03D8AB3D}"/>
              </a:ext>
            </a:extLst>
          </p:cNvPr>
          <p:cNvSpPr txBox="1"/>
          <p:nvPr/>
        </p:nvSpPr>
        <p:spPr>
          <a:xfrm>
            <a:off x="4993917" y="621767"/>
            <a:ext cx="1107196" cy="4078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950" dirty="0">
                <a:solidFill>
                  <a:srgbClr val="1A4359"/>
                </a:solidFill>
                <a:latin typeface="Avenir Light" panose="020B0402020203020204" pitchFamily="34" charset="0"/>
              </a:rPr>
              <a:t>#Contacts:</a:t>
            </a:r>
          </a:p>
          <a:p>
            <a:pPr algn="ctr"/>
            <a:r>
              <a:rPr lang="en-US" sz="1100" dirty="0">
                <a:solidFill>
                  <a:srgbClr val="1A4359"/>
                </a:solidFill>
                <a:latin typeface="Avenir Medium" panose="02000603020000020003" pitchFamily="2" charset="0"/>
              </a:rPr>
              <a:t>PHVXZ</a:t>
            </a:r>
            <a:endParaRPr lang="en-US" sz="1200" dirty="0">
              <a:solidFill>
                <a:srgbClr val="1A4359"/>
              </a:solidFill>
              <a:latin typeface="Avenir Medium" panose="02000603020000020003" pitchFamily="2" charset="0"/>
            </a:endParaRPr>
          </a:p>
        </p:txBody>
      </p:sp>
      <p:graphicFrame>
        <p:nvGraphicFramePr>
          <p:cNvPr id="7" name="Grafiek 6">
            <a:extLst>
              <a:ext uri="{FF2B5EF4-FFF2-40B4-BE49-F238E27FC236}">
                <a16:creationId xmlns:a16="http://schemas.microsoft.com/office/drawing/2014/main" id="{B325170B-D4C7-63C3-DC0E-8552AE52206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83480759"/>
              </p:ext>
            </p:extLst>
          </p:nvPr>
        </p:nvGraphicFramePr>
        <p:xfrm>
          <a:off x="202137" y="3908916"/>
          <a:ext cx="3210242" cy="14627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9" name="Tekstvak 8">
            <a:extLst>
              <a:ext uri="{FF2B5EF4-FFF2-40B4-BE49-F238E27FC236}">
                <a16:creationId xmlns:a16="http://schemas.microsoft.com/office/drawing/2014/main" id="{A36DAEAB-C47A-6FA3-4883-D15D0CA3D73E}"/>
              </a:ext>
            </a:extLst>
          </p:cNvPr>
          <p:cNvSpPr txBox="1"/>
          <p:nvPr/>
        </p:nvSpPr>
        <p:spPr>
          <a:xfrm>
            <a:off x="910033" y="3344354"/>
            <a:ext cx="180850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1000" dirty="0">
                <a:solidFill>
                  <a:srgbClr val="1A4359"/>
                </a:solidFill>
                <a:latin typeface="Avenir Medium" panose="02000603020000020003" pitchFamily="2" charset="0"/>
              </a:rPr>
              <a:t>Net </a:t>
            </a:r>
            <a:r>
              <a:rPr lang="nl-NL" sz="1000" dirty="0" err="1">
                <a:solidFill>
                  <a:srgbClr val="1A4359"/>
                </a:solidFill>
                <a:latin typeface="Avenir Medium" panose="02000603020000020003" pitchFamily="2" charset="0"/>
              </a:rPr>
              <a:t>Promoter</a:t>
            </a:r>
            <a:r>
              <a:rPr lang="nl-NL" sz="1000" dirty="0">
                <a:solidFill>
                  <a:srgbClr val="1A4359"/>
                </a:solidFill>
                <a:latin typeface="Avenir Medium" panose="02000603020000020003" pitchFamily="2" charset="0"/>
              </a:rPr>
              <a:t> Scores</a:t>
            </a:r>
            <a:endParaRPr lang="en-US" sz="1000" dirty="0">
              <a:solidFill>
                <a:srgbClr val="1A4359"/>
              </a:solidFill>
              <a:latin typeface="Avenir Medium" panose="02000603020000020003" pitchFamily="2" charset="0"/>
            </a:endParaRPr>
          </a:p>
        </p:txBody>
      </p:sp>
      <p:graphicFrame>
        <p:nvGraphicFramePr>
          <p:cNvPr id="8" name="Grafiek 7">
            <a:extLst>
              <a:ext uri="{FF2B5EF4-FFF2-40B4-BE49-F238E27FC236}">
                <a16:creationId xmlns:a16="http://schemas.microsoft.com/office/drawing/2014/main" id="{5A54B5C3-A083-C7FF-0105-5CCCF65BE89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998072549"/>
              </p:ext>
            </p:extLst>
          </p:nvPr>
        </p:nvGraphicFramePr>
        <p:xfrm>
          <a:off x="203374" y="3669799"/>
          <a:ext cx="3207769" cy="29137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graphicFrame>
        <p:nvGraphicFramePr>
          <p:cNvPr id="46" name="Grafiek 45">
            <a:extLst>
              <a:ext uri="{FF2B5EF4-FFF2-40B4-BE49-F238E27FC236}">
                <a16:creationId xmlns:a16="http://schemas.microsoft.com/office/drawing/2014/main" id="{C19D9A23-11F5-431B-AEC7-9CA6056EA6C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756882687"/>
              </p:ext>
            </p:extLst>
          </p:nvPr>
        </p:nvGraphicFramePr>
        <p:xfrm>
          <a:off x="1831313" y="2599125"/>
          <a:ext cx="1517300" cy="60827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graphicFrame>
        <p:nvGraphicFramePr>
          <p:cNvPr id="47" name="Grafiek 46">
            <a:extLst>
              <a:ext uri="{FF2B5EF4-FFF2-40B4-BE49-F238E27FC236}">
                <a16:creationId xmlns:a16="http://schemas.microsoft.com/office/drawing/2014/main" id="{46F8CD61-2F28-4332-847B-E5E98AF3A3E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760124081"/>
              </p:ext>
            </p:extLst>
          </p:nvPr>
        </p:nvGraphicFramePr>
        <p:xfrm>
          <a:off x="3499544" y="2597627"/>
          <a:ext cx="1517300" cy="61487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8"/>
          </a:graphicData>
        </a:graphic>
      </p:graphicFrame>
      <p:pic>
        <p:nvPicPr>
          <p:cNvPr id="39" name="Afbeelding 38">
            <a:extLst>
              <a:ext uri="{FF2B5EF4-FFF2-40B4-BE49-F238E27FC236}">
                <a16:creationId xmlns:a16="http://schemas.microsoft.com/office/drawing/2014/main" id="{C7D09ACB-B444-4456-8D19-9CBC98677D1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-1" b="56935"/>
          <a:stretch/>
        </p:blipFill>
        <p:spPr>
          <a:xfrm>
            <a:off x="-8" y="9446016"/>
            <a:ext cx="6858000" cy="252022"/>
          </a:xfrm>
          <a:prstGeom prst="rect">
            <a:avLst/>
          </a:prstGeom>
        </p:spPr>
      </p:pic>
      <p:cxnSp>
        <p:nvCxnSpPr>
          <p:cNvPr id="53" name="Rechte verbindingslijn 52">
            <a:extLst>
              <a:ext uri="{FF2B5EF4-FFF2-40B4-BE49-F238E27FC236}">
                <a16:creationId xmlns:a16="http://schemas.microsoft.com/office/drawing/2014/main" id="{E8C683DE-E328-4DB1-B4CB-7F03A2651FD8}"/>
              </a:ext>
            </a:extLst>
          </p:cNvPr>
          <p:cNvCxnSpPr>
            <a:cxnSpLocks/>
          </p:cNvCxnSpPr>
          <p:nvPr/>
        </p:nvCxnSpPr>
        <p:spPr>
          <a:xfrm>
            <a:off x="167584" y="1098446"/>
            <a:ext cx="6522833" cy="0"/>
          </a:xfrm>
          <a:prstGeom prst="line">
            <a:avLst/>
          </a:prstGeom>
          <a:ln w="19050">
            <a:solidFill>
              <a:srgbClr val="415573">
                <a:alpha val="3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Rechte verbindingslijn 37">
            <a:extLst>
              <a:ext uri="{FF2B5EF4-FFF2-40B4-BE49-F238E27FC236}">
                <a16:creationId xmlns:a16="http://schemas.microsoft.com/office/drawing/2014/main" id="{E5A47743-9CAB-4E3F-8040-1CD79103323D}"/>
              </a:ext>
            </a:extLst>
          </p:cNvPr>
          <p:cNvCxnSpPr>
            <a:cxnSpLocks/>
          </p:cNvCxnSpPr>
          <p:nvPr/>
        </p:nvCxnSpPr>
        <p:spPr>
          <a:xfrm>
            <a:off x="167584" y="3250334"/>
            <a:ext cx="6522833" cy="0"/>
          </a:xfrm>
          <a:prstGeom prst="line">
            <a:avLst/>
          </a:prstGeom>
          <a:ln w="19050">
            <a:solidFill>
              <a:srgbClr val="415573">
                <a:alpha val="3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3" name="Grafiek 32">
            <a:extLst>
              <a:ext uri="{FF2B5EF4-FFF2-40B4-BE49-F238E27FC236}">
                <a16:creationId xmlns:a16="http://schemas.microsoft.com/office/drawing/2014/main" id="{F309487D-5688-4E8C-984D-53B767E6B0B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166339134"/>
              </p:ext>
            </p:extLst>
          </p:nvPr>
        </p:nvGraphicFramePr>
        <p:xfrm>
          <a:off x="-8" y="5380577"/>
          <a:ext cx="6858008" cy="403014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9"/>
          </a:graphicData>
        </a:graphic>
      </p:graphicFrame>
      <p:cxnSp>
        <p:nvCxnSpPr>
          <p:cNvPr id="41" name="Rechte verbindingslijn 40">
            <a:extLst>
              <a:ext uri="{FF2B5EF4-FFF2-40B4-BE49-F238E27FC236}">
                <a16:creationId xmlns:a16="http://schemas.microsoft.com/office/drawing/2014/main" id="{B23721B5-FEE0-40A4-B3D4-F57A749EB114}"/>
              </a:ext>
            </a:extLst>
          </p:cNvPr>
          <p:cNvCxnSpPr>
            <a:cxnSpLocks/>
          </p:cNvCxnSpPr>
          <p:nvPr/>
        </p:nvCxnSpPr>
        <p:spPr>
          <a:xfrm>
            <a:off x="167584" y="5371676"/>
            <a:ext cx="6522833" cy="0"/>
          </a:xfrm>
          <a:prstGeom prst="line">
            <a:avLst/>
          </a:prstGeom>
          <a:ln w="19050">
            <a:solidFill>
              <a:srgbClr val="415573">
                <a:alpha val="3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kstvak 1">
            <a:extLst>
              <a:ext uri="{FF2B5EF4-FFF2-40B4-BE49-F238E27FC236}">
                <a16:creationId xmlns:a16="http://schemas.microsoft.com/office/drawing/2014/main" id="{CC8F653C-D38F-A4F7-13ED-4E741ABE32AD}"/>
              </a:ext>
            </a:extLst>
          </p:cNvPr>
          <p:cNvSpPr txBox="1"/>
          <p:nvPr/>
        </p:nvSpPr>
        <p:spPr>
          <a:xfrm>
            <a:off x="-177800" y="9461385"/>
            <a:ext cx="721360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algn="ctr" defTabSz="685871" rtl="0" eaLnBrk="1" fontAlgn="ctr" latinLnBrk="0" hangingPunct="1"/>
            <a:r>
              <a:rPr lang="en-US" sz="800" u="none" strike="noStrike" kern="1200" dirty="0" err="1">
                <a:solidFill>
                  <a:schemeClr val="bg1">
                    <a:lumMod val="95000"/>
                  </a:schemeClr>
                </a:solidFill>
                <a:effectLst/>
                <a:latin typeface="Avenir Light" panose="020B0402020203020204" pitchFamily="34" charset="0"/>
              </a:rPr>
              <a:t>PHfootnotevisittool</a:t>
            </a:r>
            <a:endParaRPr lang="en-US" sz="800" u="none" strike="noStrike" kern="1200" dirty="0">
              <a:solidFill>
                <a:schemeClr val="bg1">
                  <a:lumMod val="95000"/>
                </a:schemeClr>
              </a:solidFill>
              <a:effectLst/>
              <a:latin typeface="Avenir Light" panose="020B0402020203020204" pitchFamily="34" charset="0"/>
            </a:endParaRPr>
          </a:p>
        </p:txBody>
      </p:sp>
      <p:cxnSp>
        <p:nvCxnSpPr>
          <p:cNvPr id="3" name="Rechte verbindingslijn 2">
            <a:extLst>
              <a:ext uri="{FF2B5EF4-FFF2-40B4-BE49-F238E27FC236}">
                <a16:creationId xmlns:a16="http://schemas.microsoft.com/office/drawing/2014/main" id="{0A614E03-DCB5-39CD-9DF5-080C0C3220CF}"/>
              </a:ext>
            </a:extLst>
          </p:cNvPr>
          <p:cNvCxnSpPr>
            <a:cxnSpLocks/>
          </p:cNvCxnSpPr>
          <p:nvPr/>
        </p:nvCxnSpPr>
        <p:spPr>
          <a:xfrm>
            <a:off x="167584" y="3250334"/>
            <a:ext cx="6522833" cy="0"/>
          </a:xfrm>
          <a:prstGeom prst="line">
            <a:avLst/>
          </a:prstGeom>
          <a:ln w="19050">
            <a:solidFill>
              <a:srgbClr val="415573">
                <a:alpha val="3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Rechte verbindingslijn 5">
            <a:extLst>
              <a:ext uri="{FF2B5EF4-FFF2-40B4-BE49-F238E27FC236}">
                <a16:creationId xmlns:a16="http://schemas.microsoft.com/office/drawing/2014/main" id="{299A8EE7-0384-5F47-85A0-9E86DEC33D00}"/>
              </a:ext>
            </a:extLst>
          </p:cNvPr>
          <p:cNvCxnSpPr>
            <a:cxnSpLocks/>
          </p:cNvCxnSpPr>
          <p:nvPr/>
        </p:nvCxnSpPr>
        <p:spPr>
          <a:xfrm>
            <a:off x="167584" y="5371676"/>
            <a:ext cx="6522833" cy="0"/>
          </a:xfrm>
          <a:prstGeom prst="line">
            <a:avLst/>
          </a:prstGeom>
          <a:ln w="19050">
            <a:solidFill>
              <a:srgbClr val="415573">
                <a:alpha val="3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Rechte verbindingslijn 9">
            <a:extLst>
              <a:ext uri="{FF2B5EF4-FFF2-40B4-BE49-F238E27FC236}">
                <a16:creationId xmlns:a16="http://schemas.microsoft.com/office/drawing/2014/main" id="{676D1E36-7330-4F98-3FDF-C39365676DD8}"/>
              </a:ext>
            </a:extLst>
          </p:cNvPr>
          <p:cNvCxnSpPr>
            <a:cxnSpLocks/>
          </p:cNvCxnSpPr>
          <p:nvPr/>
        </p:nvCxnSpPr>
        <p:spPr>
          <a:xfrm flipH="1" flipV="1">
            <a:off x="3423908" y="3344354"/>
            <a:ext cx="10185" cy="1800000"/>
          </a:xfrm>
          <a:prstGeom prst="line">
            <a:avLst/>
          </a:prstGeom>
          <a:ln w="19050">
            <a:solidFill>
              <a:srgbClr val="415573">
                <a:alpha val="3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2" name="Grafiek 11">
            <a:extLst>
              <a:ext uri="{FF2B5EF4-FFF2-40B4-BE49-F238E27FC236}">
                <a16:creationId xmlns:a16="http://schemas.microsoft.com/office/drawing/2014/main" id="{FF296AAB-9068-764C-C1C4-9F6BDD47FFD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27337623"/>
              </p:ext>
            </p:extLst>
          </p:nvPr>
        </p:nvGraphicFramePr>
        <p:xfrm>
          <a:off x="3445622" y="3895401"/>
          <a:ext cx="3210242" cy="14627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0"/>
          </a:graphicData>
        </a:graphic>
      </p:graphicFrame>
      <p:graphicFrame>
        <p:nvGraphicFramePr>
          <p:cNvPr id="14" name="Grafiek 13">
            <a:extLst>
              <a:ext uri="{FF2B5EF4-FFF2-40B4-BE49-F238E27FC236}">
                <a16:creationId xmlns:a16="http://schemas.microsoft.com/office/drawing/2014/main" id="{4130838A-D241-A946-B409-A6B58ECA9DF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546504668"/>
              </p:ext>
            </p:extLst>
          </p:nvPr>
        </p:nvGraphicFramePr>
        <p:xfrm>
          <a:off x="3441895" y="3669799"/>
          <a:ext cx="3207769" cy="29137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1"/>
          </a:graphicData>
        </a:graphic>
      </p:graphicFrame>
      <p:sp>
        <p:nvSpPr>
          <p:cNvPr id="15" name="Tekstvak 14">
            <a:extLst>
              <a:ext uri="{FF2B5EF4-FFF2-40B4-BE49-F238E27FC236}">
                <a16:creationId xmlns:a16="http://schemas.microsoft.com/office/drawing/2014/main" id="{5AB7C775-7C18-8E7B-E331-C5560ECC412F}"/>
              </a:ext>
            </a:extLst>
          </p:cNvPr>
          <p:cNvSpPr txBox="1"/>
          <p:nvPr/>
        </p:nvSpPr>
        <p:spPr>
          <a:xfrm>
            <a:off x="4202195" y="3344354"/>
            <a:ext cx="180850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1000" dirty="0">
                <a:solidFill>
                  <a:srgbClr val="1A4359"/>
                </a:solidFill>
                <a:latin typeface="Avenir Medium" panose="02000603020000020003" pitchFamily="2" charset="0"/>
              </a:rPr>
              <a:t>NPS cohort (</a:t>
            </a:r>
            <a:r>
              <a:rPr lang="nl-NL" sz="1000">
                <a:solidFill>
                  <a:srgbClr val="1A4359"/>
                </a:solidFill>
                <a:latin typeface="Avenir Medium" panose="02000603020000020003" pitchFamily="2" charset="0"/>
              </a:rPr>
              <a:t>n=PHCOHN)</a:t>
            </a:r>
            <a:endParaRPr lang="en-US" sz="1000" dirty="0">
              <a:solidFill>
                <a:srgbClr val="1A4359"/>
              </a:solidFill>
              <a:latin typeface="Avenir Medium" panose="02000603020000020003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88914278"/>
      </p:ext>
    </p:extLst>
  </p:cSld>
  <p:clrMapOvr>
    <a:masterClrMapping/>
  </p:clrMapOvr>
</p:sld>
</file>

<file path=ppt/theme/theme1.xml><?xml version="1.0" encoding="utf-8"?>
<a:theme xmlns:a="http://schemas.openxmlformats.org/drawingml/2006/main" name="Kantoorthema">
  <a:themeElements>
    <a:clrScheme name="Aangepast 2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FFFFFF"/>
      </a:hlink>
      <a:folHlink>
        <a:srgbClr val="BFBFBF"/>
      </a:folHlink>
    </a:clrScheme>
    <a:fontScheme name="Kantoorthema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Kantoorthema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12119</TotalTime>
  <Words>63</Words>
  <Application>Microsoft Office PowerPoint</Application>
  <PresentationFormat>Aangepast</PresentationFormat>
  <Paragraphs>46</Paragraphs>
  <Slides>1</Slides>
  <Notes>0</Notes>
  <HiddenSlides>0</HiddenSlides>
  <MMClips>0</MMClips>
  <ScaleCrop>false</ScaleCrop>
  <HeadingPairs>
    <vt:vector size="6" baseType="variant">
      <vt:variant>
        <vt:lpstr>Gebruikte lettertypen</vt:lpstr>
      </vt:variant>
      <vt:variant>
        <vt:i4>5</vt:i4>
      </vt:variant>
      <vt:variant>
        <vt:lpstr>Thema</vt:lpstr>
      </vt:variant>
      <vt:variant>
        <vt:i4>1</vt:i4>
      </vt:variant>
      <vt:variant>
        <vt:lpstr>Diatitels</vt:lpstr>
      </vt:variant>
      <vt:variant>
        <vt:i4>1</vt:i4>
      </vt:variant>
    </vt:vector>
  </HeadingPairs>
  <TitlesOfParts>
    <vt:vector size="7" baseType="lpstr">
      <vt:lpstr>Arial</vt:lpstr>
      <vt:lpstr>Avenir Light</vt:lpstr>
      <vt:lpstr>Avenir Medium</vt:lpstr>
      <vt:lpstr>Calibri</vt:lpstr>
      <vt:lpstr>Calibri Light</vt:lpstr>
      <vt:lpstr>Kantoorthema</vt:lpstr>
      <vt:lpstr>PowerPoint-presentatie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PowerPoint-presentatie</dc:title>
  <dc:creator>Marco Strijker</dc:creator>
  <cp:lastModifiedBy>Marco Strijker</cp:lastModifiedBy>
  <cp:revision>165</cp:revision>
  <dcterms:created xsi:type="dcterms:W3CDTF">2020-08-04T09:12:03Z</dcterms:created>
  <dcterms:modified xsi:type="dcterms:W3CDTF">2024-10-10T12:23:12Z</dcterms:modified>
</cp:coreProperties>
</file>