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6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84" r:id="rId2"/>
    <p:sldMasterId id="2147483696" r:id="rId3"/>
  </p:sldMasterIdLst>
  <p:sldIdLst>
    <p:sldId id="257" r:id="rId4"/>
    <p:sldId id="258" r:id="rId5"/>
  </p:sldIdLst>
  <p:sldSz cx="6858000" cy="9698038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presProps" Target="presProps.xml" /><Relationship Id="rId8" Type="http://schemas.openxmlformats.org/officeDocument/2006/relationships/viewProps" Target="viewProps.xml" /><Relationship Id="rId9" Type="http://schemas.openxmlformats.org/officeDocument/2006/relationships/theme" Target="theme/theme1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_rels/chart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Relationship Id="rId2" Type="http://schemas.microsoft.com/office/2011/relationships/chartColorStyle" Target="colors2.xml" /><Relationship Id="rId3" Type="http://schemas.microsoft.com/office/2011/relationships/chartStyle" Target="style2.xml" /></Relationships>
</file>

<file path=ppt/charts/_rels/chart4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Relationship Id="rId2" Type="http://schemas.microsoft.com/office/2011/relationships/chartColorStyle" Target="colors3.xml" /><Relationship Id="rId3" Type="http://schemas.microsoft.com/office/2011/relationships/chartStyle" Target="style3.xml" /></Relationships>
</file>

<file path=ppt/charts/_rels/chart5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Relationship Id="rId2" Type="http://schemas.microsoft.com/office/2011/relationships/chartColorStyle" Target="colors4.xml" /><Relationship Id="rId3" Type="http://schemas.microsoft.com/office/2011/relationships/chartStyle" Target="style4.xml" /></Relationships>
</file>

<file path=ppt/charts/_rels/chart6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Relationship Id="rId2" Type="http://schemas.microsoft.com/office/2011/relationships/chartColorStyle" Target="colors5.xml" /><Relationship Id="rId3" Type="http://schemas.microsoft.com/office/2011/relationships/chartStyle" Target="style5.xml" /></Relationships>
</file>

<file path=ppt/charts/_rels/chart7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Relationship Id="rId2" Type="http://schemas.microsoft.com/office/2011/relationships/chartColorStyle" Target="colors6.xml" /><Relationship Id="rId3" Type="http://schemas.microsoft.com/office/2011/relationships/chartStyle" Target="style6.xml" /></Relationships>
</file>

<file path=ppt/charts/_rels/chart8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 /><Relationship Id="rId2" Type="http://schemas.microsoft.com/office/2011/relationships/chartColorStyle" Target="colors7.xml" /><Relationship Id="rId3" Type="http://schemas.microsoft.com/office/2011/relationships/chartStyle" Target="style7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14162184670567513"/>
          <c:w val="1"/>
          <c:h val="0.770425379276275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0.125</c:v>
                </c:pt>
                <c:pt idx="1">
                  <c:v>0.45</c:v>
                </c:pt>
                <c:pt idx="2">
                  <c:v>0.3</c:v>
                </c:pt>
                <c:pt idx="3">
                  <c:v>0.2</c:v>
                </c:pt>
                <c:pt idx="4">
                  <c:v>0.125</c:v>
                </c:pt>
                <c:pt idx="5">
                  <c:v>0.45</c:v>
                </c:pt>
                <c:pt idx="6">
                  <c:v>0.3</c:v>
                </c:pt>
                <c:pt idx="7">
                  <c:v>0.2</c:v>
                </c:pt>
                <c:pt idx="8">
                  <c:v>0.125</c:v>
                </c:pt>
                <c:pt idx="9">
                  <c:v>0.45</c:v>
                </c:pt>
                <c:pt idx="10">
                  <c:v>0.3</c:v>
                </c:pt>
                <c:pt idx="11">
                  <c:v>0.2</c:v>
                </c:pt>
                <c:pt idx="1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Blad1!$C$2:$C$14</c:f>
              <c:numCache>
                <c:formatCode>General</c:formatCode>
                <c:ptCount val="13"/>
                <c:pt idx="0">
                  <c:v>0.5</c:v>
                </c:pt>
                <c:pt idx="1">
                  <c:v>0.05</c:v>
                </c:pt>
                <c:pt idx="2">
                  <c:v>0.3</c:v>
                </c:pt>
                <c:pt idx="3">
                  <c:v>0.6</c:v>
                </c:pt>
                <c:pt idx="4">
                  <c:v>0.5</c:v>
                </c:pt>
                <c:pt idx="5">
                  <c:v>0.05</c:v>
                </c:pt>
                <c:pt idx="6">
                  <c:v>0.3</c:v>
                </c:pt>
                <c:pt idx="7">
                  <c:v>0.6</c:v>
                </c:pt>
                <c:pt idx="8">
                  <c:v>0.5</c:v>
                </c:pt>
                <c:pt idx="9">
                  <c:v>0.05</c:v>
                </c:pt>
                <c:pt idx="10">
                  <c:v>0.3</c:v>
                </c:pt>
                <c:pt idx="11">
                  <c:v>0.6</c:v>
                </c:pt>
                <c:pt idx="1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3B-410E-BEA0-28D91E226ED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Blad1!$D$2:$D$14</c:f>
              <c:numCache>
                <c:formatCode>General</c:formatCode>
                <c:ptCount val="13"/>
                <c:pt idx="0">
                  <c:v>0.375</c:v>
                </c:pt>
                <c:pt idx="1">
                  <c:v>0.5</c:v>
                </c:pt>
                <c:pt idx="2">
                  <c:v>0.4</c:v>
                </c:pt>
                <c:pt idx="3">
                  <c:v>0.4</c:v>
                </c:pt>
                <c:pt idx="4">
                  <c:v>0.375</c:v>
                </c:pt>
                <c:pt idx="5">
                  <c:v>0.5</c:v>
                </c:pt>
                <c:pt idx="6">
                  <c:v>0.4</c:v>
                </c:pt>
                <c:pt idx="7">
                  <c:v>0.4</c:v>
                </c:pt>
                <c:pt idx="8">
                  <c:v>0.375</c:v>
                </c:pt>
                <c:pt idx="9">
                  <c:v>0.5</c:v>
                </c:pt>
                <c:pt idx="10">
                  <c:v>0.4</c:v>
                </c:pt>
                <c:pt idx="11">
                  <c:v>0.4</c:v>
                </c:pt>
                <c:pt idx="1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1155526192"/>
        <c:axId val="1155519120"/>
      </c:barChart>
      <c:lineChart>
        <c:grouping val="stacked"/>
        <c:varyColors val="0"/>
        <c:ser>
          <c:idx val="3"/>
          <c:order val="3"/>
          <c:tx>
            <c:strRef>
              <c:f>Blad1!$E$1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solidFill>
                <a:srgbClr val="39364C"/>
              </a:solidFill>
              <a:round/>
            </a:ln>
            <a:effectLst/>
          </c:spPr>
          <c:marker>
            <c:symbol val="circle"/>
            <c:spPr>
              <a:solidFill>
                <a:srgbClr val="39364C"/>
              </a:solidFill>
              <a:ln w="9525">
                <a:solidFill>
                  <a:srgbClr val="39364C"/>
                </a:solidFill>
              </a:ln>
              <a:effectLst/>
            </c:spPr>
          </c:marker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Blad1!$E$2:$E$14</c:f>
              <c:numCache>
                <c:formatCode>General</c:formatCode>
                <c:ptCount val="13"/>
                <c:pt idx="0">
                  <c:v>25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25</c:v>
                </c:pt>
                <c:pt idx="5">
                  <c:v>5</c:v>
                </c:pt>
                <c:pt idx="6">
                  <c:v>10</c:v>
                </c:pt>
                <c:pt idx="7">
                  <c:v>20</c:v>
                </c:pt>
                <c:pt idx="8">
                  <c:v>25</c:v>
                </c:pt>
                <c:pt idx="9">
                  <c:v>5</c:v>
                </c:pt>
                <c:pt idx="10">
                  <c:v>10</c:v>
                </c:pt>
                <c:pt idx="11">
                  <c:v>20</c:v>
                </c:pt>
                <c:pt idx="1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053721151"/>
        <c:axId val="1053720319"/>
      </c:line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0"/>
        <c:axPos val="l"/>
        <c:numFmt formatCode="0%" sourceLinked="1"/>
        <c:majorTickMark val="in"/>
        <c:minorTickMark val="none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26192"/>
        <c:crosses val="autoZero"/>
        <c:crossBetween val="between"/>
        <c:majorUnit val="0.25"/>
      </c:valAx>
      <c:valAx>
        <c:axId val="1053720319"/>
        <c:scaling>
          <c:orientation/>
        </c:scaling>
        <c:delete val="0"/>
        <c:axPos val="r"/>
        <c:numFmt formatCode="General" sourceLinked="1"/>
        <c:majorTickMark val="in"/>
        <c:minorTickMark val="none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053721151"/>
        <c:crosses val="max"/>
        <c:crossBetween val="between"/>
      </c:valAx>
      <c:catAx>
        <c:axId val="1053721151"/>
        <c:scaling>
          <c:orientation/>
        </c:scaling>
        <c:delete val="1"/>
        <c:axPos val="b"/>
        <c:numFmt formatCode="General" sourceLinked="1"/>
        <c:majorTickMark val="out"/>
        <c:minorTickMark val="none"/>
        <c:crossAx val="1053720319"/>
        <c:auto val="0"/>
        <c:lblAlgn val="ctr"/>
        <c:lblOffset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0370347425341606"/>
          <c:y val="0.023872988298535347"/>
          <c:w val="0.9592593312263489"/>
          <c:h val="0.961151957511901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crossAx val="1316767632"/>
        <c:crossesAt val="0.25"/>
        <c:auto val="0"/>
        <c:lblAlgn val="ctr"/>
        <c:lblOffset/>
        <c:noMultiLvlLbl val="0"/>
      </c:catAx>
      <c:valAx>
        <c:axId val="1316767632"/>
        <c:scaling>
          <c:orientation/>
        </c:scaling>
        <c:delete val="1"/>
        <c:axPos val="t"/>
        <c:numFmt formatCode="0%" sourceLinked="1"/>
        <c:majorTickMark val="out"/>
        <c:minorTickMark val="none"/>
        <c:crossAx val="1316758480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14162184670567513"/>
          <c:w val="1"/>
          <c:h val="0.7774774432182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8.5</c:v>
                </c:pt>
                <c:pt idx="1">
                  <c:v>8.4</c:v>
                </c:pt>
                <c:pt idx="2">
                  <c:v>8.1</c:v>
                </c:pt>
                <c:pt idx="3">
                  <c:v>8.7</c:v>
                </c:pt>
                <c:pt idx="4">
                  <c:v>8.5</c:v>
                </c:pt>
                <c:pt idx="5">
                  <c:v>8.6</c:v>
                </c:pt>
                <c:pt idx="6">
                  <c:v>8.8</c:v>
                </c:pt>
                <c:pt idx="7">
                  <c:v>8.7</c:v>
                </c:pt>
                <c:pt idx="8">
                  <c:v>8.9</c:v>
                </c:pt>
                <c:pt idx="9">
                  <c:v>8.5</c:v>
                </c:pt>
                <c:pt idx="10">
                  <c:v>9.2</c:v>
                </c:pt>
                <c:pt idx="11">
                  <c:v>9</c:v>
                </c:pt>
                <c:pt idx="12">
                  <c:v>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33-44E5-925B-3ED4ECEC4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919696808"/>
          <c:w val="1"/>
          <c:h val="0.6880192160606384"/>
        </c:manualLayout>
      </c:layout>
      <c:lineChart>
        <c:grouping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Blad1!$A$2:$A$14</c:f>
              <c:strCache>
                <c:ptCount val="13"/>
                <c:pt idx="0">
                  <c:v>-25</c:v>
                </c:pt>
                <c:pt idx="1">
                  <c:v>-10</c:v>
                </c:pt>
                <c:pt idx="2">
                  <c:v>+ 5</c:v>
                </c:pt>
                <c:pt idx="3">
                  <c:v>-25</c:v>
                </c:pt>
                <c:pt idx="4">
                  <c:v>-10</c:v>
                </c:pt>
                <c:pt idx="5">
                  <c:v>+ 5</c:v>
                </c:pt>
                <c:pt idx="6">
                  <c:v>-25</c:v>
                </c:pt>
                <c:pt idx="7">
                  <c:v>-10</c:v>
                </c:pt>
                <c:pt idx="8">
                  <c:v>+ 5</c:v>
                </c:pt>
                <c:pt idx="9">
                  <c:v>-25</c:v>
                </c:pt>
                <c:pt idx="10">
                  <c:v>-10</c:v>
                </c:pt>
                <c:pt idx="11">
                  <c:v>+ 5</c:v>
                </c:pt>
                <c:pt idx="12">
                  <c:v>+ 6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27-426D-993D-9264E62EC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164478464"/>
        <c:axId val="1164478048"/>
      </c:lineChart>
      <c:catAx>
        <c:axId val="1164478464"/>
        <c:scaling>
          <c:orientation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20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/>
        <c:noMultiLvlLbl val="0"/>
      </c:catAx>
      <c:valAx>
        <c:axId val="1164478048"/>
        <c:scaling>
          <c:orientation/>
        </c:scaling>
        <c:delete val="1"/>
        <c:axPos val="l"/>
        <c:numFmt formatCode="General" sourceLinked="1"/>
        <c:majorTickMark val="out"/>
        <c:minorTickMark val="none"/>
        <c:crossAx val="1164478464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 sz="1200" b="0" smtId="4294967295">
          <a:solidFill>
            <a:srgbClr val="39364C"/>
          </a:solidFill>
          <a:latin typeface="Avenir Book" panose="02000503020000020003" pitchFamily="2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en-US" sz="1100" b="0" i="0" u="none" strike="noStrike" kern="1200" spc="0" baseline="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100" kern="120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Geslacht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 marL="0" algn="ctr" defTabSz="457200" rtl="0" eaLnBrk="1" latinLnBrk="0" hangingPunct="1">
            <a:defRPr lang="en-US" sz="1100" b="0" i="0" u="none" strike="noStrike" kern="1200" spc="0" baseline="0" smtId="4294967295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E71D-4B2C-9C6A-239C67BF67EE}"/>
              </c:ext>
            </c:extLst>
          </c:dPt>
          <c:dPt>
            <c:idx val="1"/>
            <c:invertIfNegative val="1"/>
            <c:spPr>
              <a:solidFill>
                <a:srgbClr val="EE7444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E71D-4B2C-9C6A-239C67BF67EE}"/>
              </c:ext>
            </c:extLst>
          </c:dPt>
          <c:dPt>
            <c:idx val="2"/>
            <c:invertIfNegative val="1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5-E71D-4B2C-9C6A-239C67BF67EE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p>
                <a:pPr algn="ctr">
                  <a:defRPr lang="en-US" sz="1050" b="0" i="0" u="none" strike="noStrike" kern="1200" baseline="0" smtId="4294967295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/>
            <c:extLst/>
          </c:dLbls>
          <c:cat>
            <c:strRef>
              <c:f>Blad1!$A$2:$A$4</c:f>
              <c:strCache>
                <c:ptCount val="3"/>
                <c:pt idx="0">
                  <c:v>Man</c:v>
                </c:pt>
                <c:pt idx="1">
                  <c:v>Vrouw</c:v>
                </c:pt>
                <c:pt idx="2">
                  <c:v>Anders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5-406C-A42D-59A8CAD5A4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000" b="0" i="0" u="none" strike="noStrike" kern="1200" baseline="0" smtId="4294967295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nl-NL" sz="1100" b="0" i="0" u="none" strike="noStrike" kern="1200" spc="0" baseline="0" smtClean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nl-NL" sz="1100" b="0" i="0" u="none" strike="noStrike" kern="1200" spc="0" baseline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Type bezoeker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 marL="0" algn="ctr" defTabSz="457200" rtl="0" eaLnBrk="1" latinLnBrk="0" hangingPunct="1">
            <a:defRPr lang="nl-NL" sz="1100" b="0" i="0" u="none" strike="noStrike" kern="1200" spc="0" baseline="0" smtId="4294967295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Type bezoeker</c:v>
                </c:pt>
              </c:strCache>
            </c:strRef>
          </c:tx>
          <c:spPr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9B4B-4E8B-94AC-D512352B7B9D}"/>
              </c:ext>
            </c:extLst>
          </c:dPt>
          <c:dPt>
            <c:idx val="1"/>
            <c:invertIfNegative val="1"/>
            <c:spPr>
              <a:solidFill>
                <a:srgbClr val="EE7444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9B4B-4E8B-94AC-D512352B7B9D}"/>
              </c:ext>
            </c:extLst>
          </c:dPt>
          <c:dPt>
            <c:idx val="2"/>
            <c:invertIfNegative val="1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5-9B4B-4E8B-94AC-D512352B7B9D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/>
            <c:extLst/>
          </c:dLbls>
          <c:cat>
            <c:strRef>
              <c:f>Blad1!$A$2:$A$4</c:f>
              <c:strCache>
                <c:ptCount val="3"/>
                <c:pt idx="0">
                  <c:v>1e kwrt</c:v>
                </c:pt>
                <c:pt idx="1">
                  <c:v>2e kwrt</c:v>
                </c:pt>
                <c:pt idx="2">
                  <c:v>3e kwrt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4B-4E8B-94AC-D512352B7B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lang="en-US" sz="1000" b="0" i="0" u="none" strike="noStrike" kern="1200" baseline="0" smtId="4294967295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321727753"/>
          <c:w val="1"/>
          <c:h val="0.6338665485382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BA-40F7-8D5A-385DEAE863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607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BA-40F7-8D5A-385DEAE8636F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867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7BA-40F7-8D5A-385DEAE863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433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BA-40F7-8D5A-385DEAE863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BA-40F7-8D5A-385DEAE863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356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BA-40F7-8D5A-385DEAE863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283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7BA-40F7-8D5A-385DEAE8636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233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BA-40F7-8D5A-385DEAE8636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253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7BA-40F7-8D5A-385DEAE8636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263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BA-40F7-8D5A-385DEAE8636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384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7BA-40F7-8D5A-385DEAE8636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7BA-40F7-8D5A-385DEAE863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321727753"/>
          <c:w val="1"/>
          <c:h val="0.6338665485382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37A-493F-9DC2-F65E37EC30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607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7A-493F-9DC2-F65E37EC3025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867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37A-493F-9DC2-F65E37EC302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433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7A-493F-9DC2-F65E37EC302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37A-493F-9DC2-F65E37EC302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356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37A-493F-9DC2-F65E37EC302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283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37A-493F-9DC2-F65E37EC302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233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37A-493F-9DC2-F65E37EC302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253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37A-493F-9DC2-F65E37EC302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263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37A-493F-9DC2-F65E37EC3025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384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37A-493F-9DC2-F65E37EC302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37A-493F-9DC2-F65E37EC30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a="http://schemas.openxmlformats.org/drawingml/2006/main" xmlns:r="http://schemas.openxmlformats.org/officeDocument/2006/relationships" xmlns:cs="http://schemas.microsoft.com/office/drawing/2012/chartStyle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766CF3D-F412-439E-87FF-78E248B3DB4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329BD17-6BE4-45BE-83D1-313D90AAF11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CF6ED9F-66F8-423F-923D-E336D03D5F8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EA33C29-2DC1-4E46-AB9C-D0FA247CA50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F34EB1FB-FA60-41CF-B85F-B1520DB6B0C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68128D2-062E-4F8A-A1ED-C56CA7E22CB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59EF00D-BF05-4FBE-9526-C0418C86D3E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185911C-F0A3-4B29-9F3A-64928964A39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8D1C4AA-D0FF-4E07-BD8E-2ACE07A8E7C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35E4E6-92D6-477A-AC9B-3211E03F81A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CFBA499-6CD6-4D8B-B893-0665839B73A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1.png" 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Relationship Id="rId6" Type="http://schemas.openxmlformats.org/officeDocument/2006/relationships/chart" Target="../charts/chart4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image" Target="../media/image1.png" /><Relationship Id="rId3" Type="http://schemas.openxmlformats.org/officeDocument/2006/relationships/chart" Target="../charts/chart5.xml" /><Relationship Id="rId4" Type="http://schemas.openxmlformats.org/officeDocument/2006/relationships/chart" Target="../charts/chart6.xml" /><Relationship Id="rId5" Type="http://schemas.openxmlformats.org/officeDocument/2006/relationships/chart" Target="../charts/chart7.xml" /><Relationship Id="rId6" Type="http://schemas.openxmlformats.org/officeDocument/2006/relationships/chart" Target="../charts/chart8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PHtitle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val="3012794404"/>
              </p:ext>
            </p:extLst>
          </p:nvPr>
        </p:nvGraphicFramePr>
        <p:xfrm>
          <a:off x="167584" y="1244145"/>
          <a:ext cx="6522833" cy="174624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2524750" y="648468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rgbClr val="39364C"/>
                </a:solidFill>
                <a:latin typeface="Avenir Medium" panose="02000603020000020003" pitchFamily="2" charset="0"/>
              </a:rPr>
              <a:t>NPS score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nl-NL" sz="850" u="none" strike="noStrike" kern="120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val="4229799936"/>
              </p:ext>
            </p:extLst>
          </p:nvPr>
        </p:nvGraphicFramePr>
        <p:xfrm>
          <a:off x="-8" y="4629503"/>
          <a:ext cx="6858008" cy="469736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/>
          <p:nvPr/>
        </p:nvCxnSpPr>
        <p:spPr>
          <a:xfrm>
            <a:off x="167584" y="300007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Grafiek 11">
            <a:extLst>
              <a:ext uri="{FF2B5EF4-FFF2-40B4-BE49-F238E27FC236}">
                <a16:creationId xmlns:a16="http://schemas.microsoft.com/office/drawing/2014/main" id="{E2B10EB5-67E0-7AE7-30BF-EB6B22E4FD66}"/>
              </a:ext>
            </a:extLst>
          </p:cNvPr>
          <p:cNvGraphicFramePr/>
          <p:nvPr>
            <p:extLst>
              <p:ext uri="{D42A27DB-BD31-4B8C-83A1-F6EECF244321}">
                <p14:modId val="716364788"/>
              </p:ext>
            </p:extLst>
          </p:nvPr>
        </p:nvGraphicFramePr>
        <p:xfrm>
          <a:off x="573881" y="3376824"/>
          <a:ext cx="5710239" cy="113353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3C30A15D-9C34-0734-D507-CC7C6AA81E24}"/>
              </a:ext>
            </a:extLst>
          </p:cNvPr>
          <p:cNvCxnSpPr/>
          <p:nvPr/>
        </p:nvCxnSpPr>
        <p:spPr>
          <a:xfrm>
            <a:off x="182812" y="461598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708B5530-F183-4A8C-F13E-37E95D8AE67E}"/>
              </a:ext>
            </a:extLst>
          </p:cNvPr>
          <p:cNvSpPr txBox="1"/>
          <p:nvPr/>
        </p:nvSpPr>
        <p:spPr>
          <a:xfrm>
            <a:off x="2524741" y="3057646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100">
                <a:solidFill>
                  <a:srgbClr val="39364C"/>
                </a:solidFill>
                <a:latin typeface="Avenir Medium" panose="02000603020000020003" pitchFamily="2" charset="0"/>
              </a:rPr>
              <a:t>Aantal respondenten</a:t>
            </a:r>
            <a:endParaRPr lang="en-US" sz="110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7" name="Grafiek 6">
            <a:extLst>
              <a:ext uri="{FF2B5EF4-FFF2-40B4-BE49-F238E27FC236}">
                <a16:creationId xmlns:a16="http://schemas.microsoft.com/office/drawing/2014/main" id="{9F2C763F-5FA0-532B-1F51-D3FA769FEA67}"/>
              </a:ext>
            </a:extLst>
          </p:cNvPr>
          <p:cNvGraphicFramePr/>
          <p:nvPr>
            <p:extLst>
              <p:ext uri="{D42A27DB-BD31-4B8C-83A1-F6EECF244321}">
                <p14:modId val="833762030"/>
              </p:ext>
            </p:extLst>
          </p:nvPr>
        </p:nvGraphicFramePr>
        <p:xfrm>
          <a:off x="661988" y="1015703"/>
          <a:ext cx="5725604" cy="261611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val="2688914278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PHtitle</a:t>
            </a:r>
            <a:endParaRPr lang="en-US" sz="1600" i="0" u="none" strike="noStrike">
              <a:solidFill>
                <a:schemeClr val="bg1"/>
              </a:solidFill>
              <a:effectLst/>
              <a:latin typeface="Avenir Medium" panose="02000603020000020003" pitchFamily="2" charset="0"/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nl-NL" sz="850" u="none" strike="noStrike" kern="120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01317F0-D724-EE58-89B4-0CC72437AF74}"/>
              </a:ext>
            </a:extLst>
          </p:cNvPr>
          <p:cNvSpPr txBox="1"/>
          <p:nvPr/>
        </p:nvSpPr>
        <p:spPr>
          <a:xfrm>
            <a:off x="198976" y="6652855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motivationtitle</a:t>
            </a:r>
            <a:endParaRPr lang="nl-NL" sz="110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motivationcontents</a:t>
            </a:r>
            <a:endParaRPr lang="nl-NL" sz="110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3B370EC-F16C-26C6-E728-D8B968FC050C}"/>
              </a:ext>
            </a:extLst>
          </p:cNvPr>
          <p:cNvSpPr txBox="1"/>
          <p:nvPr/>
        </p:nvSpPr>
        <p:spPr>
          <a:xfrm>
            <a:off x="1185827" y="1990280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chemeClr val="bg1"/>
                </a:solidFill>
              </a:rPr>
              <a:t>55%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FF58C39-DED9-7F4D-7A95-121BFD08E542}"/>
              </a:ext>
            </a:extLst>
          </p:cNvPr>
          <p:cNvSpPr txBox="1"/>
          <p:nvPr/>
        </p:nvSpPr>
        <p:spPr>
          <a:xfrm>
            <a:off x="2073837" y="1697912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chemeClr val="bg1"/>
                </a:solidFill>
              </a:rPr>
              <a:t>43%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601B9CB-86EE-9174-30F7-DBF6EF496344}"/>
              </a:ext>
            </a:extLst>
          </p:cNvPr>
          <p:cNvSpPr txBox="1"/>
          <p:nvPr/>
        </p:nvSpPr>
        <p:spPr>
          <a:xfrm>
            <a:off x="1732926" y="103601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>
                <a:solidFill>
                  <a:schemeClr val="bg1"/>
                </a:solidFill>
              </a:rPr>
              <a:t>2%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8CFDB6D7-5194-D9DB-8F55-200C2428AF9D}"/>
              </a:ext>
            </a:extLst>
          </p:cNvPr>
          <p:cNvSpPr txBox="1"/>
          <p:nvPr/>
        </p:nvSpPr>
        <p:spPr>
          <a:xfrm>
            <a:off x="4824140" y="2166826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chemeClr val="bg1"/>
                </a:solidFill>
              </a:rPr>
              <a:t>97%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A8D4A13-35C9-B343-F291-DDCD220692AF}"/>
              </a:ext>
            </a:extLst>
          </p:cNvPr>
          <p:cNvSpPr txBox="1"/>
          <p:nvPr/>
        </p:nvSpPr>
        <p:spPr>
          <a:xfrm>
            <a:off x="4758421" y="106577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>
                <a:solidFill>
                  <a:schemeClr val="bg1"/>
                </a:solidFill>
              </a:rPr>
              <a:t>2%</a:t>
            </a:r>
          </a:p>
        </p:txBody>
      </p:sp>
      <p:graphicFrame>
        <p:nvGraphicFramePr>
          <p:cNvPr id="17" name="Grafiek 16">
            <a:extLst>
              <a:ext uri="{FF2B5EF4-FFF2-40B4-BE49-F238E27FC236}">
                <a16:creationId xmlns:a16="http://schemas.microsoft.com/office/drawing/2014/main" id="{2142E987-E793-ED1F-EBCD-AD7D0A3A28F8}"/>
              </a:ext>
            </a:extLst>
          </p:cNvPr>
          <p:cNvGraphicFramePr/>
          <p:nvPr>
            <p:extLst>
              <p:ext uri="{D42A27DB-BD31-4B8C-83A1-F6EECF244321}">
                <p14:modId val="1087571929"/>
              </p:ext>
            </p:extLst>
          </p:nvPr>
        </p:nvGraphicFramePr>
        <p:xfrm>
          <a:off x="337795" y="669579"/>
          <a:ext cx="3091196" cy="241486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8" name="Grafiek 17">
            <a:extLst>
              <a:ext uri="{FF2B5EF4-FFF2-40B4-BE49-F238E27FC236}">
                <a16:creationId xmlns:a16="http://schemas.microsoft.com/office/drawing/2014/main" id="{BC47EC23-A340-DE1C-DCFB-8A0F8AA737B4}"/>
              </a:ext>
            </a:extLst>
          </p:cNvPr>
          <p:cNvGraphicFramePr/>
          <p:nvPr>
            <p:extLst>
              <p:ext uri="{D42A27DB-BD31-4B8C-83A1-F6EECF244321}">
                <p14:modId val="353353687"/>
              </p:ext>
            </p:extLst>
          </p:nvPr>
        </p:nvGraphicFramePr>
        <p:xfrm>
          <a:off x="3426626" y="664076"/>
          <a:ext cx="3091197" cy="241486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1" name="Grafiek 20">
            <a:extLst>
              <a:ext uri="{FF2B5EF4-FFF2-40B4-BE49-F238E27FC236}">
                <a16:creationId xmlns:a16="http://schemas.microsoft.com/office/drawing/2014/main" id="{A8F4C482-751B-98E2-0B01-F143D5FD5C3D}"/>
              </a:ext>
            </a:extLst>
          </p:cNvPr>
          <p:cNvGraphicFramePr/>
          <p:nvPr>
            <p:extLst>
              <p:ext uri="{D42A27DB-BD31-4B8C-83A1-F6EECF244321}">
                <p14:modId val="2674342088"/>
              </p:ext>
            </p:extLst>
          </p:nvPr>
        </p:nvGraphicFramePr>
        <p:xfrm>
          <a:off x="337795" y="3594799"/>
          <a:ext cx="6116691" cy="113353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6B10477A-4A9F-5531-31C8-2822236712CB}"/>
              </a:ext>
            </a:extLst>
          </p:cNvPr>
          <p:cNvGraphicFramePr/>
          <p:nvPr>
            <p:extLst>
              <p:ext uri="{D42A27DB-BD31-4B8C-83A1-F6EECF244321}">
                <p14:modId val="1346419805"/>
              </p:ext>
            </p:extLst>
          </p:nvPr>
        </p:nvGraphicFramePr>
        <p:xfrm>
          <a:off x="337795" y="5187552"/>
          <a:ext cx="6116691" cy="113353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4C5A3DDD-CC51-5FCC-BC94-4774D438CBE6}"/>
              </a:ext>
            </a:extLst>
          </p:cNvPr>
          <p:cNvSpPr txBox="1"/>
          <p:nvPr/>
        </p:nvSpPr>
        <p:spPr>
          <a:xfrm>
            <a:off x="2524750" y="3247447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err="1">
                <a:solidFill>
                  <a:srgbClr val="39364C"/>
                </a:solidFill>
                <a:latin typeface="Avenir Medium" panose="02000603020000020003" pitchFamily="2" charset="0"/>
              </a:rPr>
              <a:t>Leeftijdscategorie</a:t>
            </a:r>
            <a:endParaRPr lang="en-US" sz="110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AA7DB6D6-F360-BB50-6349-386AC5BD4327}"/>
              </a:ext>
            </a:extLst>
          </p:cNvPr>
          <p:cNvSpPr txBox="1"/>
          <p:nvPr/>
        </p:nvSpPr>
        <p:spPr>
          <a:xfrm>
            <a:off x="2524738" y="4843262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err="1">
                <a:solidFill>
                  <a:srgbClr val="39364C"/>
                </a:solidFill>
                <a:latin typeface="Avenir Medium" panose="02000603020000020003" pitchFamily="2" charset="0"/>
              </a:rPr>
              <a:t>Samenstelling gezelschap</a:t>
            </a:r>
            <a:endParaRPr lang="en-US" sz="110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375219D2-3C9F-53A7-006A-456DCE2545D1}"/>
              </a:ext>
            </a:extLst>
          </p:cNvPr>
          <p:cNvCxnSpPr/>
          <p:nvPr/>
        </p:nvCxnSpPr>
        <p:spPr>
          <a:xfrm>
            <a:off x="167584" y="31203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26">
            <a:extLst>
              <a:ext uri="{FF2B5EF4-FFF2-40B4-BE49-F238E27FC236}">
                <a16:creationId xmlns:a16="http://schemas.microsoft.com/office/drawing/2014/main" id="{3018C3BC-81D7-6B5E-9C8A-BF851CE812C8}"/>
              </a:ext>
            </a:extLst>
          </p:cNvPr>
          <p:cNvCxnSpPr/>
          <p:nvPr/>
        </p:nvCxnSpPr>
        <p:spPr>
          <a:xfrm>
            <a:off x="182812" y="65318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kstvak 2">
            <a:extLst>
              <a:ext uri="{FF2B5EF4-FFF2-40B4-BE49-F238E27FC236}">
                <a16:creationId xmlns:a16="http://schemas.microsoft.com/office/drawing/2014/main" id="{4CEC9429-8368-02C8-1BC6-07CB487BADD5}"/>
              </a:ext>
            </a:extLst>
          </p:cNvPr>
          <p:cNvSpPr txBox="1"/>
          <p:nvPr/>
        </p:nvSpPr>
        <p:spPr>
          <a:xfrm>
            <a:off x="196611" y="7979290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ottctitle</a:t>
            </a:r>
            <a:endParaRPr lang="nl-NL" sz="110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ottccontents</a:t>
            </a:r>
            <a:endParaRPr lang="nl-NL" sz="110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val="249866907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5.06.14"/>
  <p:tag name="AS_TITLE" val="Aspose.Slides for .NET6"/>
  <p:tag name="AS_VERSION" val="25.6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17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Calibri</vt:lpstr>
      <vt:lpstr>Calibri Light</vt:lpstr>
      <vt:lpstr>Avenir Medium</vt:lpstr>
      <vt:lpstr>Avenir Book</vt:lpstr>
      <vt:lpstr>Avenir Light</vt:lpstr>
      <vt:lpstr>Times New Roman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25.0600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2026-01-07T08:00:39.045</cp:lastPrinted>
  <dcterms:created xsi:type="dcterms:W3CDTF">2026-01-07T08:00:39Z</dcterms:created>
  <dcterms:modified xsi:type="dcterms:W3CDTF">2026-01-07T08:00:39Z</dcterms:modified>
</cp:coreProperties>
</file>