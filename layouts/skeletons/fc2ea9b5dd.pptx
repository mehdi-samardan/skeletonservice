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embedTrueTypeFonts="1" autoCompressPictures="0">
  <p:sldMasterIdLst>
    <p:sldMasterId id="2147483648" r:id="rId1"/>
  </p:sldMasterIdLst>
  <p:notesMasterIdLst>
    <p:notesMasterId r:id="rId3"/>
  </p:notesMasterIdLst>
  <p:sldIdLst>
    <p:sldId id="355" r:id="rId2"/>
  </p:sldIdLst>
  <p:sldSz cx="10799763" cy="7667625"/>
  <p:notesSz cx="6858000" cy="9144000"/>
  <p:embeddedFontLst>
    <p:embeddedFont>
      <p:font typeface="Avenir" panose="020B0503020203020204" pitchFamily="2" charset="0"/>
      <p:regular r:id="rId4"/>
      <p:italic r:id="rId5"/>
    </p:embeddedFont>
    <p:embeddedFont>
      <p:font typeface="Avenir Book" panose="02000503020000020003" pitchFamily="2" charset="0"/>
      <p:regular r:id="rId6"/>
      <p: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hDNQeF+ChRt0HZWKPCYyCtbgBC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501"/>
    <a:srgbClr val="FF8D02"/>
    <a:srgbClr val="42475B"/>
    <a:srgbClr val="3F5573"/>
    <a:srgbClr val="7CAE3E"/>
    <a:srgbClr val="99CD5A"/>
    <a:srgbClr val="3C3950"/>
    <a:srgbClr val="FF0000"/>
    <a:srgbClr val="FFC900"/>
    <a:srgbClr val="374B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Geen stijl, gee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Stijl, licht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4C1A8A3-306A-4EB7-A6B1-4F7E0EB9C5D6}" styleName="Stijl, gemiddeld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Stijl, gemiddeld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Stijl, lich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06799F8-075E-4A3A-A7F6-7FBC6576F1A4}" styleName="Stijl, thema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Stijl, thema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Stijl, lich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Stijl, gemiddeld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77" autoAdjust="0"/>
    <p:restoredTop sz="94762"/>
  </p:normalViewPr>
  <p:slideViewPr>
    <p:cSldViewPr snapToGrid="0" snapToObjects="1">
      <p:cViewPr varScale="1">
        <p:scale>
          <a:sx n="94" d="100"/>
          <a:sy n="94" d="100"/>
        </p:scale>
        <p:origin x="18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font" Target="fonts/font4.fntdata"/><Relationship Id="rId46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49" Type="http://schemas.openxmlformats.org/officeDocument/2006/relationships/theme" Target="theme/theme1.xml"/><Relationship Id="rId4" Type="http://schemas.openxmlformats.org/officeDocument/2006/relationships/font" Target="fonts/font1.fntdata"/><Relationship Id="rId48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582395620368798E-2"/>
          <c:y val="9.7676174364980843E-4"/>
          <c:w val="0.92060671098120406"/>
          <c:h val="0.86514063396827312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Statements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FFFFFF"/>
              </a:solidFill>
            </c:spPr>
            <c:extLst>
              <c:ext xmlns:c16="http://schemas.microsoft.com/office/drawing/2014/chart" uri="{C3380CC4-5D6E-409C-BE32-E72D297353CC}">
                <c16:uniqueId val="{00000001-B01D-4BCA-9FF9-08BDF7916434}"/>
              </c:ext>
            </c:extLst>
          </c:dPt>
          <c:dPt>
            <c:idx val="1"/>
            <c:invertIfNegative val="1"/>
            <c:bubble3D val="0"/>
            <c:spPr>
              <a:solidFill>
                <a:srgbClr val="FFFFFF"/>
              </a:solidFill>
            </c:spPr>
            <c:extLst>
              <c:ext xmlns:c16="http://schemas.microsoft.com/office/drawing/2014/chart" uri="{C3380CC4-5D6E-409C-BE32-E72D297353CC}">
                <c16:uniqueId val="{00000003-B01D-4BCA-9FF9-08BDF7916434}"/>
              </c:ext>
            </c:extLst>
          </c:dPt>
          <c:dPt>
            <c:idx val="2"/>
            <c:invertIfNegative val="1"/>
            <c:bubble3D val="0"/>
            <c:spPr>
              <a:solidFill>
                <a:srgbClr val="FFFFFF"/>
              </a:solidFill>
            </c:spPr>
            <c:extLst>
              <c:ext xmlns:c16="http://schemas.microsoft.com/office/drawing/2014/chart" uri="{C3380CC4-5D6E-409C-BE32-E72D297353CC}">
                <c16:uniqueId val="{00000005-B01D-4BCA-9FF9-08BDF7916434}"/>
              </c:ext>
            </c:extLst>
          </c:dPt>
          <c:dPt>
            <c:idx val="3"/>
            <c:invertIfNegative val="1"/>
            <c:bubble3D val="0"/>
            <c:spPr>
              <a:solidFill>
                <a:srgbClr val="FFFFFF"/>
              </a:solidFill>
            </c:spPr>
            <c:extLst>
              <c:ext xmlns:c16="http://schemas.microsoft.com/office/drawing/2014/chart" uri="{C3380CC4-5D6E-409C-BE32-E72D297353CC}">
                <c16:uniqueId val="{00000007-B01D-4BCA-9FF9-08BDF7916434}"/>
              </c:ext>
            </c:extLst>
          </c:dPt>
          <c:dPt>
            <c:idx val="4"/>
            <c:invertIfNegative val="1"/>
            <c:bubble3D val="0"/>
            <c:spPr>
              <a:solidFill>
                <a:srgbClr val="FFFFFF"/>
              </a:solidFill>
            </c:spPr>
            <c:extLst>
              <c:ext xmlns:c16="http://schemas.microsoft.com/office/drawing/2014/chart" uri="{C3380CC4-5D6E-409C-BE32-E72D297353CC}">
                <c16:uniqueId val="{00000009-B01D-4BCA-9FF9-08BDF7916434}"/>
              </c:ext>
            </c:extLst>
          </c:dPt>
          <c:dPt>
            <c:idx val="5"/>
            <c:invertIfNegative val="1"/>
            <c:bubble3D val="0"/>
            <c:spPr>
              <a:solidFill>
                <a:srgbClr val="FFFFFF"/>
              </a:solidFill>
            </c:spPr>
            <c:extLst>
              <c:ext xmlns:c16="http://schemas.microsoft.com/office/drawing/2014/chart" uri="{C3380CC4-5D6E-409C-BE32-E72D297353CC}">
                <c16:uniqueId val="{0000000B-B01D-4BCA-9FF9-08BDF7916434}"/>
              </c:ext>
            </c:extLst>
          </c:dPt>
          <c:dPt>
            <c:idx val="6"/>
            <c:invertIfNegative val="1"/>
            <c:bubble3D val="0"/>
            <c:spPr>
              <a:solidFill>
                <a:srgbClr val="FFFFFF"/>
              </a:solidFill>
            </c:spPr>
            <c:extLst>
              <c:ext xmlns:c16="http://schemas.microsoft.com/office/drawing/2014/chart" uri="{C3380CC4-5D6E-409C-BE32-E72D297353CC}">
                <c16:uniqueId val="{0000000D-B01D-4BCA-9FF9-08BDF7916434}"/>
              </c:ext>
            </c:extLst>
          </c:dPt>
          <c:dPt>
            <c:idx val="7"/>
            <c:invertIfNegative val="1"/>
            <c:bubble3D val="0"/>
            <c:spPr>
              <a:solidFill>
                <a:srgbClr val="FFFFFF"/>
              </a:solidFill>
            </c:spPr>
            <c:extLst>
              <c:ext xmlns:c16="http://schemas.microsoft.com/office/drawing/2014/chart" uri="{C3380CC4-5D6E-409C-BE32-E72D297353CC}">
                <c16:uniqueId val="{0000000F-B01D-4BCA-9FF9-08BDF7916434}"/>
              </c:ext>
            </c:extLst>
          </c:dPt>
          <c:dPt>
            <c:idx val="8"/>
            <c:invertIfNegative val="1"/>
            <c:bubble3D val="0"/>
            <c:spPr>
              <a:solidFill>
                <a:srgbClr val="FFFFFF"/>
              </a:solidFill>
            </c:spPr>
            <c:extLst>
              <c:ext xmlns:c16="http://schemas.microsoft.com/office/drawing/2014/chart" uri="{C3380CC4-5D6E-409C-BE32-E72D297353CC}">
                <c16:uniqueId val="{00000011-B01D-4BCA-9FF9-08BDF7916434}"/>
              </c:ext>
            </c:extLst>
          </c:dPt>
          <c:dPt>
            <c:idx val="9"/>
            <c:invertIfNegative val="1"/>
            <c:bubble3D val="0"/>
            <c:spPr>
              <a:solidFill>
                <a:srgbClr val="FFFFFF"/>
              </a:solidFill>
            </c:spPr>
            <c:extLst>
              <c:ext xmlns:c16="http://schemas.microsoft.com/office/drawing/2014/chart" uri="{C3380CC4-5D6E-409C-BE32-E72D297353CC}">
                <c16:uniqueId val="{00000013-B01D-4BCA-9FF9-08BDF7916434}"/>
              </c:ext>
            </c:extLst>
          </c:dPt>
          <c:dPt>
            <c:idx val="10"/>
            <c:invertIfNegative val="1"/>
            <c:bubble3D val="0"/>
            <c:spPr>
              <a:solidFill>
                <a:srgbClr val="FFFFFF"/>
              </a:solidFill>
            </c:spPr>
            <c:extLst>
              <c:ext xmlns:c16="http://schemas.microsoft.com/office/drawing/2014/chart" uri="{C3380CC4-5D6E-409C-BE32-E72D297353CC}">
                <c16:uniqueId val="{00000015-B01D-4BCA-9FF9-08BDF7916434}"/>
              </c:ext>
            </c:extLst>
          </c:dPt>
          <c:dPt>
            <c:idx val="11"/>
            <c:invertIfNegative val="1"/>
            <c:bubble3D val="0"/>
            <c:spPr>
              <a:solidFill>
                <a:srgbClr val="FFFFFF"/>
              </a:solidFill>
            </c:spPr>
            <c:extLst>
              <c:ext xmlns:c16="http://schemas.microsoft.com/office/drawing/2014/chart" uri="{C3380CC4-5D6E-409C-BE32-E72D297353CC}">
                <c16:uniqueId val="{00000017-B01D-4BCA-9FF9-08BDF7916434}"/>
              </c:ext>
            </c:extLst>
          </c:dPt>
          <c:dPt>
            <c:idx val="12"/>
            <c:invertIfNegative val="1"/>
            <c:bubble3D val="0"/>
            <c:spPr>
              <a:solidFill>
                <a:srgbClr val="FFFFFF"/>
              </a:solidFill>
            </c:spPr>
            <c:extLst>
              <c:ext xmlns:c16="http://schemas.microsoft.com/office/drawing/2014/chart" uri="{C3380CC4-5D6E-409C-BE32-E72D297353CC}">
                <c16:uniqueId val="{00000019-B01D-4BCA-9FF9-08BDF7916434}"/>
              </c:ext>
            </c:extLst>
          </c:dPt>
          <c:dPt>
            <c:idx val="13"/>
            <c:invertIfNegative val="1"/>
            <c:bubble3D val="0"/>
            <c:spPr>
              <a:solidFill>
                <a:srgbClr val="FFFFFF"/>
              </a:solidFill>
            </c:spPr>
            <c:extLst>
              <c:ext xmlns:c16="http://schemas.microsoft.com/office/drawing/2014/chart" uri="{C3380CC4-5D6E-409C-BE32-E72D297353CC}">
                <c16:uniqueId val="{0000001B-B01D-4BCA-9FF9-08BDF7916434}"/>
              </c:ext>
            </c:extLst>
          </c:dPt>
          <c:dPt>
            <c:idx val="14"/>
            <c:invertIfNegative val="1"/>
            <c:bubble3D val="0"/>
            <c:spPr>
              <a:solidFill>
                <a:srgbClr val="FFFFFF"/>
              </a:solidFill>
            </c:spPr>
            <c:extLst>
              <c:ext xmlns:c16="http://schemas.microsoft.com/office/drawing/2014/chart" uri="{C3380CC4-5D6E-409C-BE32-E72D297353CC}">
                <c16:uniqueId val="{0000001D-B01D-4BCA-9FF9-08BDF7916434}"/>
              </c:ext>
            </c:extLst>
          </c:dPt>
          <c:dPt>
            <c:idx val="15"/>
            <c:invertIfNegative val="1"/>
            <c:bubble3D val="0"/>
            <c:spPr>
              <a:solidFill>
                <a:srgbClr val="FFFFFF"/>
              </a:solidFill>
            </c:spPr>
            <c:extLst>
              <c:ext xmlns:c16="http://schemas.microsoft.com/office/drawing/2014/chart" uri="{C3380CC4-5D6E-409C-BE32-E72D297353CC}">
                <c16:uniqueId val="{0000001F-B01D-4BCA-9FF9-08BDF7916434}"/>
              </c:ext>
            </c:extLst>
          </c:dPt>
          <c:dPt>
            <c:idx val="16"/>
            <c:invertIfNegative val="1"/>
            <c:bubble3D val="0"/>
            <c:spPr>
              <a:solidFill>
                <a:srgbClr val="FFFFFF"/>
              </a:solidFill>
            </c:spPr>
            <c:extLst>
              <c:ext xmlns:c16="http://schemas.microsoft.com/office/drawing/2014/chart" uri="{C3380CC4-5D6E-409C-BE32-E72D297353CC}">
                <c16:uniqueId val="{00000021-B01D-4BCA-9FF9-08BDF7916434}"/>
              </c:ext>
            </c:extLst>
          </c:dPt>
          <c:dPt>
            <c:idx val="17"/>
            <c:invertIfNegative val="1"/>
            <c:bubble3D val="0"/>
            <c:spPr>
              <a:solidFill>
                <a:srgbClr val="FFFFFF"/>
              </a:solidFill>
            </c:spPr>
            <c:extLst>
              <c:ext xmlns:c16="http://schemas.microsoft.com/office/drawing/2014/chart" uri="{C3380CC4-5D6E-409C-BE32-E72D297353CC}">
                <c16:uniqueId val="{00000023-B01D-4BCA-9FF9-08BDF7916434}"/>
              </c:ext>
            </c:extLst>
          </c:dPt>
          <c:dLbls>
            <c:dLbl>
              <c:idx val="0"/>
              <c:tx>
                <c:rich>
                  <a:bodyPr rot="0" spcFirstLastPara="1" vertOverflow="ellipsis" horzOverflow="clip" vert="horz" wrap="non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sng" strike="noStrike" kern="1200" baseline="0">
                        <a:solidFill>
                          <a:srgbClr val="39364C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defRPr>
                    </a:pPr>
                    <a:r>
                      <a:rPr lang="nl-NL" sz="1100" u="sng" dirty="0">
                        <a:solidFill>
                          <a:srgbClr val="39364C"/>
                        </a:solidFill>
                      </a:rPr>
                      <a:t>Is het beste in toepassen van data </a:t>
                    </a:r>
                    <a:r>
                      <a:rPr lang="nl-NL" sz="1100" u="sng" dirty="0" err="1">
                        <a:solidFill>
                          <a:srgbClr val="39364C"/>
                        </a:solidFill>
                      </a:rPr>
                      <a:t>science</a:t>
                    </a:r>
                    <a:r>
                      <a:rPr lang="nl-NL" sz="1100" u="sng" dirty="0">
                        <a:solidFill>
                          <a:srgbClr val="39364C"/>
                        </a:solidFill>
                      </a:rPr>
                      <a:t> methodes – 7,3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B01D-4BCA-9FF9-08BDF791643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nl-NL" sz="1100" dirty="0">
                        <a:solidFill>
                          <a:srgbClr val="39364C"/>
                        </a:solidFill>
                      </a:rPr>
                      <a:t>Is een bekende naam binnen mijn organisatie – 7,5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01D-4BCA-9FF9-08BDF791643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nl-NL" sz="1100" dirty="0">
                        <a:solidFill>
                          <a:srgbClr val="39364C"/>
                        </a:solidFill>
                      </a:rPr>
                      <a:t>Informeert mij goed over haar services – 7,6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B01D-4BCA-9FF9-08BDF791643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100" dirty="0">
                        <a:solidFill>
                          <a:srgbClr val="39364C"/>
                        </a:solidFill>
                      </a:rPr>
                      <a:t>Is </a:t>
                    </a:r>
                    <a:r>
                      <a:rPr lang="en-US" sz="1100" dirty="0" err="1">
                        <a:solidFill>
                          <a:srgbClr val="39364C"/>
                        </a:solidFill>
                      </a:rPr>
                      <a:t>proactief</a:t>
                    </a:r>
                    <a:r>
                      <a:rPr lang="en-US" sz="1100" dirty="0">
                        <a:solidFill>
                          <a:srgbClr val="39364C"/>
                        </a:solidFill>
                      </a:rPr>
                      <a:t> – 8,1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B01D-4BCA-9FF9-08BDF7916434}"/>
                </c:ext>
              </c:extLst>
            </c:dLbl>
            <c:dLbl>
              <c:idx val="4"/>
              <c:tx>
                <c:rich>
                  <a:bodyPr rot="0" spcFirstLastPara="1" vertOverflow="ellipsis" horzOverflow="clip" vert="horz" wrap="non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sng" strike="noStrike" kern="1200" baseline="0">
                        <a:solidFill>
                          <a:srgbClr val="39364C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defRPr>
                    </a:pPr>
                    <a:r>
                      <a:rPr lang="nl-NL" sz="1100" u="sng" dirty="0">
                        <a:solidFill>
                          <a:srgbClr val="39364C"/>
                        </a:solidFill>
                      </a:rPr>
                      <a:t>Levert praktisch toepasbare oplossingen – 8,1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9-B01D-4BCA-9FF9-08BDF7916434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nl-NL" sz="1100" dirty="0">
                        <a:solidFill>
                          <a:srgbClr val="39364C"/>
                        </a:solidFill>
                      </a:rPr>
                      <a:t>Draagt kennis goed over – 8,2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B01D-4BCA-9FF9-08BDF7916434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nl-NL" sz="1100" dirty="0">
                        <a:solidFill>
                          <a:srgbClr val="39364C"/>
                        </a:solidFill>
                      </a:rPr>
                      <a:t>Helpt mij mijn doelen te behalen – 8,2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B01D-4BCA-9FF9-08BDF7916434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100" dirty="0" err="1">
                        <a:solidFill>
                          <a:srgbClr val="39364C"/>
                        </a:solidFill>
                      </a:rPr>
                      <a:t>Begrijpt</a:t>
                    </a:r>
                    <a:r>
                      <a:rPr lang="en-US" sz="1100" dirty="0">
                        <a:solidFill>
                          <a:srgbClr val="39364C"/>
                        </a:solidFill>
                      </a:rPr>
                      <a:t> </a:t>
                    </a:r>
                    <a:r>
                      <a:rPr lang="en-US" sz="1100" dirty="0" err="1">
                        <a:solidFill>
                          <a:srgbClr val="39364C"/>
                        </a:solidFill>
                      </a:rPr>
                      <a:t>onze</a:t>
                    </a:r>
                    <a:r>
                      <a:rPr lang="en-US" sz="1100" dirty="0">
                        <a:solidFill>
                          <a:srgbClr val="39364C"/>
                        </a:solidFill>
                      </a:rPr>
                      <a:t> business – 8,3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B01D-4BCA-9FF9-08BDF7916434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1100" dirty="0" err="1">
                        <a:solidFill>
                          <a:srgbClr val="39364C"/>
                        </a:solidFill>
                      </a:rPr>
                      <a:t>Communiceert</a:t>
                    </a:r>
                    <a:r>
                      <a:rPr lang="en-US" sz="1100" dirty="0">
                        <a:solidFill>
                          <a:srgbClr val="39364C"/>
                        </a:solidFill>
                      </a:rPr>
                      <a:t> </a:t>
                    </a:r>
                    <a:r>
                      <a:rPr lang="en-US" sz="1100" dirty="0" err="1">
                        <a:solidFill>
                          <a:srgbClr val="39364C"/>
                        </a:solidFill>
                      </a:rPr>
                      <a:t>goed</a:t>
                    </a:r>
                    <a:r>
                      <a:rPr lang="en-US" sz="1100" dirty="0">
                        <a:solidFill>
                          <a:srgbClr val="39364C"/>
                        </a:solidFill>
                      </a:rPr>
                      <a:t> – 8,4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B01D-4BCA-9FF9-08BDF7916434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sz="1100" dirty="0" err="1">
                        <a:solidFill>
                          <a:srgbClr val="39364C"/>
                        </a:solidFill>
                      </a:rPr>
                      <a:t>Reageert</a:t>
                    </a:r>
                    <a:r>
                      <a:rPr lang="en-US" sz="1100" dirty="0">
                        <a:solidFill>
                          <a:srgbClr val="39364C"/>
                        </a:solidFill>
                      </a:rPr>
                      <a:t> </a:t>
                    </a:r>
                    <a:r>
                      <a:rPr lang="en-US" sz="1100" dirty="0" err="1">
                        <a:solidFill>
                          <a:srgbClr val="39364C"/>
                        </a:solidFill>
                      </a:rPr>
                      <a:t>snel</a:t>
                    </a:r>
                    <a:r>
                      <a:rPr lang="en-US" sz="1100" dirty="0">
                        <a:solidFill>
                          <a:srgbClr val="39364C"/>
                        </a:solidFill>
                      </a:rPr>
                      <a:t> – 8,4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B01D-4BCA-9FF9-08BDF7916434}"/>
                </c:ext>
              </c:extLst>
            </c:dLbl>
            <c:dLbl>
              <c:idx val="10"/>
              <c:tx>
                <c:rich>
                  <a:bodyPr rot="0" spcFirstLastPara="1" vertOverflow="ellipsis" horzOverflow="clip" vert="horz" wrap="non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sng" strike="noStrike" kern="1200" baseline="0">
                        <a:solidFill>
                          <a:srgbClr val="39364C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defRPr>
                    </a:pPr>
                    <a:r>
                      <a:rPr lang="nl-NL" sz="1100" u="sng" dirty="0">
                        <a:solidFill>
                          <a:srgbClr val="39364C"/>
                        </a:solidFill>
                      </a:rPr>
                      <a:t>Lost complexe problemen op – 8,6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15-B01D-4BCA-9FF9-08BDF7916434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 sz="1100" dirty="0" err="1">
                        <a:solidFill>
                          <a:srgbClr val="39364C"/>
                        </a:solidFill>
                      </a:rPr>
                      <a:t>Luistert</a:t>
                    </a:r>
                    <a:r>
                      <a:rPr lang="en-US" sz="1100" dirty="0">
                        <a:solidFill>
                          <a:srgbClr val="39364C"/>
                        </a:solidFill>
                      </a:rPr>
                      <a:t> </a:t>
                    </a:r>
                    <a:r>
                      <a:rPr lang="en-US" sz="1100" dirty="0" err="1">
                        <a:solidFill>
                          <a:srgbClr val="39364C"/>
                        </a:solidFill>
                      </a:rPr>
                      <a:t>goed</a:t>
                    </a:r>
                    <a:r>
                      <a:rPr lang="en-US" sz="1100" dirty="0">
                        <a:solidFill>
                          <a:srgbClr val="39364C"/>
                        </a:solidFill>
                      </a:rPr>
                      <a:t> – 8,7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7-B01D-4BCA-9FF9-08BDF7916434}"/>
                </c:ext>
              </c:extLst>
            </c:dLbl>
            <c:dLbl>
              <c:idx val="12"/>
              <c:tx>
                <c:rich>
                  <a:bodyPr rot="0" spcFirstLastPara="1" vertOverflow="ellipsis" horzOverflow="clip" vert="horz" wrap="non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sng" strike="noStrike" kern="1200" baseline="0">
                        <a:solidFill>
                          <a:srgbClr val="39364C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defRPr>
                    </a:pPr>
                    <a:r>
                      <a:rPr lang="en-US" sz="1100" b="0" u="sng" dirty="0" err="1">
                        <a:solidFill>
                          <a:srgbClr val="39364C"/>
                        </a:solidFill>
                      </a:rPr>
                      <a:t>Levert</a:t>
                    </a:r>
                    <a:r>
                      <a:rPr lang="en-US" sz="1100" b="0" u="sng" dirty="0">
                        <a:solidFill>
                          <a:srgbClr val="39364C"/>
                        </a:solidFill>
                      </a:rPr>
                      <a:t> </a:t>
                    </a:r>
                    <a:r>
                      <a:rPr lang="en-US" sz="1100" b="0" u="sng" dirty="0" err="1">
                        <a:solidFill>
                          <a:srgbClr val="39364C"/>
                        </a:solidFill>
                      </a:rPr>
                      <a:t>hoge</a:t>
                    </a:r>
                    <a:r>
                      <a:rPr lang="en-US" sz="1100" b="0" u="sng" dirty="0">
                        <a:solidFill>
                          <a:srgbClr val="39364C"/>
                        </a:solidFill>
                      </a:rPr>
                      <a:t> </a:t>
                    </a:r>
                    <a:r>
                      <a:rPr lang="en-US" sz="1100" b="0" u="sng" dirty="0" err="1">
                        <a:solidFill>
                          <a:srgbClr val="39364C"/>
                        </a:solidFill>
                      </a:rPr>
                      <a:t>kwaliteit</a:t>
                    </a:r>
                    <a:r>
                      <a:rPr lang="en-US" sz="1100" b="0" u="sng" dirty="0">
                        <a:solidFill>
                          <a:srgbClr val="39364C"/>
                        </a:solidFill>
                      </a:rPr>
                      <a:t> – 8,8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19-B01D-4BCA-9FF9-08BDF7916434}"/>
                </c:ext>
              </c:extLst>
            </c:dLbl>
            <c:dLbl>
              <c:idx val="13"/>
              <c:tx>
                <c:rich>
                  <a:bodyPr rot="0" spcFirstLastPara="1" vertOverflow="ellipsis" horzOverflow="clip" vert="horz" wrap="non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sng" strike="noStrike" kern="1200" baseline="0">
                        <a:solidFill>
                          <a:srgbClr val="39364C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defRPr>
                    </a:pPr>
                    <a:r>
                      <a:rPr lang="nl-NL" sz="1100" u="sng" dirty="0">
                        <a:solidFill>
                          <a:srgbClr val="39364C"/>
                        </a:solidFill>
                      </a:rPr>
                      <a:t>Is een goede sparringpartner – 8,8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1B-B01D-4BCA-9FF9-08BDF7916434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nl-NL" sz="1100" dirty="0">
                        <a:solidFill>
                          <a:srgbClr val="39364C"/>
                        </a:solidFill>
                      </a:rPr>
                      <a:t>Zet zich volledig in – 8,9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D-B01D-4BCA-9FF9-08BDF7916434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 sz="1100" dirty="0" err="1">
                        <a:solidFill>
                          <a:srgbClr val="39364C"/>
                        </a:solidFill>
                      </a:rPr>
                      <a:t>Werkt</a:t>
                    </a:r>
                    <a:r>
                      <a:rPr lang="en-US" sz="1100" dirty="0">
                        <a:solidFill>
                          <a:srgbClr val="39364C"/>
                        </a:solidFill>
                      </a:rPr>
                      <a:t> </a:t>
                    </a:r>
                    <a:r>
                      <a:rPr lang="en-US" sz="1100" dirty="0" err="1">
                        <a:solidFill>
                          <a:srgbClr val="39364C"/>
                        </a:solidFill>
                      </a:rPr>
                      <a:t>goed</a:t>
                    </a:r>
                    <a:r>
                      <a:rPr lang="en-US" sz="1100" dirty="0">
                        <a:solidFill>
                          <a:srgbClr val="39364C"/>
                        </a:solidFill>
                      </a:rPr>
                      <a:t> </a:t>
                    </a:r>
                    <a:r>
                      <a:rPr lang="en-US" sz="1100" dirty="0" err="1">
                        <a:solidFill>
                          <a:srgbClr val="39364C"/>
                        </a:solidFill>
                      </a:rPr>
                      <a:t>samen</a:t>
                    </a:r>
                    <a:r>
                      <a:rPr lang="en-US" sz="1100" dirty="0">
                        <a:solidFill>
                          <a:srgbClr val="39364C"/>
                        </a:solidFill>
                      </a:rPr>
                      <a:t> – 8,9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F-B01D-4BCA-9FF9-08BDF7916434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r>
                      <a:rPr lang="nl-NL" sz="1100" dirty="0">
                        <a:solidFill>
                          <a:srgbClr val="39364C"/>
                        </a:solidFill>
                      </a:rPr>
                      <a:t>Heeft zeer competente medewerkers – 9,0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1-B01D-4BCA-9FF9-08BDF7916434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r>
                      <a:rPr lang="en-US" sz="1100" dirty="0">
                        <a:solidFill>
                          <a:srgbClr val="39364C"/>
                        </a:solidFill>
                      </a:rPr>
                      <a:t>Is </a:t>
                    </a:r>
                    <a:r>
                      <a:rPr lang="en-US" sz="1100" dirty="0" err="1">
                        <a:solidFill>
                          <a:srgbClr val="39364C"/>
                        </a:solidFill>
                      </a:rPr>
                      <a:t>betrouwbaar</a:t>
                    </a:r>
                    <a:r>
                      <a:rPr lang="en-US" sz="1100" dirty="0">
                        <a:solidFill>
                          <a:srgbClr val="39364C"/>
                        </a:solidFill>
                      </a:rPr>
                      <a:t> – 9,2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3-B01D-4BCA-9FF9-08BDF791643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horzOverflow="clip" vert="horz" wrap="non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39364C"/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Sheet1!$A$2:$A$20</c:f>
              <c:strCache>
                <c:ptCount val="19"/>
                <c:pt idx="0">
                  <c:v>Headers</c:v>
                </c:pt>
                <c:pt idx="1">
                  <c:v>Is het beste in toepassen van data science methodes - 7.3</c:v>
                </c:pt>
                <c:pt idx="2">
                  <c:v>Is een bekende naam binnen mijn organisatie - 7.5</c:v>
                </c:pt>
                <c:pt idx="3">
                  <c:v>Informeert mij goed over haar services - 7.6</c:v>
                </c:pt>
                <c:pt idx="4">
                  <c:v>Is proactief - 8.1</c:v>
                </c:pt>
                <c:pt idx="5">
                  <c:v>Levert praktisch toepasbare oplossingen - 8.1</c:v>
                </c:pt>
                <c:pt idx="6">
                  <c:v>Draagt kennis goed over - 8.2</c:v>
                </c:pt>
                <c:pt idx="7">
                  <c:v>Helpt mij mijn doelen te behalen - 8.2</c:v>
                </c:pt>
                <c:pt idx="8">
                  <c:v>Begrijpt onze business - 8.3</c:v>
                </c:pt>
                <c:pt idx="9">
                  <c:v>Communiceert goed - 8.4</c:v>
                </c:pt>
                <c:pt idx="10">
                  <c:v>Reageert snel - 8.4</c:v>
                </c:pt>
                <c:pt idx="11">
                  <c:v>Lost complexe problemen op - 8.6</c:v>
                </c:pt>
                <c:pt idx="12">
                  <c:v>Luistert goed - 8.7</c:v>
                </c:pt>
                <c:pt idx="13">
                  <c:v>Levert hoge kwaliteit - 8.8</c:v>
                </c:pt>
                <c:pt idx="14">
                  <c:v>Is een goede sparrings partner - 8.8</c:v>
                </c:pt>
                <c:pt idx="15">
                  <c:v>Zet zich volledig in - 8.9</c:v>
                </c:pt>
                <c:pt idx="16">
                  <c:v>Werkt goed samen - 8.9</c:v>
                </c:pt>
                <c:pt idx="17">
                  <c:v>Heeft zeer competente medewerkers - 9.0</c:v>
                </c:pt>
                <c:pt idx="18">
                  <c:v>Is betrouwbaar - 9.2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0.75</c:v>
                </c:pt>
                <c:pt idx="1">
                  <c:v>0.75</c:v>
                </c:pt>
                <c:pt idx="2">
                  <c:v>0.75</c:v>
                </c:pt>
                <c:pt idx="3">
                  <c:v>0.75</c:v>
                </c:pt>
                <c:pt idx="4">
                  <c:v>0.75</c:v>
                </c:pt>
                <c:pt idx="5">
                  <c:v>0.75</c:v>
                </c:pt>
                <c:pt idx="6">
                  <c:v>0.75</c:v>
                </c:pt>
                <c:pt idx="7">
                  <c:v>0.75</c:v>
                </c:pt>
                <c:pt idx="8">
                  <c:v>0.75</c:v>
                </c:pt>
                <c:pt idx="9">
                  <c:v>0.75</c:v>
                </c:pt>
                <c:pt idx="10">
                  <c:v>0.75</c:v>
                </c:pt>
                <c:pt idx="11">
                  <c:v>0.75</c:v>
                </c:pt>
                <c:pt idx="12">
                  <c:v>0.75</c:v>
                </c:pt>
                <c:pt idx="13">
                  <c:v>0.75</c:v>
                </c:pt>
                <c:pt idx="14">
                  <c:v>0.75</c:v>
                </c:pt>
                <c:pt idx="15">
                  <c:v>0.75</c:v>
                </c:pt>
                <c:pt idx="16">
                  <c:v>0.75</c:v>
                </c:pt>
                <c:pt idx="17">
                  <c:v>0.75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4-B01D-4BCA-9FF9-08BDF791643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Volledig mee oneens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5-B01D-4BCA-9FF9-08BDF791643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6-B01D-4BCA-9FF9-08BDF791643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7-B01D-4BCA-9FF9-08BDF791643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8-B01D-4BCA-9FF9-08BDF791643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9-B01D-4BCA-9FF9-08BDF7916434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A-B01D-4BCA-9FF9-08BDF7916434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B-B01D-4BCA-9FF9-08BDF7916434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C-B01D-4BCA-9FF9-08BDF7916434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D-B01D-4BCA-9FF9-08BDF7916434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E-B01D-4BCA-9FF9-08BDF7916434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F-B01D-4BCA-9FF9-08BDF7916434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0-B01D-4BCA-9FF9-08BDF7916434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1-B01D-4BCA-9FF9-08BDF7916434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2-B01D-4BCA-9FF9-08BDF7916434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3-B01D-4BCA-9FF9-08BDF7916434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4-B01D-4BCA-9FF9-08BDF7916434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5-B01D-4BCA-9FF9-08BDF7916434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6-B01D-4BCA-9FF9-08BDF791643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Sheet1!$A$2:$A$20</c:f>
              <c:strCache>
                <c:ptCount val="19"/>
                <c:pt idx="0">
                  <c:v>Headers</c:v>
                </c:pt>
                <c:pt idx="1">
                  <c:v>Is het beste in toepassen van data science methodes - 7.3</c:v>
                </c:pt>
                <c:pt idx="2">
                  <c:v>Is een bekende naam binnen mijn organisatie - 7.5</c:v>
                </c:pt>
                <c:pt idx="3">
                  <c:v>Informeert mij goed over haar services - 7.6</c:v>
                </c:pt>
                <c:pt idx="4">
                  <c:v>Is proactief - 8.1</c:v>
                </c:pt>
                <c:pt idx="5">
                  <c:v>Levert praktisch toepasbare oplossingen - 8.1</c:v>
                </c:pt>
                <c:pt idx="6">
                  <c:v>Draagt kennis goed over - 8.2</c:v>
                </c:pt>
                <c:pt idx="7">
                  <c:v>Helpt mij mijn doelen te behalen - 8.2</c:v>
                </c:pt>
                <c:pt idx="8">
                  <c:v>Begrijpt onze business - 8.3</c:v>
                </c:pt>
                <c:pt idx="9">
                  <c:v>Communiceert goed - 8.4</c:v>
                </c:pt>
                <c:pt idx="10">
                  <c:v>Reageert snel - 8.4</c:v>
                </c:pt>
                <c:pt idx="11">
                  <c:v>Lost complexe problemen op - 8.6</c:v>
                </c:pt>
                <c:pt idx="12">
                  <c:v>Luistert goed - 8.7</c:v>
                </c:pt>
                <c:pt idx="13">
                  <c:v>Levert hoge kwaliteit - 8.8</c:v>
                </c:pt>
                <c:pt idx="14">
                  <c:v>Is een goede sparrings partner - 8.8</c:v>
                </c:pt>
                <c:pt idx="15">
                  <c:v>Zet zich volledig in - 8.9</c:v>
                </c:pt>
                <c:pt idx="16">
                  <c:v>Werkt goed samen - 8.9</c:v>
                </c:pt>
                <c:pt idx="17">
                  <c:v>Heeft zeer competente medewerkers - 9.0</c:v>
                </c:pt>
                <c:pt idx="18">
                  <c:v>Is betrouwbaar - 9.2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5.4644808743169399E-3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7-B01D-4BCA-9FF9-08BDF791643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Mee oneens</c:v>
                </c:pt>
              </c:strCache>
            </c:strRef>
          </c:tx>
          <c:spPr>
            <a:solidFill>
              <a:srgbClr val="FF8D0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8-B01D-4BCA-9FF9-08BDF791643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9-B01D-4BCA-9FF9-08BDF791643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A-B01D-4BCA-9FF9-08BDF791643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B-B01D-4BCA-9FF9-08BDF791643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C-B01D-4BCA-9FF9-08BDF7916434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D-B01D-4BCA-9FF9-08BDF7916434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E-B01D-4BCA-9FF9-08BDF7916434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F-B01D-4BCA-9FF9-08BDF7916434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0-B01D-4BCA-9FF9-08BDF7916434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1-B01D-4BCA-9FF9-08BDF7916434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2-B01D-4BCA-9FF9-08BDF7916434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3-B01D-4BCA-9FF9-08BDF7916434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4-B01D-4BCA-9FF9-08BDF7916434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5-B01D-4BCA-9FF9-08BDF7916434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6-B01D-4BCA-9FF9-08BDF7916434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7-B01D-4BCA-9FF9-08BDF7916434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8-B01D-4BCA-9FF9-08BDF7916434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9-B01D-4BCA-9FF9-08BDF791643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Sheet1!$A$2:$A$20</c:f>
              <c:strCache>
                <c:ptCount val="19"/>
                <c:pt idx="0">
                  <c:v>Headers</c:v>
                </c:pt>
                <c:pt idx="1">
                  <c:v>Is het beste in toepassen van data science methodes - 7.3</c:v>
                </c:pt>
                <c:pt idx="2">
                  <c:v>Is een bekende naam binnen mijn organisatie - 7.5</c:v>
                </c:pt>
                <c:pt idx="3">
                  <c:v>Informeert mij goed over haar services - 7.6</c:v>
                </c:pt>
                <c:pt idx="4">
                  <c:v>Is proactief - 8.1</c:v>
                </c:pt>
                <c:pt idx="5">
                  <c:v>Levert praktisch toepasbare oplossingen - 8.1</c:v>
                </c:pt>
                <c:pt idx="6">
                  <c:v>Draagt kennis goed over - 8.2</c:v>
                </c:pt>
                <c:pt idx="7">
                  <c:v>Helpt mij mijn doelen te behalen - 8.2</c:v>
                </c:pt>
                <c:pt idx="8">
                  <c:v>Begrijpt onze business - 8.3</c:v>
                </c:pt>
                <c:pt idx="9">
                  <c:v>Communiceert goed - 8.4</c:v>
                </c:pt>
                <c:pt idx="10">
                  <c:v>Reageert snel - 8.4</c:v>
                </c:pt>
                <c:pt idx="11">
                  <c:v>Lost complexe problemen op - 8.6</c:v>
                </c:pt>
                <c:pt idx="12">
                  <c:v>Luistert goed - 8.7</c:v>
                </c:pt>
                <c:pt idx="13">
                  <c:v>Levert hoge kwaliteit - 8.8</c:v>
                </c:pt>
                <c:pt idx="14">
                  <c:v>Is een goede sparrings partner - 8.8</c:v>
                </c:pt>
                <c:pt idx="15">
                  <c:v>Zet zich volledig in - 8.9</c:v>
                </c:pt>
                <c:pt idx="16">
                  <c:v>Werkt goed samen - 8.9</c:v>
                </c:pt>
                <c:pt idx="17">
                  <c:v>Heeft zeer competente medewerkers - 9.0</c:v>
                </c:pt>
                <c:pt idx="18">
                  <c:v>Is betrouwbaar - 9.2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5.9459459459459463E-2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5.4054054054054057E-3</c:v>
                </c:pt>
                <c:pt idx="8">
                  <c:v>0</c:v>
                </c:pt>
                <c:pt idx="9">
                  <c:v>5.434782608695652E-3</c:v>
                </c:pt>
                <c:pt idx="10">
                  <c:v>5.3191489361702126E-3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4A-B01D-4BCA-9FF9-08BDF791643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Deels mee oneens</c:v>
                </c:pt>
              </c:strCache>
            </c:strRef>
          </c:tx>
          <c:spPr>
            <a:solidFill>
              <a:srgbClr val="FFA50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B-B01D-4BCA-9FF9-08BDF791643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C-B01D-4BCA-9FF9-08BDF791643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D-B01D-4BCA-9FF9-08BDF791643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E-B01D-4BCA-9FF9-08BDF791643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F-B01D-4BCA-9FF9-08BDF7916434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0-B01D-4BCA-9FF9-08BDF7916434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1-B01D-4BCA-9FF9-08BDF7916434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2-B01D-4BCA-9FF9-08BDF7916434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3-B01D-4BCA-9FF9-08BDF7916434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4-B01D-4BCA-9FF9-08BDF7916434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5-B01D-4BCA-9FF9-08BDF7916434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6-B01D-4BCA-9FF9-08BDF7916434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7-B01D-4BCA-9FF9-08BDF7916434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8-B01D-4BCA-9FF9-08BDF7916434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9-B01D-4BCA-9FF9-08BDF7916434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A-B01D-4BCA-9FF9-08BDF7916434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B-B01D-4BCA-9FF9-08BDF7916434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C-B01D-4BCA-9FF9-08BDF791643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Sheet1!$A$2:$A$20</c:f>
              <c:strCache>
                <c:ptCount val="19"/>
                <c:pt idx="0">
                  <c:v>Headers</c:v>
                </c:pt>
                <c:pt idx="1">
                  <c:v>Is het beste in toepassen van data science methodes - 7.3</c:v>
                </c:pt>
                <c:pt idx="2">
                  <c:v>Is een bekende naam binnen mijn organisatie - 7.5</c:v>
                </c:pt>
                <c:pt idx="3">
                  <c:v>Informeert mij goed over haar services - 7.6</c:v>
                </c:pt>
                <c:pt idx="4">
                  <c:v>Is proactief - 8.1</c:v>
                </c:pt>
                <c:pt idx="5">
                  <c:v>Levert praktisch toepasbare oplossingen - 8.1</c:v>
                </c:pt>
                <c:pt idx="6">
                  <c:v>Draagt kennis goed over - 8.2</c:v>
                </c:pt>
                <c:pt idx="7">
                  <c:v>Helpt mij mijn doelen te behalen - 8.2</c:v>
                </c:pt>
                <c:pt idx="8">
                  <c:v>Begrijpt onze business - 8.3</c:v>
                </c:pt>
                <c:pt idx="9">
                  <c:v>Communiceert goed - 8.4</c:v>
                </c:pt>
                <c:pt idx="10">
                  <c:v>Reageert snel - 8.4</c:v>
                </c:pt>
                <c:pt idx="11">
                  <c:v>Lost complexe problemen op - 8.6</c:v>
                </c:pt>
                <c:pt idx="12">
                  <c:v>Luistert goed - 8.7</c:v>
                </c:pt>
                <c:pt idx="13">
                  <c:v>Levert hoge kwaliteit - 8.8</c:v>
                </c:pt>
                <c:pt idx="14">
                  <c:v>Is een goede sparrings partner - 8.8</c:v>
                </c:pt>
                <c:pt idx="15">
                  <c:v>Zet zich volledig in - 8.9</c:v>
                </c:pt>
                <c:pt idx="16">
                  <c:v>Werkt goed samen - 8.9</c:v>
                </c:pt>
                <c:pt idx="17">
                  <c:v>Heeft zeer competente medewerkers - 9.0</c:v>
                </c:pt>
                <c:pt idx="18">
                  <c:v>Is betrouwbaar - 9.2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4.6242774566473993E-2</c:v>
                </c:pt>
                <c:pt idx="1">
                  <c:v>4.8648648648648651E-2</c:v>
                </c:pt>
                <c:pt idx="2">
                  <c:v>4.3715846994535519E-2</c:v>
                </c:pt>
                <c:pt idx="3">
                  <c:v>5.434782608695652E-3</c:v>
                </c:pt>
                <c:pt idx="4">
                  <c:v>3.783783783783784E-2</c:v>
                </c:pt>
                <c:pt idx="5">
                  <c:v>1.06951871657754E-2</c:v>
                </c:pt>
                <c:pt idx="6">
                  <c:v>0</c:v>
                </c:pt>
                <c:pt idx="7">
                  <c:v>1.6216216216216221E-2</c:v>
                </c:pt>
                <c:pt idx="8">
                  <c:v>5.3763440860215058E-3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5D-B01D-4BCA-9FF9-08BDF791643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Deels mee eens</c:v>
                </c:pt>
              </c:strCache>
            </c:strRef>
          </c:tx>
          <c:spPr>
            <a:solidFill>
              <a:srgbClr val="FFC90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E-B01D-4BCA-9FF9-08BDF791643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F-B01D-4BCA-9FF9-08BDF791643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60-B01D-4BCA-9FF9-08BDF791643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61-B01D-4BCA-9FF9-08BDF791643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62-B01D-4BCA-9FF9-08BDF7916434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63-B01D-4BCA-9FF9-08BDF7916434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64-B01D-4BCA-9FF9-08BDF7916434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65-B01D-4BCA-9FF9-08BDF7916434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66-B01D-4BCA-9FF9-08BDF7916434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67-B01D-4BCA-9FF9-08BDF7916434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68-B01D-4BCA-9FF9-08BDF7916434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69-B01D-4BCA-9FF9-08BDF7916434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6A-B01D-4BCA-9FF9-08BDF7916434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6B-B01D-4BCA-9FF9-08BDF7916434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6C-B01D-4BCA-9FF9-08BDF7916434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6D-B01D-4BCA-9FF9-08BDF7916434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6E-B01D-4BCA-9FF9-08BDF7916434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6F-B01D-4BCA-9FF9-08BDF791643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Sheet1!$A$2:$A$20</c:f>
              <c:strCache>
                <c:ptCount val="19"/>
                <c:pt idx="0">
                  <c:v>Headers</c:v>
                </c:pt>
                <c:pt idx="1">
                  <c:v>Is het beste in toepassen van data science methodes - 7.3</c:v>
                </c:pt>
                <c:pt idx="2">
                  <c:v>Is een bekende naam binnen mijn organisatie - 7.5</c:v>
                </c:pt>
                <c:pt idx="3">
                  <c:v>Informeert mij goed over haar services - 7.6</c:v>
                </c:pt>
                <c:pt idx="4">
                  <c:v>Is proactief - 8.1</c:v>
                </c:pt>
                <c:pt idx="5">
                  <c:v>Levert praktisch toepasbare oplossingen - 8.1</c:v>
                </c:pt>
                <c:pt idx="6">
                  <c:v>Draagt kennis goed over - 8.2</c:v>
                </c:pt>
                <c:pt idx="7">
                  <c:v>Helpt mij mijn doelen te behalen - 8.2</c:v>
                </c:pt>
                <c:pt idx="8">
                  <c:v>Begrijpt onze business - 8.3</c:v>
                </c:pt>
                <c:pt idx="9">
                  <c:v>Communiceert goed - 8.4</c:v>
                </c:pt>
                <c:pt idx="10">
                  <c:v>Reageert snel - 8.4</c:v>
                </c:pt>
                <c:pt idx="11">
                  <c:v>Lost complexe problemen op - 8.6</c:v>
                </c:pt>
                <c:pt idx="12">
                  <c:v>Luistert goed - 8.7</c:v>
                </c:pt>
                <c:pt idx="13">
                  <c:v>Levert hoge kwaliteit - 8.8</c:v>
                </c:pt>
                <c:pt idx="14">
                  <c:v>Is een goede sparrings partner - 8.8</c:v>
                </c:pt>
                <c:pt idx="15">
                  <c:v>Zet zich volledig in - 8.9</c:v>
                </c:pt>
                <c:pt idx="16">
                  <c:v>Werkt goed samen - 8.9</c:v>
                </c:pt>
                <c:pt idx="17">
                  <c:v>Heeft zeer competente medewerkers - 9.0</c:v>
                </c:pt>
                <c:pt idx="18">
                  <c:v>Is betrouwbaar - 9.2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0.38728323699421963</c:v>
                </c:pt>
                <c:pt idx="1">
                  <c:v>0.24864864864864869</c:v>
                </c:pt>
                <c:pt idx="2">
                  <c:v>0.22404371584699451</c:v>
                </c:pt>
                <c:pt idx="3">
                  <c:v>0.15760869565217389</c:v>
                </c:pt>
                <c:pt idx="4">
                  <c:v>0.14054054054054049</c:v>
                </c:pt>
                <c:pt idx="5">
                  <c:v>0.1550802139037433</c:v>
                </c:pt>
                <c:pt idx="6">
                  <c:v>0.13829787234042551</c:v>
                </c:pt>
                <c:pt idx="7">
                  <c:v>0.14054054054054049</c:v>
                </c:pt>
                <c:pt idx="8">
                  <c:v>8.6021505376344093E-2</c:v>
                </c:pt>
                <c:pt idx="9">
                  <c:v>8.1521739130434784E-2</c:v>
                </c:pt>
                <c:pt idx="10">
                  <c:v>5.8510638297872342E-2</c:v>
                </c:pt>
                <c:pt idx="11">
                  <c:v>3.7433155080213901E-2</c:v>
                </c:pt>
                <c:pt idx="12">
                  <c:v>2.645502645502645E-2</c:v>
                </c:pt>
                <c:pt idx="13">
                  <c:v>3.7634408602150539E-2</c:v>
                </c:pt>
                <c:pt idx="14">
                  <c:v>1.60427807486631E-2</c:v>
                </c:pt>
                <c:pt idx="15">
                  <c:v>1.5957446808510641E-2</c:v>
                </c:pt>
                <c:pt idx="16">
                  <c:v>1.6216216216216221E-2</c:v>
                </c:pt>
                <c:pt idx="17">
                  <c:v>5.2910052910052907E-3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70-B01D-4BCA-9FF9-08BDF7916434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Mee eens</c:v>
                </c:pt>
              </c:strCache>
            </c:strRef>
          </c:tx>
          <c:spPr>
            <a:solidFill>
              <a:srgbClr val="99CD5A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1-B01D-4BCA-9FF9-08BDF791643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2-B01D-4BCA-9FF9-08BDF791643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3-B01D-4BCA-9FF9-08BDF791643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4-B01D-4BCA-9FF9-08BDF791643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5-B01D-4BCA-9FF9-08BDF7916434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6-B01D-4BCA-9FF9-08BDF7916434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7-B01D-4BCA-9FF9-08BDF7916434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8-B01D-4BCA-9FF9-08BDF7916434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9-B01D-4BCA-9FF9-08BDF7916434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A-B01D-4BCA-9FF9-08BDF7916434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B-B01D-4BCA-9FF9-08BDF7916434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C-B01D-4BCA-9FF9-08BDF7916434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D-B01D-4BCA-9FF9-08BDF7916434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E-B01D-4BCA-9FF9-08BDF7916434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7F-B01D-4BCA-9FF9-08BDF7916434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80-B01D-4BCA-9FF9-08BDF7916434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81-B01D-4BCA-9FF9-08BDF7916434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82-B01D-4BCA-9FF9-08BDF791643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Sheet1!$A$2:$A$20</c:f>
              <c:strCache>
                <c:ptCount val="19"/>
                <c:pt idx="0">
                  <c:v>Headers</c:v>
                </c:pt>
                <c:pt idx="1">
                  <c:v>Is het beste in toepassen van data science methodes - 7.3</c:v>
                </c:pt>
                <c:pt idx="2">
                  <c:v>Is een bekende naam binnen mijn organisatie - 7.5</c:v>
                </c:pt>
                <c:pt idx="3">
                  <c:v>Informeert mij goed over haar services - 7.6</c:v>
                </c:pt>
                <c:pt idx="4">
                  <c:v>Is proactief - 8.1</c:v>
                </c:pt>
                <c:pt idx="5">
                  <c:v>Levert praktisch toepasbare oplossingen - 8.1</c:v>
                </c:pt>
                <c:pt idx="6">
                  <c:v>Draagt kennis goed over - 8.2</c:v>
                </c:pt>
                <c:pt idx="7">
                  <c:v>Helpt mij mijn doelen te behalen - 8.2</c:v>
                </c:pt>
                <c:pt idx="8">
                  <c:v>Begrijpt onze business - 8.3</c:v>
                </c:pt>
                <c:pt idx="9">
                  <c:v>Communiceert goed - 8.4</c:v>
                </c:pt>
                <c:pt idx="10">
                  <c:v>Reageert snel - 8.4</c:v>
                </c:pt>
                <c:pt idx="11">
                  <c:v>Lost complexe problemen op - 8.6</c:v>
                </c:pt>
                <c:pt idx="12">
                  <c:v>Luistert goed - 8.7</c:v>
                </c:pt>
                <c:pt idx="13">
                  <c:v>Levert hoge kwaliteit - 8.8</c:v>
                </c:pt>
                <c:pt idx="14">
                  <c:v>Is een goede sparrings partner - 8.8</c:v>
                </c:pt>
                <c:pt idx="15">
                  <c:v>Zet zich volledig in - 8.9</c:v>
                </c:pt>
                <c:pt idx="16">
                  <c:v>Werkt goed samen - 8.9</c:v>
                </c:pt>
                <c:pt idx="17">
                  <c:v>Heeft zeer competente medewerkers - 9.0</c:v>
                </c:pt>
                <c:pt idx="18">
                  <c:v>Is betrouwbaar - 9.2</c:v>
                </c:pt>
              </c:strCache>
            </c:strRef>
          </c:cat>
          <c:val>
            <c:numRef>
              <c:f>Sheet1!$G$2:$G$19</c:f>
              <c:numCache>
                <c:formatCode>General</c:formatCode>
                <c:ptCount val="18"/>
                <c:pt idx="0">
                  <c:v>0.4277456647398844</c:v>
                </c:pt>
                <c:pt idx="1">
                  <c:v>0.38918918918918921</c:v>
                </c:pt>
                <c:pt idx="2">
                  <c:v>0.57377049180327866</c:v>
                </c:pt>
                <c:pt idx="3">
                  <c:v>0.61413043478260865</c:v>
                </c:pt>
                <c:pt idx="4">
                  <c:v>0.56216216216216219</c:v>
                </c:pt>
                <c:pt idx="5">
                  <c:v>0.5401069518716578</c:v>
                </c:pt>
                <c:pt idx="6">
                  <c:v>0.63297872340425532</c:v>
                </c:pt>
                <c:pt idx="7">
                  <c:v>0.51351351351351349</c:v>
                </c:pt>
                <c:pt idx="8">
                  <c:v>0.62903225806451613</c:v>
                </c:pt>
                <c:pt idx="9">
                  <c:v>0.61413043478260865</c:v>
                </c:pt>
                <c:pt idx="10">
                  <c:v>0.56382978723404253</c:v>
                </c:pt>
                <c:pt idx="11">
                  <c:v>0.5935828877005348</c:v>
                </c:pt>
                <c:pt idx="12">
                  <c:v>0.55026455026455023</c:v>
                </c:pt>
                <c:pt idx="13">
                  <c:v>0.5161290322580645</c:v>
                </c:pt>
                <c:pt idx="14">
                  <c:v>0.5133689839572193</c:v>
                </c:pt>
                <c:pt idx="15">
                  <c:v>0.49468085106382981</c:v>
                </c:pt>
                <c:pt idx="16">
                  <c:v>0.44864864864864867</c:v>
                </c:pt>
                <c:pt idx="17">
                  <c:v>0.38095238095238088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83-B01D-4BCA-9FF9-08BDF7916434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Volledig mee eens</c:v>
                </c:pt>
              </c:strCache>
            </c:strRef>
          </c:tx>
          <c:spPr>
            <a:solidFill>
              <a:srgbClr val="7CAE3E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84-B01D-4BCA-9FF9-08BDF791643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85-B01D-4BCA-9FF9-08BDF791643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86-B01D-4BCA-9FF9-08BDF791643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87-B01D-4BCA-9FF9-08BDF791643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88-B01D-4BCA-9FF9-08BDF7916434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89-B01D-4BCA-9FF9-08BDF7916434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8A-B01D-4BCA-9FF9-08BDF7916434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8B-B01D-4BCA-9FF9-08BDF7916434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8C-B01D-4BCA-9FF9-08BDF7916434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8D-B01D-4BCA-9FF9-08BDF7916434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8E-B01D-4BCA-9FF9-08BDF7916434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8F-B01D-4BCA-9FF9-08BDF7916434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90-B01D-4BCA-9FF9-08BDF7916434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91-B01D-4BCA-9FF9-08BDF7916434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92-B01D-4BCA-9FF9-08BDF7916434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93-B01D-4BCA-9FF9-08BDF7916434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94-B01D-4BCA-9FF9-08BDF7916434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95-B01D-4BCA-9FF9-08BDF791643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Sheet1!$A$2:$A$20</c:f>
              <c:strCache>
                <c:ptCount val="19"/>
                <c:pt idx="0">
                  <c:v>Headers</c:v>
                </c:pt>
                <c:pt idx="1">
                  <c:v>Is het beste in toepassen van data science methodes - 7.3</c:v>
                </c:pt>
                <c:pt idx="2">
                  <c:v>Is een bekende naam binnen mijn organisatie - 7.5</c:v>
                </c:pt>
                <c:pt idx="3">
                  <c:v>Informeert mij goed over haar services - 7.6</c:v>
                </c:pt>
                <c:pt idx="4">
                  <c:v>Is proactief - 8.1</c:v>
                </c:pt>
                <c:pt idx="5">
                  <c:v>Levert praktisch toepasbare oplossingen - 8.1</c:v>
                </c:pt>
                <c:pt idx="6">
                  <c:v>Draagt kennis goed over - 8.2</c:v>
                </c:pt>
                <c:pt idx="7">
                  <c:v>Helpt mij mijn doelen te behalen - 8.2</c:v>
                </c:pt>
                <c:pt idx="8">
                  <c:v>Begrijpt onze business - 8.3</c:v>
                </c:pt>
                <c:pt idx="9">
                  <c:v>Communiceert goed - 8.4</c:v>
                </c:pt>
                <c:pt idx="10">
                  <c:v>Reageert snel - 8.4</c:v>
                </c:pt>
                <c:pt idx="11">
                  <c:v>Lost complexe problemen op - 8.6</c:v>
                </c:pt>
                <c:pt idx="12">
                  <c:v>Luistert goed - 8.7</c:v>
                </c:pt>
                <c:pt idx="13">
                  <c:v>Levert hoge kwaliteit - 8.8</c:v>
                </c:pt>
                <c:pt idx="14">
                  <c:v>Is een goede sparrings partner - 8.8</c:v>
                </c:pt>
                <c:pt idx="15">
                  <c:v>Zet zich volledig in - 8.9</c:v>
                </c:pt>
                <c:pt idx="16">
                  <c:v>Werkt goed samen - 8.9</c:v>
                </c:pt>
                <c:pt idx="17">
                  <c:v>Heeft zeer competente medewerkers - 9.0</c:v>
                </c:pt>
                <c:pt idx="18">
                  <c:v>Is betrouwbaar - 9.2</c:v>
                </c:pt>
              </c:strCache>
            </c:strRef>
          </c:cat>
          <c:val>
            <c:numRef>
              <c:f>Sheet1!$H$2:$H$19</c:f>
              <c:numCache>
                <c:formatCode>General</c:formatCode>
                <c:ptCount val="18"/>
                <c:pt idx="0">
                  <c:v>0.13872832369942201</c:v>
                </c:pt>
                <c:pt idx="1">
                  <c:v>0.25405405405405412</c:v>
                </c:pt>
                <c:pt idx="2">
                  <c:v>0.15300546448087429</c:v>
                </c:pt>
                <c:pt idx="3">
                  <c:v>0.2228260869565217</c:v>
                </c:pt>
                <c:pt idx="4">
                  <c:v>0.25945945945945947</c:v>
                </c:pt>
                <c:pt idx="5">
                  <c:v>0.29411764705882348</c:v>
                </c:pt>
                <c:pt idx="6">
                  <c:v>0.22872340425531909</c:v>
                </c:pt>
                <c:pt idx="7">
                  <c:v>0.32432432432432429</c:v>
                </c:pt>
                <c:pt idx="8">
                  <c:v>0.27956989247311831</c:v>
                </c:pt>
                <c:pt idx="9">
                  <c:v>0.29891304347826092</c:v>
                </c:pt>
                <c:pt idx="10">
                  <c:v>0.37234042553191488</c:v>
                </c:pt>
                <c:pt idx="11">
                  <c:v>0.36898395721925131</c:v>
                </c:pt>
                <c:pt idx="12">
                  <c:v>0.42328042328042331</c:v>
                </c:pt>
                <c:pt idx="13">
                  <c:v>0.44623655913978488</c:v>
                </c:pt>
                <c:pt idx="14">
                  <c:v>0.47058823529411759</c:v>
                </c:pt>
                <c:pt idx="15">
                  <c:v>0.48936170212765961</c:v>
                </c:pt>
                <c:pt idx="16">
                  <c:v>0.53513513513513511</c:v>
                </c:pt>
                <c:pt idx="17">
                  <c:v>0.61375661375661372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96-B01D-4BCA-9FF9-08BDF791643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100"/>
        <c:axId val="779900000"/>
        <c:axId val="779901776"/>
      </c:barChart>
      <c:catAx>
        <c:axId val="7799000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79901776"/>
        <c:crosses val="autoZero"/>
        <c:auto val="1"/>
        <c:lblAlgn val="ctr"/>
        <c:lblOffset val="100"/>
        <c:noMultiLvlLbl val="0"/>
      </c:catAx>
      <c:valAx>
        <c:axId val="779901776"/>
        <c:scaling>
          <c:orientation val="minMax"/>
        </c:scaling>
        <c:delete val="1"/>
        <c:axPos val="b"/>
        <c:numFmt formatCode="0%" sourceLinked="1"/>
        <c:majorTickMark val="out"/>
        <c:minorTickMark val="none"/>
        <c:tickLblPos val="nextTo"/>
        <c:crossAx val="779900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ayout>
        <c:manualLayout>
          <c:xMode val="edge"/>
          <c:yMode val="edge"/>
          <c:x val="5.0089577790963936E-2"/>
          <c:y val="0.93068679093535356"/>
          <c:w val="0.89999995919936648"/>
          <c:h val="4.60537072901472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rgbClr val="39364C"/>
              </a:solidFill>
              <a:latin typeface="Avenir Book" panose="02000503020000020003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Avenir Book" panose="02000503020000020003" pitchFamily="2" charset="0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5713" y="1143000"/>
            <a:ext cx="4346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6411193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81" name="Google Shape;128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1143000"/>
            <a:ext cx="4346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9140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lleen titel" userDrawn="1">
  <p:cSld name="Alleen titel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13"/>
          <p:cNvSpPr txBox="1">
            <a:spLocks noGrp="1"/>
          </p:cNvSpPr>
          <p:nvPr>
            <p:ph type="sldNum" idx="4294967295"/>
          </p:nvPr>
        </p:nvSpPr>
        <p:spPr>
          <a:xfrm>
            <a:off x="7628400" y="7106400"/>
            <a:ext cx="2369460" cy="39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ctr" anchorCtr="0">
            <a:noAutofit/>
          </a:bodyPr>
          <a:lstStyle/>
          <a:p>
            <a:pPr algn="r" defTabSz="996879">
              <a:defRPr/>
            </a:pPr>
            <a:fld id="{00000000-1234-1234-1234-123412341234}" type="slidenum">
              <a:rPr lang="nl-NL">
                <a:solidFill>
                  <a:srgbClr val="42475B"/>
                </a:solidFill>
              </a:rPr>
              <a:pPr algn="r" defTabSz="996879">
                <a:defRPr/>
              </a:pPr>
              <a:t>0</a:t>
            </a:fld>
            <a:endParaRPr dirty="0">
              <a:solidFill>
                <a:srgbClr val="42475B"/>
              </a:solidFill>
            </a:endParaRPr>
          </a:p>
        </p:txBody>
      </p:sp>
      <p:sp>
        <p:nvSpPr>
          <p:cNvPr id="1286" name="Google Shape;1286;p13"/>
          <p:cNvSpPr txBox="1">
            <a:spLocks noGrp="1"/>
          </p:cNvSpPr>
          <p:nvPr>
            <p:ph type="title" idx="4294967295"/>
          </p:nvPr>
        </p:nvSpPr>
        <p:spPr>
          <a:xfrm>
            <a:off x="658758" y="492857"/>
            <a:ext cx="8424282" cy="39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ctr" anchorCtr="0">
            <a:noAutofit/>
          </a:bodyPr>
          <a:lstStyle/>
          <a:p>
            <a:r>
              <a:rPr lang="en-GB" sz="1200" spc="292" dirty="0" err="1">
                <a:solidFill>
                  <a:srgbClr val="EE7444"/>
                </a:solidFill>
                <a:latin typeface="Avenir Book" panose="02000503020000020003" pitchFamily="2" charset="0"/>
              </a:rPr>
              <a:t>PHuppertitle</a:t>
            </a:r>
            <a:endParaRPr lang="en-GB" sz="1200" spc="292" dirty="0">
              <a:solidFill>
                <a:srgbClr val="EE7444"/>
              </a:solidFill>
              <a:latin typeface="Avenir Book" panose="02000503020000020003" pitchFamily="2" charset="0"/>
            </a:endParaRPr>
          </a:p>
        </p:txBody>
      </p:sp>
      <p:sp>
        <p:nvSpPr>
          <p:cNvPr id="9" name="Google Shape;1287;p13">
            <a:extLst>
              <a:ext uri="{FF2B5EF4-FFF2-40B4-BE49-F238E27FC236}">
                <a16:creationId xmlns:a16="http://schemas.microsoft.com/office/drawing/2014/main" id="{7EBA14EF-A79E-1D50-96AC-0BF5BCBD14A3}"/>
              </a:ext>
            </a:extLst>
          </p:cNvPr>
          <p:cNvSpPr txBox="1">
            <a:spLocks/>
          </p:cNvSpPr>
          <p:nvPr/>
        </p:nvSpPr>
        <p:spPr>
          <a:xfrm>
            <a:off x="658757" y="799118"/>
            <a:ext cx="8971308" cy="74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96879">
              <a:defRPr/>
            </a:pPr>
            <a:r>
              <a:rPr lang="en-GB" sz="1800" b="1" dirty="0">
                <a:solidFill>
                  <a:srgbClr val="3F5573"/>
                </a:solidFill>
                <a:latin typeface="Avenir Book" panose="02000503020000020003" pitchFamily="2" charset="0"/>
                <a:ea typeface="Avenir Next" charset="0"/>
                <a:cs typeface="Avenir Next" charset="0"/>
              </a:rPr>
              <a:t>- Action title goes here -</a:t>
            </a:r>
          </a:p>
        </p:txBody>
      </p:sp>
      <p:sp>
        <p:nvSpPr>
          <p:cNvPr id="2" name="Vrije vorm: vorm 1">
            <a:extLst>
              <a:ext uri="{FF2B5EF4-FFF2-40B4-BE49-F238E27FC236}">
                <a16:creationId xmlns:a16="http://schemas.microsoft.com/office/drawing/2014/main" id="{BDB48EDC-AD92-66FA-F619-5D1CA6E1425C}"/>
              </a:ext>
            </a:extLst>
          </p:cNvPr>
          <p:cNvSpPr/>
          <p:nvPr/>
        </p:nvSpPr>
        <p:spPr>
          <a:xfrm>
            <a:off x="4696345" y="5987566"/>
            <a:ext cx="6976" cy="62507"/>
          </a:xfrm>
          <a:custGeom>
            <a:avLst/>
            <a:gdLst>
              <a:gd name="connsiteX0" fmla="*/ 0 w 6250"/>
              <a:gd name="connsiteY0" fmla="*/ 0 h 62507"/>
              <a:gd name="connsiteX1" fmla="*/ 0 w 6250"/>
              <a:gd name="connsiteY1" fmla="*/ 62508 h 62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50" h="62507">
                <a:moveTo>
                  <a:pt x="0" y="0"/>
                </a:moveTo>
                <a:lnTo>
                  <a:pt x="0" y="62508"/>
                </a:lnTo>
              </a:path>
            </a:pathLst>
          </a:custGeom>
          <a:ln w="12478" cap="flat">
            <a:solidFill>
              <a:srgbClr val="39364C"/>
            </a:solidFill>
            <a:prstDash val="solid"/>
            <a:miter/>
          </a:ln>
        </p:spPr>
        <p:txBody>
          <a:bodyPr rtlCol="0" anchor="ctr"/>
          <a:lstStyle/>
          <a:p>
            <a:endParaRPr lang="en-GB">
              <a:latin typeface="Avenir" panose="020B0503020203020204" pitchFamily="2" charset="0"/>
            </a:endParaRP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213551D7-5BF3-5EA4-9019-8D1C06F6470B}"/>
              </a:ext>
            </a:extLst>
          </p:cNvPr>
          <p:cNvSpPr txBox="1"/>
          <p:nvPr/>
        </p:nvSpPr>
        <p:spPr>
          <a:xfrm>
            <a:off x="4487973" y="6017153"/>
            <a:ext cx="4154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050" spc="0" baseline="0" dirty="0">
                <a:ln/>
                <a:solidFill>
                  <a:srgbClr val="39364C"/>
                </a:solidFill>
                <a:latin typeface="Avenir Book" panose="02000503020000020003" pitchFamily="2" charset="0"/>
                <a:sym typeface="Arial"/>
                <a:rtl val="0"/>
              </a:rPr>
              <a:t>0%</a:t>
            </a:r>
          </a:p>
        </p:txBody>
      </p:sp>
      <p:sp>
        <p:nvSpPr>
          <p:cNvPr id="4" name="Vrije vorm: vorm 3">
            <a:extLst>
              <a:ext uri="{FF2B5EF4-FFF2-40B4-BE49-F238E27FC236}">
                <a16:creationId xmlns:a16="http://schemas.microsoft.com/office/drawing/2014/main" id="{CA5234EE-9E8C-E4A8-9B8D-3CED562A8E05}"/>
              </a:ext>
            </a:extLst>
          </p:cNvPr>
          <p:cNvSpPr/>
          <p:nvPr/>
        </p:nvSpPr>
        <p:spPr>
          <a:xfrm>
            <a:off x="5917277" y="5987566"/>
            <a:ext cx="6976" cy="62507"/>
          </a:xfrm>
          <a:custGeom>
            <a:avLst/>
            <a:gdLst>
              <a:gd name="connsiteX0" fmla="*/ 0 w 6250"/>
              <a:gd name="connsiteY0" fmla="*/ 0 h 62507"/>
              <a:gd name="connsiteX1" fmla="*/ 0 w 6250"/>
              <a:gd name="connsiteY1" fmla="*/ 62508 h 62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50" h="62507">
                <a:moveTo>
                  <a:pt x="0" y="0"/>
                </a:moveTo>
                <a:lnTo>
                  <a:pt x="0" y="62508"/>
                </a:lnTo>
              </a:path>
            </a:pathLst>
          </a:custGeom>
          <a:ln w="12478" cap="flat">
            <a:solidFill>
              <a:srgbClr val="39364C"/>
            </a:solidFill>
            <a:prstDash val="solid"/>
            <a:miter/>
          </a:ln>
        </p:spPr>
        <p:txBody>
          <a:bodyPr rtlCol="0" anchor="ctr"/>
          <a:lstStyle/>
          <a:p>
            <a:endParaRPr lang="en-GB">
              <a:latin typeface="Avenir" panose="020B0503020203020204" pitchFamily="2" charset="0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B37DE1E6-2540-AA1D-EADD-E5AED76F38D1}"/>
              </a:ext>
            </a:extLst>
          </p:cNvPr>
          <p:cNvSpPr txBox="1"/>
          <p:nvPr/>
        </p:nvSpPr>
        <p:spPr>
          <a:xfrm>
            <a:off x="5666379" y="6017153"/>
            <a:ext cx="49953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050" spc="0" baseline="0" dirty="0">
                <a:ln/>
                <a:solidFill>
                  <a:srgbClr val="39364C"/>
                </a:solidFill>
                <a:latin typeface="Avenir Book" panose="02000503020000020003" pitchFamily="2" charset="0"/>
                <a:sym typeface="Arial"/>
                <a:rtl val="0"/>
              </a:rPr>
              <a:t>25%</a:t>
            </a:r>
          </a:p>
        </p:txBody>
      </p:sp>
      <p:sp>
        <p:nvSpPr>
          <p:cNvPr id="6" name="Vrije vorm: vorm 5">
            <a:extLst>
              <a:ext uri="{FF2B5EF4-FFF2-40B4-BE49-F238E27FC236}">
                <a16:creationId xmlns:a16="http://schemas.microsoft.com/office/drawing/2014/main" id="{2B12D781-5FD3-3000-CD68-4EFBFA79B676}"/>
              </a:ext>
            </a:extLst>
          </p:cNvPr>
          <p:cNvSpPr/>
          <p:nvPr/>
        </p:nvSpPr>
        <p:spPr>
          <a:xfrm>
            <a:off x="7138209" y="5987566"/>
            <a:ext cx="6976" cy="62507"/>
          </a:xfrm>
          <a:custGeom>
            <a:avLst/>
            <a:gdLst>
              <a:gd name="connsiteX0" fmla="*/ 0 w 6250"/>
              <a:gd name="connsiteY0" fmla="*/ 0 h 62507"/>
              <a:gd name="connsiteX1" fmla="*/ 0 w 6250"/>
              <a:gd name="connsiteY1" fmla="*/ 62508 h 62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50" h="62507">
                <a:moveTo>
                  <a:pt x="0" y="0"/>
                </a:moveTo>
                <a:lnTo>
                  <a:pt x="0" y="62508"/>
                </a:lnTo>
              </a:path>
            </a:pathLst>
          </a:custGeom>
          <a:ln w="12478" cap="flat">
            <a:solidFill>
              <a:srgbClr val="39364C"/>
            </a:solidFill>
            <a:prstDash val="solid"/>
            <a:miter/>
          </a:ln>
        </p:spPr>
        <p:txBody>
          <a:bodyPr rtlCol="0" anchor="ctr"/>
          <a:lstStyle/>
          <a:p>
            <a:endParaRPr lang="en-GB">
              <a:latin typeface="Avenir" panose="020B0503020203020204" pitchFamily="2" charset="0"/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D3ED1D82-3D6E-7B60-D801-6F5DD0DB0A73}"/>
              </a:ext>
            </a:extLst>
          </p:cNvPr>
          <p:cNvSpPr txBox="1"/>
          <p:nvPr/>
        </p:nvSpPr>
        <p:spPr>
          <a:xfrm>
            <a:off x="6887312" y="6017153"/>
            <a:ext cx="49953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050" spc="0" baseline="0" dirty="0">
                <a:ln/>
                <a:solidFill>
                  <a:srgbClr val="39364C"/>
                </a:solidFill>
                <a:latin typeface="Avenir Book" panose="02000503020000020003" pitchFamily="2" charset="0"/>
                <a:sym typeface="Arial"/>
                <a:rtl val="0"/>
              </a:rPr>
              <a:t>50%</a:t>
            </a:r>
          </a:p>
        </p:txBody>
      </p:sp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EDE6F601-FA82-A803-C427-82ECEF02297E}"/>
              </a:ext>
            </a:extLst>
          </p:cNvPr>
          <p:cNvSpPr/>
          <p:nvPr/>
        </p:nvSpPr>
        <p:spPr>
          <a:xfrm>
            <a:off x="8359141" y="5987566"/>
            <a:ext cx="6976" cy="62507"/>
          </a:xfrm>
          <a:custGeom>
            <a:avLst/>
            <a:gdLst>
              <a:gd name="connsiteX0" fmla="*/ 0 w 6250"/>
              <a:gd name="connsiteY0" fmla="*/ 0 h 62507"/>
              <a:gd name="connsiteX1" fmla="*/ 0 w 6250"/>
              <a:gd name="connsiteY1" fmla="*/ 62508 h 62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50" h="62507">
                <a:moveTo>
                  <a:pt x="0" y="0"/>
                </a:moveTo>
                <a:lnTo>
                  <a:pt x="0" y="62508"/>
                </a:lnTo>
              </a:path>
            </a:pathLst>
          </a:custGeom>
          <a:ln w="12478" cap="flat">
            <a:solidFill>
              <a:srgbClr val="39364C"/>
            </a:solidFill>
            <a:prstDash val="solid"/>
            <a:miter/>
          </a:ln>
        </p:spPr>
        <p:txBody>
          <a:bodyPr rtlCol="0" anchor="ctr"/>
          <a:lstStyle/>
          <a:p>
            <a:endParaRPr lang="en-GB">
              <a:latin typeface="Avenir" panose="020B0503020203020204" pitchFamily="2" charset="0"/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795D3536-349B-B571-9148-6CE830BB033A}"/>
              </a:ext>
            </a:extLst>
          </p:cNvPr>
          <p:cNvSpPr txBox="1"/>
          <p:nvPr/>
        </p:nvSpPr>
        <p:spPr>
          <a:xfrm>
            <a:off x="8108243" y="6017153"/>
            <a:ext cx="49953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050" spc="0" baseline="0" dirty="0">
                <a:ln/>
                <a:solidFill>
                  <a:srgbClr val="39364C"/>
                </a:solidFill>
                <a:latin typeface="Avenir Book" panose="02000503020000020003" pitchFamily="2" charset="0"/>
                <a:sym typeface="Arial"/>
                <a:rtl val="0"/>
              </a:rPr>
              <a:t>75%</a:t>
            </a:r>
          </a:p>
        </p:txBody>
      </p:sp>
      <p:sp>
        <p:nvSpPr>
          <p:cNvPr id="12" name="Vrije vorm: vorm 11">
            <a:extLst>
              <a:ext uri="{FF2B5EF4-FFF2-40B4-BE49-F238E27FC236}">
                <a16:creationId xmlns:a16="http://schemas.microsoft.com/office/drawing/2014/main" id="{FED1D949-F642-B2AD-13F6-EA59800704B4}"/>
              </a:ext>
            </a:extLst>
          </p:cNvPr>
          <p:cNvSpPr/>
          <p:nvPr/>
        </p:nvSpPr>
        <p:spPr>
          <a:xfrm>
            <a:off x="9580073" y="5987566"/>
            <a:ext cx="6976" cy="62507"/>
          </a:xfrm>
          <a:custGeom>
            <a:avLst/>
            <a:gdLst>
              <a:gd name="connsiteX0" fmla="*/ 0 w 6250"/>
              <a:gd name="connsiteY0" fmla="*/ 0 h 62507"/>
              <a:gd name="connsiteX1" fmla="*/ 0 w 6250"/>
              <a:gd name="connsiteY1" fmla="*/ 62508 h 62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50" h="62507">
                <a:moveTo>
                  <a:pt x="0" y="0"/>
                </a:moveTo>
                <a:lnTo>
                  <a:pt x="0" y="62508"/>
                </a:lnTo>
              </a:path>
            </a:pathLst>
          </a:custGeom>
          <a:ln w="12478" cap="flat">
            <a:solidFill>
              <a:srgbClr val="39364C"/>
            </a:solidFill>
            <a:prstDash val="solid"/>
            <a:miter/>
          </a:ln>
        </p:spPr>
        <p:txBody>
          <a:bodyPr rtlCol="0" anchor="ctr"/>
          <a:lstStyle/>
          <a:p>
            <a:endParaRPr lang="en-GB">
              <a:latin typeface="Avenir" panose="020B0503020203020204" pitchFamily="2" charset="0"/>
            </a:endParaRP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2735EE49-C795-5B0A-3CD8-B1B666767C4A}"/>
              </a:ext>
            </a:extLst>
          </p:cNvPr>
          <p:cNvSpPr txBox="1"/>
          <p:nvPr/>
        </p:nvSpPr>
        <p:spPr>
          <a:xfrm>
            <a:off x="9286651" y="6017153"/>
            <a:ext cx="5836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050" spc="0" baseline="0" dirty="0">
                <a:ln/>
                <a:solidFill>
                  <a:srgbClr val="39364C"/>
                </a:solidFill>
                <a:latin typeface="Avenir Book" panose="02000503020000020003" pitchFamily="2" charset="0"/>
                <a:sym typeface="Arial"/>
                <a:rtl val="0"/>
              </a:rPr>
              <a:t>100%</a:t>
            </a:r>
          </a:p>
        </p:txBody>
      </p:sp>
      <p:graphicFrame>
        <p:nvGraphicFramePr>
          <p:cNvPr id="14" name="Google Shape;766;p12">
            <a:extLst>
              <a:ext uri="{FF2B5EF4-FFF2-40B4-BE49-F238E27FC236}">
                <a16:creationId xmlns:a16="http://schemas.microsoft.com/office/drawing/2014/main" id="{A53082D9-8E3B-1608-A1A2-A4773CC048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4353954"/>
              </p:ext>
            </p:extLst>
          </p:nvPr>
        </p:nvGraphicFramePr>
        <p:xfrm>
          <a:off x="658756" y="1540896"/>
          <a:ext cx="9282590" cy="50891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Google Shape;1285;p13">
            <a:extLst>
              <a:ext uri="{FF2B5EF4-FFF2-40B4-BE49-F238E27FC236}">
                <a16:creationId xmlns:a16="http://schemas.microsoft.com/office/drawing/2014/main" id="{E8177CD7-C041-9EBE-9129-608047F976EA}"/>
              </a:ext>
            </a:extLst>
          </p:cNvPr>
          <p:cNvSpPr txBox="1">
            <a:spLocks/>
          </p:cNvSpPr>
          <p:nvPr/>
        </p:nvSpPr>
        <p:spPr>
          <a:xfrm>
            <a:off x="1988571" y="6630007"/>
            <a:ext cx="6822621" cy="476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45805" marR="0" lvl="0" indent="-222902" algn="l" rtl="0">
              <a:lnSpc>
                <a:spcPct val="150000"/>
              </a:lnSpc>
              <a:spcBef>
                <a:spcPts val="1090"/>
              </a:spcBef>
              <a:spcAft>
                <a:spcPts val="0"/>
              </a:spcAft>
              <a:buClr>
                <a:srgbClr val="42475B"/>
              </a:buClr>
              <a:buSzPts val="1400"/>
              <a:buFont typeface="Arial"/>
              <a:buNone/>
              <a:defRPr sz="1365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891608" marR="0" lvl="1" indent="-309586" algn="l" rtl="0">
              <a:lnSpc>
                <a:spcPct val="9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365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37413" marR="0" lvl="2" indent="-309586" algn="l" rtl="0">
              <a:lnSpc>
                <a:spcPct val="9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365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783217" marR="0" lvl="3" indent="-309586" algn="l" rtl="0">
              <a:lnSpc>
                <a:spcPct val="9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365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29021" marR="0" lvl="4" indent="-309586" algn="l" rtl="0">
              <a:lnSpc>
                <a:spcPct val="9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365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674825" marR="0" lvl="5" indent="-334353" algn="l" rtl="0">
              <a:lnSpc>
                <a:spcPct val="9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120630" marR="0" lvl="6" indent="-334353" algn="l" rtl="0">
              <a:lnSpc>
                <a:spcPct val="9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566433" marR="0" lvl="7" indent="-334353" algn="l" rtl="0">
              <a:lnSpc>
                <a:spcPct val="9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012238" marR="0" lvl="8" indent="-334353" algn="l" rtl="0">
              <a:lnSpc>
                <a:spcPct val="90000"/>
              </a:lnSpc>
              <a:spcBef>
                <a:spcPts val="54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nl-NL" sz="1090" dirty="0">
                <a:solidFill>
                  <a:srgbClr val="39364C"/>
                </a:solidFill>
                <a:latin typeface="Avenir Book" charset="0"/>
                <a:ea typeface="Avenir Book" charset="0"/>
                <a:cs typeface="Avenir Book" charset="0"/>
              </a:rPr>
              <a:t>*</a:t>
            </a:r>
            <a:r>
              <a:rPr lang="nl-NL" sz="1090" dirty="0" err="1">
                <a:solidFill>
                  <a:srgbClr val="39364C"/>
                </a:solidFill>
                <a:latin typeface="Avenir Book" charset="0"/>
                <a:ea typeface="Avenir Book" charset="0"/>
                <a:cs typeface="Avenir Book" charset="0"/>
              </a:rPr>
              <a:t>PHunderlineddriverfootnote</a:t>
            </a:r>
            <a:endParaRPr lang="nl-NL" sz="1090" dirty="0">
              <a:solidFill>
                <a:srgbClr val="39364C"/>
              </a:solidFill>
              <a:latin typeface="Avenir Book" charset="0"/>
              <a:ea typeface="Avenir Book" charset="0"/>
              <a:cs typeface="Avenir Book" charset="0"/>
            </a:endParaRPr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1B175446-ACC2-D944-20DF-B0A99A9F42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86646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thema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10341</TotalTime>
  <Words>127</Words>
  <Application>Microsoft Office PowerPoint</Application>
  <PresentationFormat>Aangepast</PresentationFormat>
  <Paragraphs>27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6" baseType="lpstr">
      <vt:lpstr>Avenir Book</vt:lpstr>
      <vt:lpstr>Arial</vt:lpstr>
      <vt:lpstr>Avenir</vt:lpstr>
      <vt:lpstr>Calibri</vt:lpstr>
      <vt:lpstr>Kantoorthema</vt:lpstr>
      <vt:lpstr>PHuppertitle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Mulder, M. (Mariska, Student M-BA)</dc:creator>
  <cp:lastModifiedBy>Marco Strijker</cp:lastModifiedBy>
  <cp:revision>406</cp:revision>
  <dcterms:created xsi:type="dcterms:W3CDTF">2019-10-18T11:39:41Z</dcterms:created>
  <dcterms:modified xsi:type="dcterms:W3CDTF">2024-08-22T08:54:25Z</dcterms:modified>
</cp:coreProperties>
</file>